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3" r:id="rId1"/>
    <p:sldMasterId id="2147483685" r:id="rId2"/>
  </p:sldMasterIdLst>
  <p:notesMasterIdLst>
    <p:notesMasterId r:id="rId28"/>
  </p:notesMasterIdLst>
  <p:sldIdLst>
    <p:sldId id="284" r:id="rId3"/>
    <p:sldId id="377" r:id="rId4"/>
    <p:sldId id="378" r:id="rId5"/>
    <p:sldId id="379" r:id="rId6"/>
    <p:sldId id="380" r:id="rId7"/>
    <p:sldId id="395" r:id="rId8"/>
    <p:sldId id="382" r:id="rId9"/>
    <p:sldId id="383" r:id="rId10"/>
    <p:sldId id="384" r:id="rId11"/>
    <p:sldId id="385" r:id="rId12"/>
    <p:sldId id="386" r:id="rId13"/>
    <p:sldId id="387" r:id="rId14"/>
    <p:sldId id="388" r:id="rId15"/>
    <p:sldId id="371" r:id="rId16"/>
    <p:sldId id="372" r:id="rId17"/>
    <p:sldId id="373" r:id="rId18"/>
    <p:sldId id="375" r:id="rId19"/>
    <p:sldId id="374" r:id="rId20"/>
    <p:sldId id="376" r:id="rId21"/>
    <p:sldId id="389" r:id="rId22"/>
    <p:sldId id="390" r:id="rId23"/>
    <p:sldId id="391" r:id="rId24"/>
    <p:sldId id="394" r:id="rId25"/>
    <p:sldId id="393" r:id="rId26"/>
    <p:sldId id="392" r:id="rId27"/>
  </p:sldIdLst>
  <p:sldSz cx="12192000" cy="6858000"/>
  <p:notesSz cx="6858000" cy="9144000"/>
  <p:embeddedFontLst>
    <p:embeddedFont>
      <p:font typeface="Open Sans" pitchFamily="2" charset="0"/>
      <p:regular r:id="rId29"/>
      <p:bold r:id="rId30"/>
      <p:italic r:id="rId31"/>
      <p:boldItalic r:id="rId32"/>
    </p:embeddedFont>
    <p:embeddedFont>
      <p:font typeface="Poppins" panose="00000500000000000000" pitchFamily="2" charset="0"/>
      <p:regular r:id="rId33"/>
      <p:bold r:id="rId34"/>
      <p:italic r:id="rId35"/>
      <p:boldItalic r:id="rId36"/>
    </p:embeddedFont>
  </p:embeddedFontLst>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fsa Channa" initials="HC" lastIdx="1" clrIdx="0">
    <p:extLst>
      <p:ext uri="{19B8F6BF-5375-455C-9EA6-DF929625EA0E}">
        <p15:presenceInfo xmlns:p15="http://schemas.microsoft.com/office/powerpoint/2012/main" userId="S-1-5-21-2746502908-3638069923-3242996648-367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93A"/>
    <a:srgbClr val="18BC9C"/>
    <a:srgbClr val="0070C0"/>
    <a:srgbClr val="667D9E"/>
    <a:srgbClr val="C7C7C7"/>
    <a:srgbClr val="F4F4F4"/>
    <a:srgbClr val="01FDFE"/>
    <a:srgbClr val="5400FC"/>
    <a:srgbClr val="548D16"/>
    <a:srgbClr val="FB00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718" autoAdjust="0"/>
    <p:restoredTop sz="91147" autoAdjust="0"/>
  </p:normalViewPr>
  <p:slideViewPr>
    <p:cSldViewPr snapToGrid="0">
      <p:cViewPr varScale="1">
        <p:scale>
          <a:sx n="80" d="100"/>
          <a:sy n="80" d="100"/>
        </p:scale>
        <p:origin x="948" y="78"/>
      </p:cViewPr>
      <p:guideLst/>
    </p:cSldViewPr>
  </p:slideViewPr>
  <p:outlineViewPr>
    <p:cViewPr>
      <p:scale>
        <a:sx n="33" d="100"/>
        <a:sy n="33" d="100"/>
      </p:scale>
      <p:origin x="0" y="0"/>
    </p:cViewPr>
  </p:outlineViewPr>
  <p:notesTextViewPr>
    <p:cViewPr>
      <p:scale>
        <a:sx n="400" d="100"/>
        <a:sy n="4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5.fntdata"/><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E1246F-4173-4E06-8B50-E423BC714EB7}"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C160AB-915C-418E-BA25-BC1EDF8222CA}" type="slidenum">
              <a:rPr lang="en-US" smtClean="0"/>
              <a:t>‹#›</a:t>
            </a:fld>
            <a:endParaRPr lang="en-US"/>
          </a:p>
        </p:txBody>
      </p:sp>
    </p:spTree>
    <p:extLst>
      <p:ext uri="{BB962C8B-B14F-4D97-AF65-F5344CB8AC3E}">
        <p14:creationId xmlns:p14="http://schemas.microsoft.com/office/powerpoint/2010/main" val="256848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C160AB-915C-418E-BA25-BC1EDF8222CA}" type="slidenum">
              <a:rPr lang="en-US" smtClean="0"/>
              <a:t>19</a:t>
            </a:fld>
            <a:endParaRPr lang="en-US"/>
          </a:p>
        </p:txBody>
      </p:sp>
    </p:spTree>
    <p:extLst>
      <p:ext uri="{BB962C8B-B14F-4D97-AF65-F5344CB8AC3E}">
        <p14:creationId xmlns:p14="http://schemas.microsoft.com/office/powerpoint/2010/main" val="32069418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7" name="Group 6"/>
          <p:cNvGrpSpPr/>
          <p:nvPr userDrawn="1"/>
        </p:nvGrpSpPr>
        <p:grpSpPr>
          <a:xfrm>
            <a:off x="2" y="0"/>
            <a:ext cx="12191999" cy="6861923"/>
            <a:chOff x="12598961" y="-1"/>
            <a:chExt cx="12191999" cy="6861923"/>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961" y="-1"/>
              <a:ext cx="12191999" cy="6861923"/>
            </a:xfrm>
            <a:prstGeom prst="rect">
              <a:avLst/>
            </a:prstGeom>
            <a:solidFill>
              <a:srgbClr val="00B0F0"/>
            </a:solidFill>
            <a:ln>
              <a:noFill/>
            </a:ln>
            <a:effectLst>
              <a:outerShdw blurRad="152400" dist="50800" dir="5400000" algn="ctr" rotWithShape="0">
                <a:srgbClr val="000000">
                  <a:alpha val="0"/>
                </a:srgbClr>
              </a:outerShdw>
              <a:softEdge rad="0"/>
            </a:effectLst>
          </p:spPr>
        </p:pic>
        <p:sp>
          <p:nvSpPr>
            <p:cNvPr id="9" name="Pentagon 8"/>
            <p:cNvSpPr/>
            <p:nvPr userDrawn="1"/>
          </p:nvSpPr>
          <p:spPr>
            <a:xfrm>
              <a:off x="12598961" y="0"/>
              <a:ext cx="12191999" cy="6861922"/>
            </a:xfrm>
            <a:prstGeom prst="homePlate">
              <a:avLst>
                <a:gd name="adj" fmla="val 0"/>
              </a:avLst>
            </a:prstGeom>
            <a:solidFill>
              <a:srgbClr val="00B0F0">
                <a:alpha val="1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US" sz="1351">
                <a:solidFill>
                  <a:prstClr val="black"/>
                </a:solidFill>
              </a:endParaRPr>
            </a:p>
          </p:txBody>
        </p:sp>
      </p:grpSp>
      <p:sp>
        <p:nvSpPr>
          <p:cNvPr id="10" name="Arc 9"/>
          <p:cNvSpPr/>
          <p:nvPr userDrawn="1"/>
        </p:nvSpPr>
        <p:spPr>
          <a:xfrm rot="16200000">
            <a:off x="-944973" y="307741"/>
            <a:ext cx="7389991" cy="5486097"/>
          </a:xfrm>
          <a:prstGeom prst="arc">
            <a:avLst>
              <a:gd name="adj1" fmla="val 10736553"/>
              <a:gd name="adj2" fmla="val 19727626"/>
            </a:avLst>
          </a:prstGeom>
          <a:ln>
            <a:solidFill>
              <a:srgbClr val="3F599D"/>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defTabSz="914354"/>
            <a:endParaRPr lang="en-US" sz="1351" dirty="0">
              <a:solidFill>
                <a:prstClr val="black"/>
              </a:solidFill>
            </a:endParaRPr>
          </a:p>
        </p:txBody>
      </p:sp>
      <p:grpSp>
        <p:nvGrpSpPr>
          <p:cNvPr id="11" name="Group 10">
            <a:extLst>
              <a:ext uri="{FF2B5EF4-FFF2-40B4-BE49-F238E27FC236}">
                <a16:creationId xmlns:a16="http://schemas.microsoft.com/office/drawing/2014/main" id="{36D64FDC-E7B2-82F1-5A0F-381282D8D97A}"/>
              </a:ext>
            </a:extLst>
          </p:cNvPr>
          <p:cNvGrpSpPr>
            <a:grpSpLocks noChangeAspect="1"/>
          </p:cNvGrpSpPr>
          <p:nvPr userDrawn="1"/>
        </p:nvGrpSpPr>
        <p:grpSpPr bwMode="auto">
          <a:xfrm>
            <a:off x="9523289" y="-1314503"/>
            <a:ext cx="3807563" cy="4321749"/>
            <a:chOff x="1952" y="667"/>
            <a:chExt cx="1755" cy="1992"/>
          </a:xfrm>
          <a:solidFill>
            <a:schemeClr val="bg1">
              <a:alpha val="25000"/>
            </a:schemeClr>
          </a:solidFill>
        </p:grpSpPr>
        <p:sp>
          <p:nvSpPr>
            <p:cNvPr id="12" name="Freeform 11">
              <a:extLst>
                <a:ext uri="{FF2B5EF4-FFF2-40B4-BE49-F238E27FC236}">
                  <a16:creationId xmlns:a16="http://schemas.microsoft.com/office/drawing/2014/main" id="{019864D3-0A89-E1FA-8394-6F8F2199F832}"/>
                </a:ext>
              </a:extLst>
            </p:cNvPr>
            <p:cNvSpPr>
              <a:spLocks noEditPoints="1"/>
            </p:cNvSpPr>
            <p:nvPr/>
          </p:nvSpPr>
          <p:spPr bwMode="auto">
            <a:xfrm>
              <a:off x="2614" y="1651"/>
              <a:ext cx="1093" cy="1008"/>
            </a:xfrm>
            <a:custGeom>
              <a:avLst/>
              <a:gdLst>
                <a:gd name="T0" fmla="*/ 182 w 461"/>
                <a:gd name="T1" fmla="*/ 425 h 425"/>
                <a:gd name="T2" fmla="*/ 378 w 461"/>
                <a:gd name="T3" fmla="*/ 225 h 425"/>
                <a:gd name="T4" fmla="*/ 436 w 461"/>
                <a:gd name="T5" fmla="*/ 153 h 425"/>
                <a:gd name="T6" fmla="*/ 441 w 461"/>
                <a:gd name="T7" fmla="*/ 146 h 425"/>
                <a:gd name="T8" fmla="*/ 439 w 461"/>
                <a:gd name="T9" fmla="*/ 121 h 425"/>
                <a:gd name="T10" fmla="*/ 420 w 461"/>
                <a:gd name="T11" fmla="*/ 88 h 425"/>
                <a:gd name="T12" fmla="*/ 379 w 461"/>
                <a:gd name="T13" fmla="*/ 21 h 425"/>
                <a:gd name="T14" fmla="*/ 371 w 461"/>
                <a:gd name="T15" fmla="*/ 13 h 425"/>
                <a:gd name="T16" fmla="*/ 363 w 461"/>
                <a:gd name="T17" fmla="*/ 20 h 425"/>
                <a:gd name="T18" fmla="*/ 356 w 461"/>
                <a:gd name="T19" fmla="*/ 29 h 425"/>
                <a:gd name="T20" fmla="*/ 328 w 461"/>
                <a:gd name="T21" fmla="*/ 64 h 425"/>
                <a:gd name="T22" fmla="*/ 146 w 461"/>
                <a:gd name="T23" fmla="*/ 264 h 425"/>
                <a:gd name="T24" fmla="*/ 44 w 461"/>
                <a:gd name="T25" fmla="*/ 353 h 425"/>
                <a:gd name="T26" fmla="*/ 18 w 461"/>
                <a:gd name="T27" fmla="*/ 373 h 425"/>
                <a:gd name="T28" fmla="*/ 13 w 461"/>
                <a:gd name="T29" fmla="*/ 380 h 425"/>
                <a:gd name="T30" fmla="*/ 29 w 461"/>
                <a:gd name="T31" fmla="*/ 387 h 425"/>
                <a:gd name="T32" fmla="*/ 51 w 461"/>
                <a:gd name="T33" fmla="*/ 393 h 425"/>
                <a:gd name="T34" fmla="*/ 182 w 461"/>
                <a:gd name="T35" fmla="*/ 425 h 425"/>
                <a:gd name="T36" fmla="*/ 182 w 461"/>
                <a:gd name="T37" fmla="*/ 425 h 425"/>
                <a:gd name="T38" fmla="*/ 28 w 461"/>
                <a:gd name="T39" fmla="*/ 393 h 425"/>
                <a:gd name="T40" fmla="*/ 9 w 461"/>
                <a:gd name="T41" fmla="*/ 373 h 425"/>
                <a:gd name="T42" fmla="*/ 39 w 461"/>
                <a:gd name="T43" fmla="*/ 347 h 425"/>
                <a:gd name="T44" fmla="*/ 139 w 461"/>
                <a:gd name="T45" fmla="*/ 257 h 425"/>
                <a:gd name="T46" fmla="*/ 354 w 461"/>
                <a:gd name="T47" fmla="*/ 13 h 425"/>
                <a:gd name="T48" fmla="*/ 372 w 461"/>
                <a:gd name="T49" fmla="*/ 1 h 425"/>
                <a:gd name="T50" fmla="*/ 389 w 461"/>
                <a:gd name="T51" fmla="*/ 14 h 425"/>
                <a:gd name="T52" fmla="*/ 430 w 461"/>
                <a:gd name="T53" fmla="*/ 82 h 425"/>
                <a:gd name="T54" fmla="*/ 450 w 461"/>
                <a:gd name="T55" fmla="*/ 150 h 425"/>
                <a:gd name="T56" fmla="*/ 444 w 461"/>
                <a:gd name="T57" fmla="*/ 159 h 425"/>
                <a:gd name="T58" fmla="*/ 399 w 461"/>
                <a:gd name="T59" fmla="*/ 213 h 425"/>
                <a:gd name="T60" fmla="*/ 182 w 461"/>
                <a:gd name="T61"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1" h="425">
                  <a:moveTo>
                    <a:pt x="182" y="425"/>
                  </a:moveTo>
                  <a:cubicBezTo>
                    <a:pt x="251" y="362"/>
                    <a:pt x="317" y="295"/>
                    <a:pt x="378" y="225"/>
                  </a:cubicBezTo>
                  <a:cubicBezTo>
                    <a:pt x="398" y="202"/>
                    <a:pt x="417" y="177"/>
                    <a:pt x="436" y="153"/>
                  </a:cubicBezTo>
                  <a:cubicBezTo>
                    <a:pt x="438" y="151"/>
                    <a:pt x="440" y="148"/>
                    <a:pt x="441" y="146"/>
                  </a:cubicBezTo>
                  <a:cubicBezTo>
                    <a:pt x="444" y="138"/>
                    <a:pt x="443" y="129"/>
                    <a:pt x="439" y="121"/>
                  </a:cubicBezTo>
                  <a:cubicBezTo>
                    <a:pt x="434" y="110"/>
                    <a:pt x="427" y="99"/>
                    <a:pt x="420" y="88"/>
                  </a:cubicBezTo>
                  <a:cubicBezTo>
                    <a:pt x="407" y="65"/>
                    <a:pt x="393" y="43"/>
                    <a:pt x="379" y="21"/>
                  </a:cubicBezTo>
                  <a:cubicBezTo>
                    <a:pt x="377" y="17"/>
                    <a:pt x="374" y="13"/>
                    <a:pt x="371" y="13"/>
                  </a:cubicBezTo>
                  <a:cubicBezTo>
                    <a:pt x="367" y="13"/>
                    <a:pt x="366" y="17"/>
                    <a:pt x="363" y="20"/>
                  </a:cubicBezTo>
                  <a:cubicBezTo>
                    <a:pt x="356" y="29"/>
                    <a:pt x="356" y="29"/>
                    <a:pt x="356" y="29"/>
                  </a:cubicBezTo>
                  <a:cubicBezTo>
                    <a:pt x="347" y="41"/>
                    <a:pt x="338" y="53"/>
                    <a:pt x="328" y="64"/>
                  </a:cubicBezTo>
                  <a:cubicBezTo>
                    <a:pt x="272" y="134"/>
                    <a:pt x="212" y="202"/>
                    <a:pt x="146" y="264"/>
                  </a:cubicBezTo>
                  <a:cubicBezTo>
                    <a:pt x="113" y="295"/>
                    <a:pt x="79" y="324"/>
                    <a:pt x="44" y="353"/>
                  </a:cubicBezTo>
                  <a:cubicBezTo>
                    <a:pt x="35" y="360"/>
                    <a:pt x="26" y="366"/>
                    <a:pt x="18" y="373"/>
                  </a:cubicBezTo>
                  <a:cubicBezTo>
                    <a:pt x="15" y="376"/>
                    <a:pt x="13" y="379"/>
                    <a:pt x="13" y="380"/>
                  </a:cubicBezTo>
                  <a:cubicBezTo>
                    <a:pt x="14" y="385"/>
                    <a:pt x="25" y="386"/>
                    <a:pt x="29" y="387"/>
                  </a:cubicBezTo>
                  <a:cubicBezTo>
                    <a:pt x="51" y="393"/>
                    <a:pt x="51" y="393"/>
                    <a:pt x="51" y="393"/>
                  </a:cubicBezTo>
                  <a:cubicBezTo>
                    <a:pt x="79" y="400"/>
                    <a:pt x="154" y="418"/>
                    <a:pt x="182" y="425"/>
                  </a:cubicBezTo>
                  <a:close/>
                  <a:moveTo>
                    <a:pt x="182" y="425"/>
                  </a:moveTo>
                  <a:cubicBezTo>
                    <a:pt x="132" y="415"/>
                    <a:pt x="78" y="404"/>
                    <a:pt x="28" y="393"/>
                  </a:cubicBezTo>
                  <a:cubicBezTo>
                    <a:pt x="18" y="391"/>
                    <a:pt x="0" y="387"/>
                    <a:pt x="9" y="373"/>
                  </a:cubicBezTo>
                  <a:cubicBezTo>
                    <a:pt x="17" y="363"/>
                    <a:pt x="29" y="356"/>
                    <a:pt x="39" y="347"/>
                  </a:cubicBezTo>
                  <a:cubicBezTo>
                    <a:pt x="73" y="318"/>
                    <a:pt x="107" y="287"/>
                    <a:pt x="139" y="257"/>
                  </a:cubicBezTo>
                  <a:cubicBezTo>
                    <a:pt x="217" y="181"/>
                    <a:pt x="287" y="98"/>
                    <a:pt x="354" y="13"/>
                  </a:cubicBezTo>
                  <a:cubicBezTo>
                    <a:pt x="358" y="7"/>
                    <a:pt x="364" y="0"/>
                    <a:pt x="372" y="1"/>
                  </a:cubicBezTo>
                  <a:cubicBezTo>
                    <a:pt x="380" y="2"/>
                    <a:pt x="386" y="10"/>
                    <a:pt x="389" y="14"/>
                  </a:cubicBezTo>
                  <a:cubicBezTo>
                    <a:pt x="403" y="37"/>
                    <a:pt x="417" y="59"/>
                    <a:pt x="430" y="82"/>
                  </a:cubicBezTo>
                  <a:cubicBezTo>
                    <a:pt x="440" y="102"/>
                    <a:pt x="461" y="125"/>
                    <a:pt x="450" y="150"/>
                  </a:cubicBezTo>
                  <a:cubicBezTo>
                    <a:pt x="449" y="152"/>
                    <a:pt x="446" y="158"/>
                    <a:pt x="444" y="159"/>
                  </a:cubicBezTo>
                  <a:cubicBezTo>
                    <a:pt x="430" y="177"/>
                    <a:pt x="414" y="196"/>
                    <a:pt x="399" y="213"/>
                  </a:cubicBezTo>
                  <a:cubicBezTo>
                    <a:pt x="333" y="289"/>
                    <a:pt x="260" y="360"/>
                    <a:pt x="182" y="4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4"/>
              <a:endParaRPr lang="en-US">
                <a:solidFill>
                  <a:prstClr val="white"/>
                </a:solidFill>
              </a:endParaRPr>
            </a:p>
          </p:txBody>
        </p:sp>
        <p:sp>
          <p:nvSpPr>
            <p:cNvPr id="13" name="Freeform 12">
              <a:extLst>
                <a:ext uri="{FF2B5EF4-FFF2-40B4-BE49-F238E27FC236}">
                  <a16:creationId xmlns:a16="http://schemas.microsoft.com/office/drawing/2014/main" id="{FCE3BC3E-4EA4-5C67-AF44-035692112E23}"/>
                </a:ext>
              </a:extLst>
            </p:cNvPr>
            <p:cNvSpPr>
              <a:spLocks noEditPoints="1"/>
            </p:cNvSpPr>
            <p:nvPr/>
          </p:nvSpPr>
          <p:spPr bwMode="auto">
            <a:xfrm>
              <a:off x="2407" y="1281"/>
              <a:ext cx="1056" cy="989"/>
            </a:xfrm>
            <a:custGeom>
              <a:avLst/>
              <a:gdLst>
                <a:gd name="T0" fmla="*/ 183 w 445"/>
                <a:gd name="T1" fmla="*/ 417 h 417"/>
                <a:gd name="T2" fmla="*/ 363 w 445"/>
                <a:gd name="T3" fmla="*/ 215 h 417"/>
                <a:gd name="T4" fmla="*/ 417 w 445"/>
                <a:gd name="T5" fmla="*/ 143 h 417"/>
                <a:gd name="T6" fmla="*/ 418 w 445"/>
                <a:gd name="T7" fmla="*/ 113 h 417"/>
                <a:gd name="T8" fmla="*/ 353 w 445"/>
                <a:gd name="T9" fmla="*/ 21 h 417"/>
                <a:gd name="T10" fmla="*/ 344 w 445"/>
                <a:gd name="T11" fmla="*/ 15 h 417"/>
                <a:gd name="T12" fmla="*/ 337 w 445"/>
                <a:gd name="T13" fmla="*/ 22 h 417"/>
                <a:gd name="T14" fmla="*/ 305 w 445"/>
                <a:gd name="T15" fmla="*/ 66 h 417"/>
                <a:gd name="T16" fmla="*/ 136 w 445"/>
                <a:gd name="T17" fmla="*/ 268 h 417"/>
                <a:gd name="T18" fmla="*/ 40 w 445"/>
                <a:gd name="T19" fmla="*/ 358 h 417"/>
                <a:gd name="T20" fmla="*/ 14 w 445"/>
                <a:gd name="T21" fmla="*/ 383 h 417"/>
                <a:gd name="T22" fmla="*/ 32 w 445"/>
                <a:gd name="T23" fmla="*/ 391 h 417"/>
                <a:gd name="T24" fmla="*/ 53 w 445"/>
                <a:gd name="T25" fmla="*/ 394 h 417"/>
                <a:gd name="T26" fmla="*/ 183 w 445"/>
                <a:gd name="T27" fmla="*/ 417 h 417"/>
                <a:gd name="T28" fmla="*/ 183 w 445"/>
                <a:gd name="T29" fmla="*/ 417 h 417"/>
                <a:gd name="T30" fmla="*/ 53 w 445"/>
                <a:gd name="T31" fmla="*/ 399 h 417"/>
                <a:gd name="T32" fmla="*/ 31 w 445"/>
                <a:gd name="T33" fmla="*/ 396 h 417"/>
                <a:gd name="T34" fmla="*/ 8 w 445"/>
                <a:gd name="T35" fmla="*/ 389 h 417"/>
                <a:gd name="T36" fmla="*/ 35 w 445"/>
                <a:gd name="T37" fmla="*/ 353 h 417"/>
                <a:gd name="T38" fmla="*/ 67 w 445"/>
                <a:gd name="T39" fmla="*/ 323 h 417"/>
                <a:gd name="T40" fmla="*/ 321 w 445"/>
                <a:gd name="T41" fmla="*/ 24 h 417"/>
                <a:gd name="T42" fmla="*/ 333 w 445"/>
                <a:gd name="T43" fmla="*/ 8 h 417"/>
                <a:gd name="T44" fmla="*/ 358 w 445"/>
                <a:gd name="T45" fmla="*/ 9 h 417"/>
                <a:gd name="T46" fmla="*/ 406 w 445"/>
                <a:gd name="T47" fmla="*/ 76 h 417"/>
                <a:gd name="T48" fmla="*/ 425 w 445"/>
                <a:gd name="T49" fmla="*/ 148 h 417"/>
                <a:gd name="T50" fmla="*/ 183 w 445"/>
                <a:gd name="T51" fmla="*/ 417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45" h="417">
                  <a:moveTo>
                    <a:pt x="183" y="417"/>
                  </a:moveTo>
                  <a:cubicBezTo>
                    <a:pt x="247" y="353"/>
                    <a:pt x="307" y="286"/>
                    <a:pt x="363" y="215"/>
                  </a:cubicBezTo>
                  <a:cubicBezTo>
                    <a:pt x="382" y="191"/>
                    <a:pt x="399" y="167"/>
                    <a:pt x="417" y="143"/>
                  </a:cubicBezTo>
                  <a:cubicBezTo>
                    <a:pt x="424" y="134"/>
                    <a:pt x="424" y="122"/>
                    <a:pt x="418" y="113"/>
                  </a:cubicBezTo>
                  <a:cubicBezTo>
                    <a:pt x="398" y="81"/>
                    <a:pt x="375" y="51"/>
                    <a:pt x="353" y="21"/>
                  </a:cubicBezTo>
                  <a:cubicBezTo>
                    <a:pt x="351" y="18"/>
                    <a:pt x="347" y="15"/>
                    <a:pt x="344" y="15"/>
                  </a:cubicBezTo>
                  <a:cubicBezTo>
                    <a:pt x="341" y="15"/>
                    <a:pt x="339" y="19"/>
                    <a:pt x="337" y="22"/>
                  </a:cubicBezTo>
                  <a:cubicBezTo>
                    <a:pt x="326" y="37"/>
                    <a:pt x="316" y="52"/>
                    <a:pt x="305" y="66"/>
                  </a:cubicBezTo>
                  <a:cubicBezTo>
                    <a:pt x="253" y="137"/>
                    <a:pt x="198" y="205"/>
                    <a:pt x="136" y="268"/>
                  </a:cubicBezTo>
                  <a:cubicBezTo>
                    <a:pt x="105" y="299"/>
                    <a:pt x="73" y="329"/>
                    <a:pt x="40" y="358"/>
                  </a:cubicBezTo>
                  <a:cubicBezTo>
                    <a:pt x="32" y="367"/>
                    <a:pt x="20" y="373"/>
                    <a:pt x="14" y="383"/>
                  </a:cubicBezTo>
                  <a:cubicBezTo>
                    <a:pt x="11" y="389"/>
                    <a:pt x="29" y="389"/>
                    <a:pt x="32" y="391"/>
                  </a:cubicBezTo>
                  <a:cubicBezTo>
                    <a:pt x="32" y="391"/>
                    <a:pt x="53" y="394"/>
                    <a:pt x="53" y="394"/>
                  </a:cubicBezTo>
                  <a:cubicBezTo>
                    <a:pt x="81" y="399"/>
                    <a:pt x="155" y="412"/>
                    <a:pt x="183" y="417"/>
                  </a:cubicBezTo>
                  <a:close/>
                  <a:moveTo>
                    <a:pt x="183" y="417"/>
                  </a:moveTo>
                  <a:cubicBezTo>
                    <a:pt x="141" y="412"/>
                    <a:pt x="95" y="405"/>
                    <a:pt x="53" y="399"/>
                  </a:cubicBezTo>
                  <a:cubicBezTo>
                    <a:pt x="31" y="396"/>
                    <a:pt x="31" y="396"/>
                    <a:pt x="31" y="396"/>
                  </a:cubicBezTo>
                  <a:cubicBezTo>
                    <a:pt x="23" y="395"/>
                    <a:pt x="14" y="396"/>
                    <a:pt x="8" y="389"/>
                  </a:cubicBezTo>
                  <a:cubicBezTo>
                    <a:pt x="0" y="377"/>
                    <a:pt x="28" y="361"/>
                    <a:pt x="35" y="353"/>
                  </a:cubicBezTo>
                  <a:cubicBezTo>
                    <a:pt x="46" y="343"/>
                    <a:pt x="56" y="333"/>
                    <a:pt x="67" y="323"/>
                  </a:cubicBezTo>
                  <a:cubicBezTo>
                    <a:pt x="162" y="233"/>
                    <a:pt x="245" y="131"/>
                    <a:pt x="321" y="24"/>
                  </a:cubicBezTo>
                  <a:cubicBezTo>
                    <a:pt x="324" y="20"/>
                    <a:pt x="329" y="11"/>
                    <a:pt x="333" y="8"/>
                  </a:cubicBezTo>
                  <a:cubicBezTo>
                    <a:pt x="340" y="0"/>
                    <a:pt x="351" y="2"/>
                    <a:pt x="358" y="9"/>
                  </a:cubicBezTo>
                  <a:cubicBezTo>
                    <a:pt x="374" y="30"/>
                    <a:pt x="390" y="53"/>
                    <a:pt x="406" y="76"/>
                  </a:cubicBezTo>
                  <a:cubicBezTo>
                    <a:pt x="421" y="99"/>
                    <a:pt x="445" y="122"/>
                    <a:pt x="425" y="148"/>
                  </a:cubicBezTo>
                  <a:cubicBezTo>
                    <a:pt x="354" y="246"/>
                    <a:pt x="272" y="335"/>
                    <a:pt x="183" y="4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4"/>
              <a:endParaRPr lang="en-US">
                <a:solidFill>
                  <a:prstClr val="white"/>
                </a:solidFill>
              </a:endParaRPr>
            </a:p>
          </p:txBody>
        </p:sp>
        <p:sp>
          <p:nvSpPr>
            <p:cNvPr id="14" name="Freeform 13">
              <a:extLst>
                <a:ext uri="{FF2B5EF4-FFF2-40B4-BE49-F238E27FC236}">
                  <a16:creationId xmlns:a16="http://schemas.microsoft.com/office/drawing/2014/main" id="{73EA08AE-197E-B3FF-2BCB-1180D681AA7F}"/>
                </a:ext>
              </a:extLst>
            </p:cNvPr>
            <p:cNvSpPr>
              <a:spLocks noEditPoints="1"/>
            </p:cNvSpPr>
            <p:nvPr/>
          </p:nvSpPr>
          <p:spPr bwMode="auto">
            <a:xfrm>
              <a:off x="2163" y="956"/>
              <a:ext cx="1001" cy="954"/>
            </a:xfrm>
            <a:custGeom>
              <a:avLst/>
              <a:gdLst>
                <a:gd name="T0" fmla="*/ 189 w 422"/>
                <a:gd name="T1" fmla="*/ 402 h 402"/>
                <a:gd name="T2" fmla="*/ 356 w 422"/>
                <a:gd name="T3" fmla="*/ 201 h 402"/>
                <a:gd name="T4" fmla="*/ 405 w 422"/>
                <a:gd name="T5" fmla="*/ 130 h 402"/>
                <a:gd name="T6" fmla="*/ 404 w 422"/>
                <a:gd name="T7" fmla="*/ 102 h 402"/>
                <a:gd name="T8" fmla="*/ 334 w 422"/>
                <a:gd name="T9" fmla="*/ 22 h 402"/>
                <a:gd name="T10" fmla="*/ 321 w 422"/>
                <a:gd name="T11" fmla="*/ 19 h 402"/>
                <a:gd name="T12" fmla="*/ 313 w 422"/>
                <a:gd name="T13" fmla="*/ 32 h 402"/>
                <a:gd name="T14" fmla="*/ 188 w 422"/>
                <a:gd name="T15" fmla="*/ 205 h 402"/>
                <a:gd name="T16" fmla="*/ 73 w 422"/>
                <a:gd name="T17" fmla="*/ 330 h 402"/>
                <a:gd name="T18" fmla="*/ 27 w 422"/>
                <a:gd name="T19" fmla="*/ 375 h 402"/>
                <a:gd name="T20" fmla="*/ 20 w 422"/>
                <a:gd name="T21" fmla="*/ 384 h 402"/>
                <a:gd name="T22" fmla="*/ 31 w 422"/>
                <a:gd name="T23" fmla="*/ 388 h 402"/>
                <a:gd name="T24" fmla="*/ 41 w 422"/>
                <a:gd name="T25" fmla="*/ 389 h 402"/>
                <a:gd name="T26" fmla="*/ 62 w 422"/>
                <a:gd name="T27" fmla="*/ 391 h 402"/>
                <a:gd name="T28" fmla="*/ 189 w 422"/>
                <a:gd name="T29" fmla="*/ 402 h 402"/>
                <a:gd name="T30" fmla="*/ 189 w 422"/>
                <a:gd name="T31" fmla="*/ 402 h 402"/>
                <a:gd name="T32" fmla="*/ 41 w 422"/>
                <a:gd name="T33" fmla="*/ 395 h 402"/>
                <a:gd name="T34" fmla="*/ 19 w 422"/>
                <a:gd name="T35" fmla="*/ 392 h 402"/>
                <a:gd name="T36" fmla="*/ 37 w 422"/>
                <a:gd name="T37" fmla="*/ 355 h 402"/>
                <a:gd name="T38" fmla="*/ 125 w 422"/>
                <a:gd name="T39" fmla="*/ 263 h 402"/>
                <a:gd name="T40" fmla="*/ 279 w 422"/>
                <a:gd name="T41" fmla="*/ 61 h 402"/>
                <a:gd name="T42" fmla="*/ 303 w 422"/>
                <a:gd name="T43" fmla="*/ 26 h 402"/>
                <a:gd name="T44" fmla="*/ 314 w 422"/>
                <a:gd name="T45" fmla="*/ 10 h 402"/>
                <a:gd name="T46" fmla="*/ 343 w 422"/>
                <a:gd name="T47" fmla="*/ 14 h 402"/>
                <a:gd name="T48" fmla="*/ 413 w 422"/>
                <a:gd name="T49" fmla="*/ 96 h 402"/>
                <a:gd name="T50" fmla="*/ 414 w 422"/>
                <a:gd name="T51" fmla="*/ 135 h 402"/>
                <a:gd name="T52" fmla="*/ 363 w 422"/>
                <a:gd name="T53" fmla="*/ 206 h 402"/>
                <a:gd name="T54" fmla="*/ 189 w 422"/>
                <a:gd name="T55"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2" h="402">
                  <a:moveTo>
                    <a:pt x="189" y="402"/>
                  </a:moveTo>
                  <a:cubicBezTo>
                    <a:pt x="248" y="338"/>
                    <a:pt x="304" y="272"/>
                    <a:pt x="356" y="201"/>
                  </a:cubicBezTo>
                  <a:cubicBezTo>
                    <a:pt x="373" y="178"/>
                    <a:pt x="389" y="154"/>
                    <a:pt x="405" y="130"/>
                  </a:cubicBezTo>
                  <a:cubicBezTo>
                    <a:pt x="411" y="122"/>
                    <a:pt x="411" y="110"/>
                    <a:pt x="404" y="102"/>
                  </a:cubicBezTo>
                  <a:cubicBezTo>
                    <a:pt x="383" y="75"/>
                    <a:pt x="358" y="48"/>
                    <a:pt x="334" y="22"/>
                  </a:cubicBezTo>
                  <a:cubicBezTo>
                    <a:pt x="331" y="18"/>
                    <a:pt x="325" y="13"/>
                    <a:pt x="321" y="19"/>
                  </a:cubicBezTo>
                  <a:cubicBezTo>
                    <a:pt x="320" y="22"/>
                    <a:pt x="315" y="30"/>
                    <a:pt x="313" y="32"/>
                  </a:cubicBezTo>
                  <a:cubicBezTo>
                    <a:pt x="274" y="92"/>
                    <a:pt x="232" y="149"/>
                    <a:pt x="188" y="205"/>
                  </a:cubicBezTo>
                  <a:cubicBezTo>
                    <a:pt x="152" y="249"/>
                    <a:pt x="113" y="290"/>
                    <a:pt x="73" y="330"/>
                  </a:cubicBezTo>
                  <a:cubicBezTo>
                    <a:pt x="58" y="345"/>
                    <a:pt x="43" y="361"/>
                    <a:pt x="27" y="375"/>
                  </a:cubicBezTo>
                  <a:cubicBezTo>
                    <a:pt x="24" y="377"/>
                    <a:pt x="20" y="381"/>
                    <a:pt x="20" y="384"/>
                  </a:cubicBezTo>
                  <a:cubicBezTo>
                    <a:pt x="22" y="387"/>
                    <a:pt x="27" y="387"/>
                    <a:pt x="31" y="388"/>
                  </a:cubicBezTo>
                  <a:cubicBezTo>
                    <a:pt x="41" y="389"/>
                    <a:pt x="41" y="389"/>
                    <a:pt x="41" y="389"/>
                  </a:cubicBezTo>
                  <a:cubicBezTo>
                    <a:pt x="62" y="391"/>
                    <a:pt x="62" y="391"/>
                    <a:pt x="62" y="391"/>
                  </a:cubicBezTo>
                  <a:cubicBezTo>
                    <a:pt x="89" y="393"/>
                    <a:pt x="162" y="400"/>
                    <a:pt x="189" y="402"/>
                  </a:cubicBezTo>
                  <a:close/>
                  <a:moveTo>
                    <a:pt x="189" y="402"/>
                  </a:moveTo>
                  <a:cubicBezTo>
                    <a:pt x="141" y="400"/>
                    <a:pt x="89" y="397"/>
                    <a:pt x="41" y="395"/>
                  </a:cubicBezTo>
                  <a:cubicBezTo>
                    <a:pt x="35" y="394"/>
                    <a:pt x="25" y="394"/>
                    <a:pt x="19" y="392"/>
                  </a:cubicBezTo>
                  <a:cubicBezTo>
                    <a:pt x="0" y="382"/>
                    <a:pt x="31" y="363"/>
                    <a:pt x="37" y="355"/>
                  </a:cubicBezTo>
                  <a:cubicBezTo>
                    <a:pt x="67" y="325"/>
                    <a:pt x="96" y="294"/>
                    <a:pt x="125" y="263"/>
                  </a:cubicBezTo>
                  <a:cubicBezTo>
                    <a:pt x="181" y="199"/>
                    <a:pt x="232" y="131"/>
                    <a:pt x="279" y="61"/>
                  </a:cubicBezTo>
                  <a:cubicBezTo>
                    <a:pt x="287" y="49"/>
                    <a:pt x="295" y="38"/>
                    <a:pt x="303" y="26"/>
                  </a:cubicBezTo>
                  <a:cubicBezTo>
                    <a:pt x="306" y="22"/>
                    <a:pt x="311" y="14"/>
                    <a:pt x="314" y="10"/>
                  </a:cubicBezTo>
                  <a:cubicBezTo>
                    <a:pt x="323" y="0"/>
                    <a:pt x="336" y="5"/>
                    <a:pt x="343" y="14"/>
                  </a:cubicBezTo>
                  <a:cubicBezTo>
                    <a:pt x="366" y="40"/>
                    <a:pt x="392" y="68"/>
                    <a:pt x="413" y="96"/>
                  </a:cubicBezTo>
                  <a:cubicBezTo>
                    <a:pt x="422" y="107"/>
                    <a:pt x="422" y="126"/>
                    <a:pt x="414" y="135"/>
                  </a:cubicBezTo>
                  <a:cubicBezTo>
                    <a:pt x="397" y="160"/>
                    <a:pt x="381" y="183"/>
                    <a:pt x="363" y="206"/>
                  </a:cubicBezTo>
                  <a:cubicBezTo>
                    <a:pt x="310" y="276"/>
                    <a:pt x="252" y="341"/>
                    <a:pt x="189" y="4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4"/>
              <a:endParaRPr lang="en-US">
                <a:solidFill>
                  <a:prstClr val="white"/>
                </a:solidFill>
              </a:endParaRPr>
            </a:p>
          </p:txBody>
        </p:sp>
        <p:sp>
          <p:nvSpPr>
            <p:cNvPr id="15" name="Freeform 14">
              <a:extLst>
                <a:ext uri="{FF2B5EF4-FFF2-40B4-BE49-F238E27FC236}">
                  <a16:creationId xmlns:a16="http://schemas.microsoft.com/office/drawing/2014/main" id="{81053509-F672-B825-826A-32EC25F6A5B3}"/>
                </a:ext>
              </a:extLst>
            </p:cNvPr>
            <p:cNvSpPr>
              <a:spLocks noEditPoints="1"/>
            </p:cNvSpPr>
            <p:nvPr/>
          </p:nvSpPr>
          <p:spPr bwMode="auto">
            <a:xfrm>
              <a:off x="1952" y="667"/>
              <a:ext cx="904" cy="937"/>
            </a:xfrm>
            <a:custGeom>
              <a:avLst/>
              <a:gdLst>
                <a:gd name="T0" fmla="*/ 173 w 381"/>
                <a:gd name="T1" fmla="*/ 392 h 395"/>
                <a:gd name="T2" fmla="*/ 321 w 381"/>
                <a:gd name="T3" fmla="*/ 190 h 395"/>
                <a:gd name="T4" fmla="*/ 365 w 381"/>
                <a:gd name="T5" fmla="*/ 118 h 395"/>
                <a:gd name="T6" fmla="*/ 362 w 381"/>
                <a:gd name="T7" fmla="*/ 92 h 395"/>
                <a:gd name="T8" fmla="*/ 339 w 381"/>
                <a:gd name="T9" fmla="*/ 68 h 395"/>
                <a:gd name="T10" fmla="*/ 289 w 381"/>
                <a:gd name="T11" fmla="*/ 21 h 395"/>
                <a:gd name="T12" fmla="*/ 278 w 381"/>
                <a:gd name="T13" fmla="*/ 18 h 395"/>
                <a:gd name="T14" fmla="*/ 205 w 381"/>
                <a:gd name="T15" fmla="*/ 137 h 395"/>
                <a:gd name="T16" fmla="*/ 109 w 381"/>
                <a:gd name="T17" fmla="*/ 270 h 395"/>
                <a:gd name="T18" fmla="*/ 27 w 381"/>
                <a:gd name="T19" fmla="*/ 363 h 395"/>
                <a:gd name="T20" fmla="*/ 7 w 381"/>
                <a:gd name="T21" fmla="*/ 385 h 395"/>
                <a:gd name="T22" fmla="*/ 7 w 381"/>
                <a:gd name="T23" fmla="*/ 387 h 395"/>
                <a:gd name="T24" fmla="*/ 9 w 381"/>
                <a:gd name="T25" fmla="*/ 388 h 395"/>
                <a:gd name="T26" fmla="*/ 19 w 381"/>
                <a:gd name="T27" fmla="*/ 389 h 395"/>
                <a:gd name="T28" fmla="*/ 29 w 381"/>
                <a:gd name="T29" fmla="*/ 389 h 395"/>
                <a:gd name="T30" fmla="*/ 50 w 381"/>
                <a:gd name="T31" fmla="*/ 390 h 395"/>
                <a:gd name="T32" fmla="*/ 173 w 381"/>
                <a:gd name="T33" fmla="*/ 392 h 395"/>
                <a:gd name="T34" fmla="*/ 173 w 381"/>
                <a:gd name="T35" fmla="*/ 392 h 395"/>
                <a:gd name="T36" fmla="*/ 50 w 381"/>
                <a:gd name="T37" fmla="*/ 395 h 395"/>
                <a:gd name="T38" fmla="*/ 19 w 381"/>
                <a:gd name="T39" fmla="*/ 395 h 395"/>
                <a:gd name="T40" fmla="*/ 0 w 381"/>
                <a:gd name="T41" fmla="*/ 386 h 395"/>
                <a:gd name="T42" fmla="*/ 15 w 381"/>
                <a:gd name="T43" fmla="*/ 365 h 395"/>
                <a:gd name="T44" fmla="*/ 195 w 381"/>
                <a:gd name="T45" fmla="*/ 131 h 395"/>
                <a:gd name="T46" fmla="*/ 259 w 381"/>
                <a:gd name="T47" fmla="*/ 26 h 395"/>
                <a:gd name="T48" fmla="*/ 272 w 381"/>
                <a:gd name="T49" fmla="*/ 7 h 395"/>
                <a:gd name="T50" fmla="*/ 297 w 381"/>
                <a:gd name="T51" fmla="*/ 12 h 395"/>
                <a:gd name="T52" fmla="*/ 346 w 381"/>
                <a:gd name="T53" fmla="*/ 60 h 395"/>
                <a:gd name="T54" fmla="*/ 376 w 381"/>
                <a:gd name="T55" fmla="*/ 94 h 395"/>
                <a:gd name="T56" fmla="*/ 373 w 381"/>
                <a:gd name="T57" fmla="*/ 123 h 395"/>
                <a:gd name="T58" fmla="*/ 328 w 381"/>
                <a:gd name="T59" fmla="*/ 194 h 395"/>
                <a:gd name="T60" fmla="*/ 173 w 381"/>
                <a:gd name="T61" fmla="*/ 392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1" h="395">
                  <a:moveTo>
                    <a:pt x="173" y="392"/>
                  </a:moveTo>
                  <a:cubicBezTo>
                    <a:pt x="226" y="327"/>
                    <a:pt x="276" y="260"/>
                    <a:pt x="321" y="190"/>
                  </a:cubicBezTo>
                  <a:cubicBezTo>
                    <a:pt x="337" y="166"/>
                    <a:pt x="351" y="142"/>
                    <a:pt x="365" y="118"/>
                  </a:cubicBezTo>
                  <a:cubicBezTo>
                    <a:pt x="370" y="110"/>
                    <a:pt x="369" y="99"/>
                    <a:pt x="362" y="92"/>
                  </a:cubicBezTo>
                  <a:cubicBezTo>
                    <a:pt x="355" y="84"/>
                    <a:pt x="347" y="76"/>
                    <a:pt x="339" y="68"/>
                  </a:cubicBezTo>
                  <a:cubicBezTo>
                    <a:pt x="322" y="52"/>
                    <a:pt x="306" y="36"/>
                    <a:pt x="289" y="21"/>
                  </a:cubicBezTo>
                  <a:cubicBezTo>
                    <a:pt x="287" y="18"/>
                    <a:pt x="281" y="13"/>
                    <a:pt x="278" y="18"/>
                  </a:cubicBezTo>
                  <a:cubicBezTo>
                    <a:pt x="255" y="58"/>
                    <a:pt x="231" y="98"/>
                    <a:pt x="205" y="137"/>
                  </a:cubicBezTo>
                  <a:cubicBezTo>
                    <a:pt x="175" y="183"/>
                    <a:pt x="143" y="228"/>
                    <a:pt x="109" y="270"/>
                  </a:cubicBezTo>
                  <a:cubicBezTo>
                    <a:pt x="82" y="302"/>
                    <a:pt x="55" y="333"/>
                    <a:pt x="27" y="363"/>
                  </a:cubicBezTo>
                  <a:cubicBezTo>
                    <a:pt x="21" y="370"/>
                    <a:pt x="12" y="377"/>
                    <a:pt x="7" y="385"/>
                  </a:cubicBezTo>
                  <a:cubicBezTo>
                    <a:pt x="7" y="386"/>
                    <a:pt x="7" y="387"/>
                    <a:pt x="7" y="387"/>
                  </a:cubicBezTo>
                  <a:cubicBezTo>
                    <a:pt x="7" y="387"/>
                    <a:pt x="8" y="388"/>
                    <a:pt x="9" y="388"/>
                  </a:cubicBezTo>
                  <a:cubicBezTo>
                    <a:pt x="12" y="389"/>
                    <a:pt x="16" y="389"/>
                    <a:pt x="19" y="389"/>
                  </a:cubicBezTo>
                  <a:cubicBezTo>
                    <a:pt x="29" y="389"/>
                    <a:pt x="29" y="389"/>
                    <a:pt x="29" y="389"/>
                  </a:cubicBezTo>
                  <a:cubicBezTo>
                    <a:pt x="50" y="390"/>
                    <a:pt x="50" y="390"/>
                    <a:pt x="50" y="390"/>
                  </a:cubicBezTo>
                  <a:cubicBezTo>
                    <a:pt x="75" y="390"/>
                    <a:pt x="146" y="392"/>
                    <a:pt x="173" y="392"/>
                  </a:cubicBezTo>
                  <a:close/>
                  <a:moveTo>
                    <a:pt x="173" y="392"/>
                  </a:moveTo>
                  <a:cubicBezTo>
                    <a:pt x="133" y="394"/>
                    <a:pt x="89" y="394"/>
                    <a:pt x="50" y="395"/>
                  </a:cubicBezTo>
                  <a:cubicBezTo>
                    <a:pt x="43" y="395"/>
                    <a:pt x="25" y="395"/>
                    <a:pt x="19" y="395"/>
                  </a:cubicBezTo>
                  <a:cubicBezTo>
                    <a:pt x="12" y="395"/>
                    <a:pt x="0" y="395"/>
                    <a:pt x="0" y="386"/>
                  </a:cubicBezTo>
                  <a:cubicBezTo>
                    <a:pt x="2" y="377"/>
                    <a:pt x="9" y="371"/>
                    <a:pt x="15" y="365"/>
                  </a:cubicBezTo>
                  <a:cubicBezTo>
                    <a:pt x="81" y="292"/>
                    <a:pt x="142" y="214"/>
                    <a:pt x="195" y="131"/>
                  </a:cubicBezTo>
                  <a:cubicBezTo>
                    <a:pt x="217" y="96"/>
                    <a:pt x="239" y="62"/>
                    <a:pt x="259" y="26"/>
                  </a:cubicBezTo>
                  <a:cubicBezTo>
                    <a:pt x="263" y="21"/>
                    <a:pt x="266" y="12"/>
                    <a:pt x="272" y="7"/>
                  </a:cubicBezTo>
                  <a:cubicBezTo>
                    <a:pt x="280" y="0"/>
                    <a:pt x="292" y="6"/>
                    <a:pt x="297" y="12"/>
                  </a:cubicBezTo>
                  <a:cubicBezTo>
                    <a:pt x="314" y="28"/>
                    <a:pt x="330" y="44"/>
                    <a:pt x="346" y="60"/>
                  </a:cubicBezTo>
                  <a:cubicBezTo>
                    <a:pt x="356" y="71"/>
                    <a:pt x="368" y="81"/>
                    <a:pt x="376" y="94"/>
                  </a:cubicBezTo>
                  <a:cubicBezTo>
                    <a:pt x="381" y="103"/>
                    <a:pt x="378" y="117"/>
                    <a:pt x="373" y="123"/>
                  </a:cubicBezTo>
                  <a:cubicBezTo>
                    <a:pt x="359" y="147"/>
                    <a:pt x="344" y="171"/>
                    <a:pt x="328" y="194"/>
                  </a:cubicBezTo>
                  <a:cubicBezTo>
                    <a:pt x="281" y="264"/>
                    <a:pt x="229" y="330"/>
                    <a:pt x="173" y="3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4"/>
              <a:endParaRPr lang="en-US">
                <a:solidFill>
                  <a:prstClr val="white"/>
                </a:solidFill>
              </a:endParaRPr>
            </a:p>
          </p:txBody>
        </p:sp>
      </p:grpSp>
    </p:spTree>
    <p:extLst>
      <p:ext uri="{BB962C8B-B14F-4D97-AF65-F5344CB8AC3E}">
        <p14:creationId xmlns:p14="http://schemas.microsoft.com/office/powerpoint/2010/main" val="2738313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7" name="Group 4">
            <a:extLst>
              <a:ext uri="{FF2B5EF4-FFF2-40B4-BE49-F238E27FC236}">
                <a16:creationId xmlns:a16="http://schemas.microsoft.com/office/drawing/2014/main" id="{0F59C51E-0C28-CE8D-A8A0-8EB06EAD75B9}"/>
              </a:ext>
            </a:extLst>
          </p:cNvPr>
          <p:cNvGrpSpPr>
            <a:grpSpLocks noChangeAspect="1"/>
          </p:cNvGrpSpPr>
          <p:nvPr userDrawn="1"/>
        </p:nvGrpSpPr>
        <p:grpSpPr bwMode="auto">
          <a:xfrm>
            <a:off x="11100552" y="-603785"/>
            <a:ext cx="1609621" cy="1837681"/>
            <a:chOff x="1952" y="667"/>
            <a:chExt cx="1755" cy="1992"/>
          </a:xfrm>
          <a:solidFill>
            <a:srgbClr val="0A72C5">
              <a:alpha val="25000"/>
            </a:srgbClr>
          </a:solidFill>
        </p:grpSpPr>
        <p:sp>
          <p:nvSpPr>
            <p:cNvPr id="8" name="Freeform 5">
              <a:extLst>
                <a:ext uri="{FF2B5EF4-FFF2-40B4-BE49-F238E27FC236}">
                  <a16:creationId xmlns:a16="http://schemas.microsoft.com/office/drawing/2014/main" id="{BE5FDFEB-7605-D951-E6D8-A4DC6B9D7BFA}"/>
                </a:ext>
              </a:extLst>
            </p:cNvPr>
            <p:cNvSpPr>
              <a:spLocks noEditPoints="1"/>
            </p:cNvSpPr>
            <p:nvPr/>
          </p:nvSpPr>
          <p:spPr bwMode="auto">
            <a:xfrm>
              <a:off x="2614" y="1651"/>
              <a:ext cx="1093" cy="1008"/>
            </a:xfrm>
            <a:custGeom>
              <a:avLst/>
              <a:gdLst>
                <a:gd name="T0" fmla="*/ 182 w 461"/>
                <a:gd name="T1" fmla="*/ 425 h 425"/>
                <a:gd name="T2" fmla="*/ 378 w 461"/>
                <a:gd name="T3" fmla="*/ 225 h 425"/>
                <a:gd name="T4" fmla="*/ 436 w 461"/>
                <a:gd name="T5" fmla="*/ 153 h 425"/>
                <a:gd name="T6" fmla="*/ 441 w 461"/>
                <a:gd name="T7" fmla="*/ 146 h 425"/>
                <a:gd name="T8" fmla="*/ 439 w 461"/>
                <a:gd name="T9" fmla="*/ 121 h 425"/>
                <a:gd name="T10" fmla="*/ 420 w 461"/>
                <a:gd name="T11" fmla="*/ 88 h 425"/>
                <a:gd name="T12" fmla="*/ 379 w 461"/>
                <a:gd name="T13" fmla="*/ 21 h 425"/>
                <a:gd name="T14" fmla="*/ 371 w 461"/>
                <a:gd name="T15" fmla="*/ 13 h 425"/>
                <a:gd name="T16" fmla="*/ 363 w 461"/>
                <a:gd name="T17" fmla="*/ 20 h 425"/>
                <a:gd name="T18" fmla="*/ 356 w 461"/>
                <a:gd name="T19" fmla="*/ 29 h 425"/>
                <a:gd name="T20" fmla="*/ 328 w 461"/>
                <a:gd name="T21" fmla="*/ 64 h 425"/>
                <a:gd name="T22" fmla="*/ 146 w 461"/>
                <a:gd name="T23" fmla="*/ 264 h 425"/>
                <a:gd name="T24" fmla="*/ 44 w 461"/>
                <a:gd name="T25" fmla="*/ 353 h 425"/>
                <a:gd name="T26" fmla="*/ 18 w 461"/>
                <a:gd name="T27" fmla="*/ 373 h 425"/>
                <a:gd name="T28" fmla="*/ 13 w 461"/>
                <a:gd name="T29" fmla="*/ 380 h 425"/>
                <a:gd name="T30" fmla="*/ 29 w 461"/>
                <a:gd name="T31" fmla="*/ 387 h 425"/>
                <a:gd name="T32" fmla="*/ 51 w 461"/>
                <a:gd name="T33" fmla="*/ 393 h 425"/>
                <a:gd name="T34" fmla="*/ 182 w 461"/>
                <a:gd name="T35" fmla="*/ 425 h 425"/>
                <a:gd name="T36" fmla="*/ 182 w 461"/>
                <a:gd name="T37" fmla="*/ 425 h 425"/>
                <a:gd name="T38" fmla="*/ 28 w 461"/>
                <a:gd name="T39" fmla="*/ 393 h 425"/>
                <a:gd name="T40" fmla="*/ 9 w 461"/>
                <a:gd name="T41" fmla="*/ 373 h 425"/>
                <a:gd name="T42" fmla="*/ 39 w 461"/>
                <a:gd name="T43" fmla="*/ 347 h 425"/>
                <a:gd name="T44" fmla="*/ 139 w 461"/>
                <a:gd name="T45" fmla="*/ 257 h 425"/>
                <a:gd name="T46" fmla="*/ 354 w 461"/>
                <a:gd name="T47" fmla="*/ 13 h 425"/>
                <a:gd name="T48" fmla="*/ 372 w 461"/>
                <a:gd name="T49" fmla="*/ 1 h 425"/>
                <a:gd name="T50" fmla="*/ 389 w 461"/>
                <a:gd name="T51" fmla="*/ 14 h 425"/>
                <a:gd name="T52" fmla="*/ 430 w 461"/>
                <a:gd name="T53" fmla="*/ 82 h 425"/>
                <a:gd name="T54" fmla="*/ 450 w 461"/>
                <a:gd name="T55" fmla="*/ 150 h 425"/>
                <a:gd name="T56" fmla="*/ 444 w 461"/>
                <a:gd name="T57" fmla="*/ 159 h 425"/>
                <a:gd name="T58" fmla="*/ 399 w 461"/>
                <a:gd name="T59" fmla="*/ 213 h 425"/>
                <a:gd name="T60" fmla="*/ 182 w 461"/>
                <a:gd name="T61"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1" h="425">
                  <a:moveTo>
                    <a:pt x="182" y="425"/>
                  </a:moveTo>
                  <a:cubicBezTo>
                    <a:pt x="251" y="362"/>
                    <a:pt x="317" y="295"/>
                    <a:pt x="378" y="225"/>
                  </a:cubicBezTo>
                  <a:cubicBezTo>
                    <a:pt x="398" y="202"/>
                    <a:pt x="417" y="177"/>
                    <a:pt x="436" y="153"/>
                  </a:cubicBezTo>
                  <a:cubicBezTo>
                    <a:pt x="438" y="151"/>
                    <a:pt x="440" y="148"/>
                    <a:pt x="441" y="146"/>
                  </a:cubicBezTo>
                  <a:cubicBezTo>
                    <a:pt x="444" y="138"/>
                    <a:pt x="443" y="129"/>
                    <a:pt x="439" y="121"/>
                  </a:cubicBezTo>
                  <a:cubicBezTo>
                    <a:pt x="434" y="110"/>
                    <a:pt x="427" y="99"/>
                    <a:pt x="420" y="88"/>
                  </a:cubicBezTo>
                  <a:cubicBezTo>
                    <a:pt x="407" y="65"/>
                    <a:pt x="393" y="43"/>
                    <a:pt x="379" y="21"/>
                  </a:cubicBezTo>
                  <a:cubicBezTo>
                    <a:pt x="377" y="17"/>
                    <a:pt x="374" y="13"/>
                    <a:pt x="371" y="13"/>
                  </a:cubicBezTo>
                  <a:cubicBezTo>
                    <a:pt x="367" y="13"/>
                    <a:pt x="366" y="17"/>
                    <a:pt x="363" y="20"/>
                  </a:cubicBezTo>
                  <a:cubicBezTo>
                    <a:pt x="356" y="29"/>
                    <a:pt x="356" y="29"/>
                    <a:pt x="356" y="29"/>
                  </a:cubicBezTo>
                  <a:cubicBezTo>
                    <a:pt x="347" y="41"/>
                    <a:pt x="338" y="53"/>
                    <a:pt x="328" y="64"/>
                  </a:cubicBezTo>
                  <a:cubicBezTo>
                    <a:pt x="272" y="134"/>
                    <a:pt x="212" y="202"/>
                    <a:pt x="146" y="264"/>
                  </a:cubicBezTo>
                  <a:cubicBezTo>
                    <a:pt x="113" y="295"/>
                    <a:pt x="79" y="324"/>
                    <a:pt x="44" y="353"/>
                  </a:cubicBezTo>
                  <a:cubicBezTo>
                    <a:pt x="35" y="360"/>
                    <a:pt x="26" y="366"/>
                    <a:pt x="18" y="373"/>
                  </a:cubicBezTo>
                  <a:cubicBezTo>
                    <a:pt x="15" y="376"/>
                    <a:pt x="13" y="379"/>
                    <a:pt x="13" y="380"/>
                  </a:cubicBezTo>
                  <a:cubicBezTo>
                    <a:pt x="14" y="385"/>
                    <a:pt x="25" y="386"/>
                    <a:pt x="29" y="387"/>
                  </a:cubicBezTo>
                  <a:cubicBezTo>
                    <a:pt x="51" y="393"/>
                    <a:pt x="51" y="393"/>
                    <a:pt x="51" y="393"/>
                  </a:cubicBezTo>
                  <a:cubicBezTo>
                    <a:pt x="79" y="400"/>
                    <a:pt x="154" y="418"/>
                    <a:pt x="182" y="425"/>
                  </a:cubicBezTo>
                  <a:close/>
                  <a:moveTo>
                    <a:pt x="182" y="425"/>
                  </a:moveTo>
                  <a:cubicBezTo>
                    <a:pt x="132" y="415"/>
                    <a:pt x="78" y="404"/>
                    <a:pt x="28" y="393"/>
                  </a:cubicBezTo>
                  <a:cubicBezTo>
                    <a:pt x="18" y="391"/>
                    <a:pt x="0" y="387"/>
                    <a:pt x="9" y="373"/>
                  </a:cubicBezTo>
                  <a:cubicBezTo>
                    <a:pt x="17" y="363"/>
                    <a:pt x="29" y="356"/>
                    <a:pt x="39" y="347"/>
                  </a:cubicBezTo>
                  <a:cubicBezTo>
                    <a:pt x="73" y="318"/>
                    <a:pt x="107" y="287"/>
                    <a:pt x="139" y="257"/>
                  </a:cubicBezTo>
                  <a:cubicBezTo>
                    <a:pt x="217" y="181"/>
                    <a:pt x="287" y="98"/>
                    <a:pt x="354" y="13"/>
                  </a:cubicBezTo>
                  <a:cubicBezTo>
                    <a:pt x="358" y="7"/>
                    <a:pt x="364" y="0"/>
                    <a:pt x="372" y="1"/>
                  </a:cubicBezTo>
                  <a:cubicBezTo>
                    <a:pt x="380" y="2"/>
                    <a:pt x="386" y="10"/>
                    <a:pt x="389" y="14"/>
                  </a:cubicBezTo>
                  <a:cubicBezTo>
                    <a:pt x="403" y="37"/>
                    <a:pt x="417" y="59"/>
                    <a:pt x="430" y="82"/>
                  </a:cubicBezTo>
                  <a:cubicBezTo>
                    <a:pt x="440" y="102"/>
                    <a:pt x="461" y="125"/>
                    <a:pt x="450" y="150"/>
                  </a:cubicBezTo>
                  <a:cubicBezTo>
                    <a:pt x="449" y="152"/>
                    <a:pt x="446" y="158"/>
                    <a:pt x="444" y="159"/>
                  </a:cubicBezTo>
                  <a:cubicBezTo>
                    <a:pt x="430" y="177"/>
                    <a:pt x="414" y="196"/>
                    <a:pt x="399" y="213"/>
                  </a:cubicBezTo>
                  <a:cubicBezTo>
                    <a:pt x="333" y="289"/>
                    <a:pt x="260" y="360"/>
                    <a:pt x="182" y="4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54"/>
              <a:endParaRPr lang="en-US">
                <a:solidFill>
                  <a:prstClr val="black"/>
                </a:solidFill>
              </a:endParaRPr>
            </a:p>
          </p:txBody>
        </p:sp>
        <p:sp>
          <p:nvSpPr>
            <p:cNvPr id="9" name="Freeform 6">
              <a:extLst>
                <a:ext uri="{FF2B5EF4-FFF2-40B4-BE49-F238E27FC236}">
                  <a16:creationId xmlns:a16="http://schemas.microsoft.com/office/drawing/2014/main" id="{342DE901-D726-E074-2B8A-C61F6B193490}"/>
                </a:ext>
              </a:extLst>
            </p:cNvPr>
            <p:cNvSpPr>
              <a:spLocks noEditPoints="1"/>
            </p:cNvSpPr>
            <p:nvPr/>
          </p:nvSpPr>
          <p:spPr bwMode="auto">
            <a:xfrm>
              <a:off x="2407" y="1281"/>
              <a:ext cx="1056" cy="989"/>
            </a:xfrm>
            <a:custGeom>
              <a:avLst/>
              <a:gdLst>
                <a:gd name="T0" fmla="*/ 183 w 445"/>
                <a:gd name="T1" fmla="*/ 417 h 417"/>
                <a:gd name="T2" fmla="*/ 363 w 445"/>
                <a:gd name="T3" fmla="*/ 215 h 417"/>
                <a:gd name="T4" fmla="*/ 417 w 445"/>
                <a:gd name="T5" fmla="*/ 143 h 417"/>
                <a:gd name="T6" fmla="*/ 418 w 445"/>
                <a:gd name="T7" fmla="*/ 113 h 417"/>
                <a:gd name="T8" fmla="*/ 353 w 445"/>
                <a:gd name="T9" fmla="*/ 21 h 417"/>
                <a:gd name="T10" fmla="*/ 344 w 445"/>
                <a:gd name="T11" fmla="*/ 15 h 417"/>
                <a:gd name="T12" fmla="*/ 337 w 445"/>
                <a:gd name="T13" fmla="*/ 22 h 417"/>
                <a:gd name="T14" fmla="*/ 305 w 445"/>
                <a:gd name="T15" fmla="*/ 66 h 417"/>
                <a:gd name="T16" fmla="*/ 136 w 445"/>
                <a:gd name="T17" fmla="*/ 268 h 417"/>
                <a:gd name="T18" fmla="*/ 40 w 445"/>
                <a:gd name="T19" fmla="*/ 358 h 417"/>
                <a:gd name="T20" fmla="*/ 14 w 445"/>
                <a:gd name="T21" fmla="*/ 383 h 417"/>
                <a:gd name="T22" fmla="*/ 32 w 445"/>
                <a:gd name="T23" fmla="*/ 391 h 417"/>
                <a:gd name="T24" fmla="*/ 53 w 445"/>
                <a:gd name="T25" fmla="*/ 394 h 417"/>
                <a:gd name="T26" fmla="*/ 183 w 445"/>
                <a:gd name="T27" fmla="*/ 417 h 417"/>
                <a:gd name="T28" fmla="*/ 183 w 445"/>
                <a:gd name="T29" fmla="*/ 417 h 417"/>
                <a:gd name="T30" fmla="*/ 53 w 445"/>
                <a:gd name="T31" fmla="*/ 399 h 417"/>
                <a:gd name="T32" fmla="*/ 31 w 445"/>
                <a:gd name="T33" fmla="*/ 396 h 417"/>
                <a:gd name="T34" fmla="*/ 8 w 445"/>
                <a:gd name="T35" fmla="*/ 389 h 417"/>
                <a:gd name="T36" fmla="*/ 35 w 445"/>
                <a:gd name="T37" fmla="*/ 353 h 417"/>
                <a:gd name="T38" fmla="*/ 67 w 445"/>
                <a:gd name="T39" fmla="*/ 323 h 417"/>
                <a:gd name="T40" fmla="*/ 321 w 445"/>
                <a:gd name="T41" fmla="*/ 24 h 417"/>
                <a:gd name="T42" fmla="*/ 333 w 445"/>
                <a:gd name="T43" fmla="*/ 8 h 417"/>
                <a:gd name="T44" fmla="*/ 358 w 445"/>
                <a:gd name="T45" fmla="*/ 9 h 417"/>
                <a:gd name="T46" fmla="*/ 406 w 445"/>
                <a:gd name="T47" fmla="*/ 76 h 417"/>
                <a:gd name="T48" fmla="*/ 425 w 445"/>
                <a:gd name="T49" fmla="*/ 148 h 417"/>
                <a:gd name="T50" fmla="*/ 183 w 445"/>
                <a:gd name="T51" fmla="*/ 417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45" h="417">
                  <a:moveTo>
                    <a:pt x="183" y="417"/>
                  </a:moveTo>
                  <a:cubicBezTo>
                    <a:pt x="247" y="353"/>
                    <a:pt x="307" y="286"/>
                    <a:pt x="363" y="215"/>
                  </a:cubicBezTo>
                  <a:cubicBezTo>
                    <a:pt x="382" y="191"/>
                    <a:pt x="399" y="167"/>
                    <a:pt x="417" y="143"/>
                  </a:cubicBezTo>
                  <a:cubicBezTo>
                    <a:pt x="424" y="134"/>
                    <a:pt x="424" y="122"/>
                    <a:pt x="418" y="113"/>
                  </a:cubicBezTo>
                  <a:cubicBezTo>
                    <a:pt x="398" y="81"/>
                    <a:pt x="375" y="51"/>
                    <a:pt x="353" y="21"/>
                  </a:cubicBezTo>
                  <a:cubicBezTo>
                    <a:pt x="351" y="18"/>
                    <a:pt x="347" y="15"/>
                    <a:pt x="344" y="15"/>
                  </a:cubicBezTo>
                  <a:cubicBezTo>
                    <a:pt x="341" y="15"/>
                    <a:pt x="339" y="19"/>
                    <a:pt x="337" y="22"/>
                  </a:cubicBezTo>
                  <a:cubicBezTo>
                    <a:pt x="326" y="37"/>
                    <a:pt x="316" y="52"/>
                    <a:pt x="305" y="66"/>
                  </a:cubicBezTo>
                  <a:cubicBezTo>
                    <a:pt x="253" y="137"/>
                    <a:pt x="198" y="205"/>
                    <a:pt x="136" y="268"/>
                  </a:cubicBezTo>
                  <a:cubicBezTo>
                    <a:pt x="105" y="299"/>
                    <a:pt x="73" y="329"/>
                    <a:pt x="40" y="358"/>
                  </a:cubicBezTo>
                  <a:cubicBezTo>
                    <a:pt x="32" y="367"/>
                    <a:pt x="20" y="373"/>
                    <a:pt x="14" y="383"/>
                  </a:cubicBezTo>
                  <a:cubicBezTo>
                    <a:pt x="11" y="389"/>
                    <a:pt x="29" y="389"/>
                    <a:pt x="32" y="391"/>
                  </a:cubicBezTo>
                  <a:cubicBezTo>
                    <a:pt x="32" y="391"/>
                    <a:pt x="53" y="394"/>
                    <a:pt x="53" y="394"/>
                  </a:cubicBezTo>
                  <a:cubicBezTo>
                    <a:pt x="81" y="399"/>
                    <a:pt x="155" y="412"/>
                    <a:pt x="183" y="417"/>
                  </a:cubicBezTo>
                  <a:close/>
                  <a:moveTo>
                    <a:pt x="183" y="417"/>
                  </a:moveTo>
                  <a:cubicBezTo>
                    <a:pt x="141" y="412"/>
                    <a:pt x="95" y="405"/>
                    <a:pt x="53" y="399"/>
                  </a:cubicBezTo>
                  <a:cubicBezTo>
                    <a:pt x="31" y="396"/>
                    <a:pt x="31" y="396"/>
                    <a:pt x="31" y="396"/>
                  </a:cubicBezTo>
                  <a:cubicBezTo>
                    <a:pt x="23" y="395"/>
                    <a:pt x="14" y="396"/>
                    <a:pt x="8" y="389"/>
                  </a:cubicBezTo>
                  <a:cubicBezTo>
                    <a:pt x="0" y="377"/>
                    <a:pt x="28" y="361"/>
                    <a:pt x="35" y="353"/>
                  </a:cubicBezTo>
                  <a:cubicBezTo>
                    <a:pt x="46" y="343"/>
                    <a:pt x="56" y="333"/>
                    <a:pt x="67" y="323"/>
                  </a:cubicBezTo>
                  <a:cubicBezTo>
                    <a:pt x="162" y="233"/>
                    <a:pt x="245" y="131"/>
                    <a:pt x="321" y="24"/>
                  </a:cubicBezTo>
                  <a:cubicBezTo>
                    <a:pt x="324" y="20"/>
                    <a:pt x="329" y="11"/>
                    <a:pt x="333" y="8"/>
                  </a:cubicBezTo>
                  <a:cubicBezTo>
                    <a:pt x="340" y="0"/>
                    <a:pt x="351" y="2"/>
                    <a:pt x="358" y="9"/>
                  </a:cubicBezTo>
                  <a:cubicBezTo>
                    <a:pt x="374" y="30"/>
                    <a:pt x="390" y="53"/>
                    <a:pt x="406" y="76"/>
                  </a:cubicBezTo>
                  <a:cubicBezTo>
                    <a:pt x="421" y="99"/>
                    <a:pt x="445" y="122"/>
                    <a:pt x="425" y="148"/>
                  </a:cubicBezTo>
                  <a:cubicBezTo>
                    <a:pt x="354" y="246"/>
                    <a:pt x="272" y="335"/>
                    <a:pt x="183"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54"/>
              <a:endParaRPr lang="en-US">
                <a:solidFill>
                  <a:prstClr val="black"/>
                </a:solidFill>
              </a:endParaRPr>
            </a:p>
          </p:txBody>
        </p:sp>
        <p:sp>
          <p:nvSpPr>
            <p:cNvPr id="10" name="Freeform 7">
              <a:extLst>
                <a:ext uri="{FF2B5EF4-FFF2-40B4-BE49-F238E27FC236}">
                  <a16:creationId xmlns:a16="http://schemas.microsoft.com/office/drawing/2014/main" id="{D8DB8C0E-DB63-AA1A-215D-086B2A2C8FDC}"/>
                </a:ext>
              </a:extLst>
            </p:cNvPr>
            <p:cNvSpPr>
              <a:spLocks noEditPoints="1"/>
            </p:cNvSpPr>
            <p:nvPr/>
          </p:nvSpPr>
          <p:spPr bwMode="auto">
            <a:xfrm>
              <a:off x="2163" y="956"/>
              <a:ext cx="1001" cy="954"/>
            </a:xfrm>
            <a:custGeom>
              <a:avLst/>
              <a:gdLst>
                <a:gd name="T0" fmla="*/ 189 w 422"/>
                <a:gd name="T1" fmla="*/ 402 h 402"/>
                <a:gd name="T2" fmla="*/ 356 w 422"/>
                <a:gd name="T3" fmla="*/ 201 h 402"/>
                <a:gd name="T4" fmla="*/ 405 w 422"/>
                <a:gd name="T5" fmla="*/ 130 h 402"/>
                <a:gd name="T6" fmla="*/ 404 w 422"/>
                <a:gd name="T7" fmla="*/ 102 h 402"/>
                <a:gd name="T8" fmla="*/ 334 w 422"/>
                <a:gd name="T9" fmla="*/ 22 h 402"/>
                <a:gd name="T10" fmla="*/ 321 w 422"/>
                <a:gd name="T11" fmla="*/ 19 h 402"/>
                <a:gd name="T12" fmla="*/ 313 w 422"/>
                <a:gd name="T13" fmla="*/ 32 h 402"/>
                <a:gd name="T14" fmla="*/ 188 w 422"/>
                <a:gd name="T15" fmla="*/ 205 h 402"/>
                <a:gd name="T16" fmla="*/ 73 w 422"/>
                <a:gd name="T17" fmla="*/ 330 h 402"/>
                <a:gd name="T18" fmla="*/ 27 w 422"/>
                <a:gd name="T19" fmla="*/ 375 h 402"/>
                <a:gd name="T20" fmla="*/ 20 w 422"/>
                <a:gd name="T21" fmla="*/ 384 h 402"/>
                <a:gd name="T22" fmla="*/ 31 w 422"/>
                <a:gd name="T23" fmla="*/ 388 h 402"/>
                <a:gd name="T24" fmla="*/ 41 w 422"/>
                <a:gd name="T25" fmla="*/ 389 h 402"/>
                <a:gd name="T26" fmla="*/ 62 w 422"/>
                <a:gd name="T27" fmla="*/ 391 h 402"/>
                <a:gd name="T28" fmla="*/ 189 w 422"/>
                <a:gd name="T29" fmla="*/ 402 h 402"/>
                <a:gd name="T30" fmla="*/ 189 w 422"/>
                <a:gd name="T31" fmla="*/ 402 h 402"/>
                <a:gd name="T32" fmla="*/ 41 w 422"/>
                <a:gd name="T33" fmla="*/ 395 h 402"/>
                <a:gd name="T34" fmla="*/ 19 w 422"/>
                <a:gd name="T35" fmla="*/ 392 h 402"/>
                <a:gd name="T36" fmla="*/ 37 w 422"/>
                <a:gd name="T37" fmla="*/ 355 h 402"/>
                <a:gd name="T38" fmla="*/ 125 w 422"/>
                <a:gd name="T39" fmla="*/ 263 h 402"/>
                <a:gd name="T40" fmla="*/ 279 w 422"/>
                <a:gd name="T41" fmla="*/ 61 h 402"/>
                <a:gd name="T42" fmla="*/ 303 w 422"/>
                <a:gd name="T43" fmla="*/ 26 h 402"/>
                <a:gd name="T44" fmla="*/ 314 w 422"/>
                <a:gd name="T45" fmla="*/ 10 h 402"/>
                <a:gd name="T46" fmla="*/ 343 w 422"/>
                <a:gd name="T47" fmla="*/ 14 h 402"/>
                <a:gd name="T48" fmla="*/ 413 w 422"/>
                <a:gd name="T49" fmla="*/ 96 h 402"/>
                <a:gd name="T50" fmla="*/ 414 w 422"/>
                <a:gd name="T51" fmla="*/ 135 h 402"/>
                <a:gd name="T52" fmla="*/ 363 w 422"/>
                <a:gd name="T53" fmla="*/ 206 h 402"/>
                <a:gd name="T54" fmla="*/ 189 w 422"/>
                <a:gd name="T55"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2" h="402">
                  <a:moveTo>
                    <a:pt x="189" y="402"/>
                  </a:moveTo>
                  <a:cubicBezTo>
                    <a:pt x="248" y="338"/>
                    <a:pt x="304" y="272"/>
                    <a:pt x="356" y="201"/>
                  </a:cubicBezTo>
                  <a:cubicBezTo>
                    <a:pt x="373" y="178"/>
                    <a:pt x="389" y="154"/>
                    <a:pt x="405" y="130"/>
                  </a:cubicBezTo>
                  <a:cubicBezTo>
                    <a:pt x="411" y="122"/>
                    <a:pt x="411" y="110"/>
                    <a:pt x="404" y="102"/>
                  </a:cubicBezTo>
                  <a:cubicBezTo>
                    <a:pt x="383" y="75"/>
                    <a:pt x="358" y="48"/>
                    <a:pt x="334" y="22"/>
                  </a:cubicBezTo>
                  <a:cubicBezTo>
                    <a:pt x="331" y="18"/>
                    <a:pt x="325" y="13"/>
                    <a:pt x="321" y="19"/>
                  </a:cubicBezTo>
                  <a:cubicBezTo>
                    <a:pt x="320" y="22"/>
                    <a:pt x="315" y="30"/>
                    <a:pt x="313" y="32"/>
                  </a:cubicBezTo>
                  <a:cubicBezTo>
                    <a:pt x="274" y="92"/>
                    <a:pt x="232" y="149"/>
                    <a:pt x="188" y="205"/>
                  </a:cubicBezTo>
                  <a:cubicBezTo>
                    <a:pt x="152" y="249"/>
                    <a:pt x="113" y="290"/>
                    <a:pt x="73" y="330"/>
                  </a:cubicBezTo>
                  <a:cubicBezTo>
                    <a:pt x="58" y="345"/>
                    <a:pt x="43" y="361"/>
                    <a:pt x="27" y="375"/>
                  </a:cubicBezTo>
                  <a:cubicBezTo>
                    <a:pt x="24" y="377"/>
                    <a:pt x="20" y="381"/>
                    <a:pt x="20" y="384"/>
                  </a:cubicBezTo>
                  <a:cubicBezTo>
                    <a:pt x="22" y="387"/>
                    <a:pt x="27" y="387"/>
                    <a:pt x="31" y="388"/>
                  </a:cubicBezTo>
                  <a:cubicBezTo>
                    <a:pt x="41" y="389"/>
                    <a:pt x="41" y="389"/>
                    <a:pt x="41" y="389"/>
                  </a:cubicBezTo>
                  <a:cubicBezTo>
                    <a:pt x="62" y="391"/>
                    <a:pt x="62" y="391"/>
                    <a:pt x="62" y="391"/>
                  </a:cubicBezTo>
                  <a:cubicBezTo>
                    <a:pt x="89" y="393"/>
                    <a:pt x="162" y="400"/>
                    <a:pt x="189" y="402"/>
                  </a:cubicBezTo>
                  <a:close/>
                  <a:moveTo>
                    <a:pt x="189" y="402"/>
                  </a:moveTo>
                  <a:cubicBezTo>
                    <a:pt x="141" y="400"/>
                    <a:pt x="89" y="397"/>
                    <a:pt x="41" y="395"/>
                  </a:cubicBezTo>
                  <a:cubicBezTo>
                    <a:pt x="35" y="394"/>
                    <a:pt x="25" y="394"/>
                    <a:pt x="19" y="392"/>
                  </a:cubicBezTo>
                  <a:cubicBezTo>
                    <a:pt x="0" y="382"/>
                    <a:pt x="31" y="363"/>
                    <a:pt x="37" y="355"/>
                  </a:cubicBezTo>
                  <a:cubicBezTo>
                    <a:pt x="67" y="325"/>
                    <a:pt x="96" y="294"/>
                    <a:pt x="125" y="263"/>
                  </a:cubicBezTo>
                  <a:cubicBezTo>
                    <a:pt x="181" y="199"/>
                    <a:pt x="232" y="131"/>
                    <a:pt x="279" y="61"/>
                  </a:cubicBezTo>
                  <a:cubicBezTo>
                    <a:pt x="287" y="49"/>
                    <a:pt x="295" y="38"/>
                    <a:pt x="303" y="26"/>
                  </a:cubicBezTo>
                  <a:cubicBezTo>
                    <a:pt x="306" y="22"/>
                    <a:pt x="311" y="14"/>
                    <a:pt x="314" y="10"/>
                  </a:cubicBezTo>
                  <a:cubicBezTo>
                    <a:pt x="323" y="0"/>
                    <a:pt x="336" y="5"/>
                    <a:pt x="343" y="14"/>
                  </a:cubicBezTo>
                  <a:cubicBezTo>
                    <a:pt x="366" y="40"/>
                    <a:pt x="392" y="68"/>
                    <a:pt x="413" y="96"/>
                  </a:cubicBezTo>
                  <a:cubicBezTo>
                    <a:pt x="422" y="107"/>
                    <a:pt x="422" y="126"/>
                    <a:pt x="414" y="135"/>
                  </a:cubicBezTo>
                  <a:cubicBezTo>
                    <a:pt x="397" y="160"/>
                    <a:pt x="381" y="183"/>
                    <a:pt x="363" y="206"/>
                  </a:cubicBezTo>
                  <a:cubicBezTo>
                    <a:pt x="310" y="276"/>
                    <a:pt x="252" y="341"/>
                    <a:pt x="189" y="4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54"/>
              <a:endParaRPr lang="en-US">
                <a:solidFill>
                  <a:prstClr val="black"/>
                </a:solidFill>
              </a:endParaRPr>
            </a:p>
          </p:txBody>
        </p:sp>
        <p:sp>
          <p:nvSpPr>
            <p:cNvPr id="11" name="Freeform 8">
              <a:extLst>
                <a:ext uri="{FF2B5EF4-FFF2-40B4-BE49-F238E27FC236}">
                  <a16:creationId xmlns:a16="http://schemas.microsoft.com/office/drawing/2014/main" id="{D60612EB-92C3-9205-60EB-0184F00E3298}"/>
                </a:ext>
              </a:extLst>
            </p:cNvPr>
            <p:cNvSpPr>
              <a:spLocks noEditPoints="1"/>
            </p:cNvSpPr>
            <p:nvPr/>
          </p:nvSpPr>
          <p:spPr bwMode="auto">
            <a:xfrm>
              <a:off x="1952" y="667"/>
              <a:ext cx="904" cy="937"/>
            </a:xfrm>
            <a:custGeom>
              <a:avLst/>
              <a:gdLst>
                <a:gd name="T0" fmla="*/ 173 w 381"/>
                <a:gd name="T1" fmla="*/ 392 h 395"/>
                <a:gd name="T2" fmla="*/ 321 w 381"/>
                <a:gd name="T3" fmla="*/ 190 h 395"/>
                <a:gd name="T4" fmla="*/ 365 w 381"/>
                <a:gd name="T5" fmla="*/ 118 h 395"/>
                <a:gd name="T6" fmla="*/ 362 w 381"/>
                <a:gd name="T7" fmla="*/ 92 h 395"/>
                <a:gd name="T8" fmla="*/ 339 w 381"/>
                <a:gd name="T9" fmla="*/ 68 h 395"/>
                <a:gd name="T10" fmla="*/ 289 w 381"/>
                <a:gd name="T11" fmla="*/ 21 h 395"/>
                <a:gd name="T12" fmla="*/ 278 w 381"/>
                <a:gd name="T13" fmla="*/ 18 h 395"/>
                <a:gd name="T14" fmla="*/ 205 w 381"/>
                <a:gd name="T15" fmla="*/ 137 h 395"/>
                <a:gd name="T16" fmla="*/ 109 w 381"/>
                <a:gd name="T17" fmla="*/ 270 h 395"/>
                <a:gd name="T18" fmla="*/ 27 w 381"/>
                <a:gd name="T19" fmla="*/ 363 h 395"/>
                <a:gd name="T20" fmla="*/ 7 w 381"/>
                <a:gd name="T21" fmla="*/ 385 h 395"/>
                <a:gd name="T22" fmla="*/ 7 w 381"/>
                <a:gd name="T23" fmla="*/ 387 h 395"/>
                <a:gd name="T24" fmla="*/ 9 w 381"/>
                <a:gd name="T25" fmla="*/ 388 h 395"/>
                <a:gd name="T26" fmla="*/ 19 w 381"/>
                <a:gd name="T27" fmla="*/ 389 h 395"/>
                <a:gd name="T28" fmla="*/ 29 w 381"/>
                <a:gd name="T29" fmla="*/ 389 h 395"/>
                <a:gd name="T30" fmla="*/ 50 w 381"/>
                <a:gd name="T31" fmla="*/ 390 h 395"/>
                <a:gd name="T32" fmla="*/ 173 w 381"/>
                <a:gd name="T33" fmla="*/ 392 h 395"/>
                <a:gd name="T34" fmla="*/ 173 w 381"/>
                <a:gd name="T35" fmla="*/ 392 h 395"/>
                <a:gd name="T36" fmla="*/ 50 w 381"/>
                <a:gd name="T37" fmla="*/ 395 h 395"/>
                <a:gd name="T38" fmla="*/ 19 w 381"/>
                <a:gd name="T39" fmla="*/ 395 h 395"/>
                <a:gd name="T40" fmla="*/ 0 w 381"/>
                <a:gd name="T41" fmla="*/ 386 h 395"/>
                <a:gd name="T42" fmla="*/ 15 w 381"/>
                <a:gd name="T43" fmla="*/ 365 h 395"/>
                <a:gd name="T44" fmla="*/ 195 w 381"/>
                <a:gd name="T45" fmla="*/ 131 h 395"/>
                <a:gd name="T46" fmla="*/ 259 w 381"/>
                <a:gd name="T47" fmla="*/ 26 h 395"/>
                <a:gd name="T48" fmla="*/ 272 w 381"/>
                <a:gd name="T49" fmla="*/ 7 h 395"/>
                <a:gd name="T50" fmla="*/ 297 w 381"/>
                <a:gd name="T51" fmla="*/ 12 h 395"/>
                <a:gd name="T52" fmla="*/ 346 w 381"/>
                <a:gd name="T53" fmla="*/ 60 h 395"/>
                <a:gd name="T54" fmla="*/ 376 w 381"/>
                <a:gd name="T55" fmla="*/ 94 h 395"/>
                <a:gd name="T56" fmla="*/ 373 w 381"/>
                <a:gd name="T57" fmla="*/ 123 h 395"/>
                <a:gd name="T58" fmla="*/ 328 w 381"/>
                <a:gd name="T59" fmla="*/ 194 h 395"/>
                <a:gd name="T60" fmla="*/ 173 w 381"/>
                <a:gd name="T61" fmla="*/ 392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1" h="395">
                  <a:moveTo>
                    <a:pt x="173" y="392"/>
                  </a:moveTo>
                  <a:cubicBezTo>
                    <a:pt x="226" y="327"/>
                    <a:pt x="276" y="260"/>
                    <a:pt x="321" y="190"/>
                  </a:cubicBezTo>
                  <a:cubicBezTo>
                    <a:pt x="337" y="166"/>
                    <a:pt x="351" y="142"/>
                    <a:pt x="365" y="118"/>
                  </a:cubicBezTo>
                  <a:cubicBezTo>
                    <a:pt x="370" y="110"/>
                    <a:pt x="369" y="99"/>
                    <a:pt x="362" y="92"/>
                  </a:cubicBezTo>
                  <a:cubicBezTo>
                    <a:pt x="355" y="84"/>
                    <a:pt x="347" y="76"/>
                    <a:pt x="339" y="68"/>
                  </a:cubicBezTo>
                  <a:cubicBezTo>
                    <a:pt x="322" y="52"/>
                    <a:pt x="306" y="36"/>
                    <a:pt x="289" y="21"/>
                  </a:cubicBezTo>
                  <a:cubicBezTo>
                    <a:pt x="287" y="18"/>
                    <a:pt x="281" y="13"/>
                    <a:pt x="278" y="18"/>
                  </a:cubicBezTo>
                  <a:cubicBezTo>
                    <a:pt x="255" y="58"/>
                    <a:pt x="231" y="98"/>
                    <a:pt x="205" y="137"/>
                  </a:cubicBezTo>
                  <a:cubicBezTo>
                    <a:pt x="175" y="183"/>
                    <a:pt x="143" y="228"/>
                    <a:pt x="109" y="270"/>
                  </a:cubicBezTo>
                  <a:cubicBezTo>
                    <a:pt x="82" y="302"/>
                    <a:pt x="55" y="333"/>
                    <a:pt x="27" y="363"/>
                  </a:cubicBezTo>
                  <a:cubicBezTo>
                    <a:pt x="21" y="370"/>
                    <a:pt x="12" y="377"/>
                    <a:pt x="7" y="385"/>
                  </a:cubicBezTo>
                  <a:cubicBezTo>
                    <a:pt x="7" y="386"/>
                    <a:pt x="7" y="387"/>
                    <a:pt x="7" y="387"/>
                  </a:cubicBezTo>
                  <a:cubicBezTo>
                    <a:pt x="7" y="387"/>
                    <a:pt x="8" y="388"/>
                    <a:pt x="9" y="388"/>
                  </a:cubicBezTo>
                  <a:cubicBezTo>
                    <a:pt x="12" y="389"/>
                    <a:pt x="16" y="389"/>
                    <a:pt x="19" y="389"/>
                  </a:cubicBezTo>
                  <a:cubicBezTo>
                    <a:pt x="29" y="389"/>
                    <a:pt x="29" y="389"/>
                    <a:pt x="29" y="389"/>
                  </a:cubicBezTo>
                  <a:cubicBezTo>
                    <a:pt x="50" y="390"/>
                    <a:pt x="50" y="390"/>
                    <a:pt x="50" y="390"/>
                  </a:cubicBezTo>
                  <a:cubicBezTo>
                    <a:pt x="75" y="390"/>
                    <a:pt x="146" y="392"/>
                    <a:pt x="173" y="392"/>
                  </a:cubicBezTo>
                  <a:close/>
                  <a:moveTo>
                    <a:pt x="173" y="392"/>
                  </a:moveTo>
                  <a:cubicBezTo>
                    <a:pt x="133" y="394"/>
                    <a:pt x="89" y="394"/>
                    <a:pt x="50" y="395"/>
                  </a:cubicBezTo>
                  <a:cubicBezTo>
                    <a:pt x="43" y="395"/>
                    <a:pt x="25" y="395"/>
                    <a:pt x="19" y="395"/>
                  </a:cubicBezTo>
                  <a:cubicBezTo>
                    <a:pt x="12" y="395"/>
                    <a:pt x="0" y="395"/>
                    <a:pt x="0" y="386"/>
                  </a:cubicBezTo>
                  <a:cubicBezTo>
                    <a:pt x="2" y="377"/>
                    <a:pt x="9" y="371"/>
                    <a:pt x="15" y="365"/>
                  </a:cubicBezTo>
                  <a:cubicBezTo>
                    <a:pt x="81" y="292"/>
                    <a:pt x="142" y="214"/>
                    <a:pt x="195" y="131"/>
                  </a:cubicBezTo>
                  <a:cubicBezTo>
                    <a:pt x="217" y="96"/>
                    <a:pt x="239" y="62"/>
                    <a:pt x="259" y="26"/>
                  </a:cubicBezTo>
                  <a:cubicBezTo>
                    <a:pt x="263" y="21"/>
                    <a:pt x="266" y="12"/>
                    <a:pt x="272" y="7"/>
                  </a:cubicBezTo>
                  <a:cubicBezTo>
                    <a:pt x="280" y="0"/>
                    <a:pt x="292" y="6"/>
                    <a:pt x="297" y="12"/>
                  </a:cubicBezTo>
                  <a:cubicBezTo>
                    <a:pt x="314" y="28"/>
                    <a:pt x="330" y="44"/>
                    <a:pt x="346" y="60"/>
                  </a:cubicBezTo>
                  <a:cubicBezTo>
                    <a:pt x="356" y="71"/>
                    <a:pt x="368" y="81"/>
                    <a:pt x="376" y="94"/>
                  </a:cubicBezTo>
                  <a:cubicBezTo>
                    <a:pt x="381" y="103"/>
                    <a:pt x="378" y="117"/>
                    <a:pt x="373" y="123"/>
                  </a:cubicBezTo>
                  <a:cubicBezTo>
                    <a:pt x="359" y="147"/>
                    <a:pt x="344" y="171"/>
                    <a:pt x="328" y="194"/>
                  </a:cubicBezTo>
                  <a:cubicBezTo>
                    <a:pt x="281" y="264"/>
                    <a:pt x="229" y="330"/>
                    <a:pt x="173" y="3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54"/>
              <a:endParaRPr lang="en-US">
                <a:solidFill>
                  <a:prstClr val="black"/>
                </a:solidFill>
              </a:endParaRPr>
            </a:p>
          </p:txBody>
        </p:sp>
      </p:grpSp>
    </p:spTree>
    <p:extLst>
      <p:ext uri="{BB962C8B-B14F-4D97-AF65-F5344CB8AC3E}">
        <p14:creationId xmlns:p14="http://schemas.microsoft.com/office/powerpoint/2010/main" val="2899939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C43D97-D600-4DD9-A33C-608B03A7CFD5}" type="datetimeFigureOut">
              <a:rPr lang="en-US" smtClean="0">
                <a:solidFill>
                  <a:prstClr val="black">
                    <a:tint val="75000"/>
                  </a:prstClr>
                </a:solidFill>
              </a:rPr>
              <a:pPr/>
              <a:t>9/10/2026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50B505B-3F1B-4503-88C2-08B1E4CCBF3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15246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C43D97-D600-4DD9-A33C-608B03A7CFD5}" type="datetimeFigureOut">
              <a:rPr lang="en-US" smtClean="0">
                <a:solidFill>
                  <a:prstClr val="black">
                    <a:tint val="75000"/>
                  </a:prstClr>
                </a:solidFill>
              </a:rPr>
              <a:pPr/>
              <a:t>9/10/2026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50B505B-3F1B-4503-88C2-08B1E4CCBF3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0930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C43D97-D600-4DD9-A33C-608B03A7CFD5}" type="datetimeFigureOut">
              <a:rPr lang="en-US" smtClean="0">
                <a:solidFill>
                  <a:prstClr val="black">
                    <a:tint val="75000"/>
                  </a:prstClr>
                </a:solidFill>
              </a:rPr>
              <a:pPr/>
              <a:t>9/10/2026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50B505B-3F1B-4503-88C2-08B1E4CCBF3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7320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C43D97-D600-4DD9-A33C-608B03A7CFD5}" type="datetimeFigureOut">
              <a:rPr lang="en-US" smtClean="0">
                <a:solidFill>
                  <a:prstClr val="black">
                    <a:tint val="75000"/>
                  </a:prstClr>
                </a:solidFill>
              </a:rPr>
              <a:pPr/>
              <a:t>9/10/2026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50B505B-3F1B-4503-88C2-08B1E4CCBF3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3111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0"/>
            <a:ext cx="12191999" cy="6861923"/>
          </a:xfrm>
          <a:prstGeom prst="rect">
            <a:avLst/>
          </a:prstGeom>
          <a:solidFill>
            <a:srgbClr val="00B0F0"/>
          </a:solidFill>
          <a:ln>
            <a:noFill/>
          </a:ln>
          <a:effectLst>
            <a:outerShdw blurRad="152400" dist="50800" dir="5400000" algn="ctr" rotWithShape="0">
              <a:srgbClr val="000000">
                <a:alpha val="0"/>
              </a:srgbClr>
            </a:outerShdw>
            <a:softEdge rad="0"/>
          </a:effectLst>
        </p:spPr>
      </p:pic>
      <p:sp>
        <p:nvSpPr>
          <p:cNvPr id="14" name="Pentagon 13"/>
          <p:cNvSpPr/>
          <p:nvPr userDrawn="1"/>
        </p:nvSpPr>
        <p:spPr>
          <a:xfrm>
            <a:off x="2" y="-1959"/>
            <a:ext cx="12191999" cy="6861921"/>
          </a:xfrm>
          <a:prstGeom prst="homePlate">
            <a:avLst>
              <a:gd name="adj" fmla="val 0"/>
            </a:avLst>
          </a:prstGeom>
          <a:solidFill>
            <a:srgbClr val="00B0F0">
              <a:alpha val="1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US" sz="1351" dirty="0">
              <a:solidFill>
                <a:prstClr val="black"/>
              </a:solidFill>
            </a:endParaRPr>
          </a:p>
        </p:txBody>
      </p:sp>
      <p:sp>
        <p:nvSpPr>
          <p:cNvPr id="15" name="Arc 14"/>
          <p:cNvSpPr/>
          <p:nvPr userDrawn="1"/>
        </p:nvSpPr>
        <p:spPr>
          <a:xfrm rot="16200000">
            <a:off x="-944973" y="307741"/>
            <a:ext cx="7389991" cy="5486097"/>
          </a:xfrm>
          <a:prstGeom prst="arc">
            <a:avLst>
              <a:gd name="adj1" fmla="val 10736553"/>
              <a:gd name="adj2" fmla="val 19727626"/>
            </a:avLst>
          </a:prstGeom>
          <a:ln>
            <a:solidFill>
              <a:srgbClr val="3F599D"/>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defTabSz="914354"/>
            <a:endParaRPr lang="en-US" sz="1351" dirty="0">
              <a:solidFill>
                <a:prstClr val="black"/>
              </a:solidFill>
            </a:endParaRPr>
          </a:p>
        </p:txBody>
      </p:sp>
      <p:grpSp>
        <p:nvGrpSpPr>
          <p:cNvPr id="16" name="Group 4">
            <a:extLst>
              <a:ext uri="{FF2B5EF4-FFF2-40B4-BE49-F238E27FC236}">
                <a16:creationId xmlns:a16="http://schemas.microsoft.com/office/drawing/2014/main" id="{0F59C51E-0C28-CE8D-A8A0-8EB06EAD75B9}"/>
              </a:ext>
            </a:extLst>
          </p:cNvPr>
          <p:cNvGrpSpPr>
            <a:grpSpLocks noChangeAspect="1"/>
          </p:cNvGrpSpPr>
          <p:nvPr userDrawn="1"/>
        </p:nvGrpSpPr>
        <p:grpSpPr bwMode="auto">
          <a:xfrm>
            <a:off x="10834161" y="-927275"/>
            <a:ext cx="2142407" cy="2445955"/>
            <a:chOff x="1952" y="667"/>
            <a:chExt cx="1755" cy="1992"/>
          </a:xfrm>
          <a:solidFill>
            <a:schemeClr val="bg1">
              <a:lumMod val="95000"/>
              <a:alpha val="25000"/>
            </a:schemeClr>
          </a:solidFill>
        </p:grpSpPr>
        <p:sp>
          <p:nvSpPr>
            <p:cNvPr id="17" name="Freeform 5">
              <a:extLst>
                <a:ext uri="{FF2B5EF4-FFF2-40B4-BE49-F238E27FC236}">
                  <a16:creationId xmlns:a16="http://schemas.microsoft.com/office/drawing/2014/main" id="{BE5FDFEB-7605-D951-E6D8-A4DC6B9D7BFA}"/>
                </a:ext>
              </a:extLst>
            </p:cNvPr>
            <p:cNvSpPr>
              <a:spLocks noEditPoints="1"/>
            </p:cNvSpPr>
            <p:nvPr/>
          </p:nvSpPr>
          <p:spPr bwMode="auto">
            <a:xfrm>
              <a:off x="2614" y="1651"/>
              <a:ext cx="1093" cy="1008"/>
            </a:xfrm>
            <a:custGeom>
              <a:avLst/>
              <a:gdLst>
                <a:gd name="T0" fmla="*/ 182 w 461"/>
                <a:gd name="T1" fmla="*/ 425 h 425"/>
                <a:gd name="T2" fmla="*/ 378 w 461"/>
                <a:gd name="T3" fmla="*/ 225 h 425"/>
                <a:gd name="T4" fmla="*/ 436 w 461"/>
                <a:gd name="T5" fmla="*/ 153 h 425"/>
                <a:gd name="T6" fmla="*/ 441 w 461"/>
                <a:gd name="T7" fmla="*/ 146 h 425"/>
                <a:gd name="T8" fmla="*/ 439 w 461"/>
                <a:gd name="T9" fmla="*/ 121 h 425"/>
                <a:gd name="T10" fmla="*/ 420 w 461"/>
                <a:gd name="T11" fmla="*/ 88 h 425"/>
                <a:gd name="T12" fmla="*/ 379 w 461"/>
                <a:gd name="T13" fmla="*/ 21 h 425"/>
                <a:gd name="T14" fmla="*/ 371 w 461"/>
                <a:gd name="T15" fmla="*/ 13 h 425"/>
                <a:gd name="T16" fmla="*/ 363 w 461"/>
                <a:gd name="T17" fmla="*/ 20 h 425"/>
                <a:gd name="T18" fmla="*/ 356 w 461"/>
                <a:gd name="T19" fmla="*/ 29 h 425"/>
                <a:gd name="T20" fmla="*/ 328 w 461"/>
                <a:gd name="T21" fmla="*/ 64 h 425"/>
                <a:gd name="T22" fmla="*/ 146 w 461"/>
                <a:gd name="T23" fmla="*/ 264 h 425"/>
                <a:gd name="T24" fmla="*/ 44 w 461"/>
                <a:gd name="T25" fmla="*/ 353 h 425"/>
                <a:gd name="T26" fmla="*/ 18 w 461"/>
                <a:gd name="T27" fmla="*/ 373 h 425"/>
                <a:gd name="T28" fmla="*/ 13 w 461"/>
                <a:gd name="T29" fmla="*/ 380 h 425"/>
                <a:gd name="T30" fmla="*/ 29 w 461"/>
                <a:gd name="T31" fmla="*/ 387 h 425"/>
                <a:gd name="T32" fmla="*/ 51 w 461"/>
                <a:gd name="T33" fmla="*/ 393 h 425"/>
                <a:gd name="T34" fmla="*/ 182 w 461"/>
                <a:gd name="T35" fmla="*/ 425 h 425"/>
                <a:gd name="T36" fmla="*/ 182 w 461"/>
                <a:gd name="T37" fmla="*/ 425 h 425"/>
                <a:gd name="T38" fmla="*/ 28 w 461"/>
                <a:gd name="T39" fmla="*/ 393 h 425"/>
                <a:gd name="T40" fmla="*/ 9 w 461"/>
                <a:gd name="T41" fmla="*/ 373 h 425"/>
                <a:gd name="T42" fmla="*/ 39 w 461"/>
                <a:gd name="T43" fmla="*/ 347 h 425"/>
                <a:gd name="T44" fmla="*/ 139 w 461"/>
                <a:gd name="T45" fmla="*/ 257 h 425"/>
                <a:gd name="T46" fmla="*/ 354 w 461"/>
                <a:gd name="T47" fmla="*/ 13 h 425"/>
                <a:gd name="T48" fmla="*/ 372 w 461"/>
                <a:gd name="T49" fmla="*/ 1 h 425"/>
                <a:gd name="T50" fmla="*/ 389 w 461"/>
                <a:gd name="T51" fmla="*/ 14 h 425"/>
                <a:gd name="T52" fmla="*/ 430 w 461"/>
                <a:gd name="T53" fmla="*/ 82 h 425"/>
                <a:gd name="T54" fmla="*/ 450 w 461"/>
                <a:gd name="T55" fmla="*/ 150 h 425"/>
                <a:gd name="T56" fmla="*/ 444 w 461"/>
                <a:gd name="T57" fmla="*/ 159 h 425"/>
                <a:gd name="T58" fmla="*/ 399 w 461"/>
                <a:gd name="T59" fmla="*/ 213 h 425"/>
                <a:gd name="T60" fmla="*/ 182 w 461"/>
                <a:gd name="T61"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1" h="425">
                  <a:moveTo>
                    <a:pt x="182" y="425"/>
                  </a:moveTo>
                  <a:cubicBezTo>
                    <a:pt x="251" y="362"/>
                    <a:pt x="317" y="295"/>
                    <a:pt x="378" y="225"/>
                  </a:cubicBezTo>
                  <a:cubicBezTo>
                    <a:pt x="398" y="202"/>
                    <a:pt x="417" y="177"/>
                    <a:pt x="436" y="153"/>
                  </a:cubicBezTo>
                  <a:cubicBezTo>
                    <a:pt x="438" y="151"/>
                    <a:pt x="440" y="148"/>
                    <a:pt x="441" y="146"/>
                  </a:cubicBezTo>
                  <a:cubicBezTo>
                    <a:pt x="444" y="138"/>
                    <a:pt x="443" y="129"/>
                    <a:pt x="439" y="121"/>
                  </a:cubicBezTo>
                  <a:cubicBezTo>
                    <a:pt x="434" y="110"/>
                    <a:pt x="427" y="99"/>
                    <a:pt x="420" y="88"/>
                  </a:cubicBezTo>
                  <a:cubicBezTo>
                    <a:pt x="407" y="65"/>
                    <a:pt x="393" y="43"/>
                    <a:pt x="379" y="21"/>
                  </a:cubicBezTo>
                  <a:cubicBezTo>
                    <a:pt x="377" y="17"/>
                    <a:pt x="374" y="13"/>
                    <a:pt x="371" y="13"/>
                  </a:cubicBezTo>
                  <a:cubicBezTo>
                    <a:pt x="367" y="13"/>
                    <a:pt x="366" y="17"/>
                    <a:pt x="363" y="20"/>
                  </a:cubicBezTo>
                  <a:cubicBezTo>
                    <a:pt x="356" y="29"/>
                    <a:pt x="356" y="29"/>
                    <a:pt x="356" y="29"/>
                  </a:cubicBezTo>
                  <a:cubicBezTo>
                    <a:pt x="347" y="41"/>
                    <a:pt x="338" y="53"/>
                    <a:pt x="328" y="64"/>
                  </a:cubicBezTo>
                  <a:cubicBezTo>
                    <a:pt x="272" y="134"/>
                    <a:pt x="212" y="202"/>
                    <a:pt x="146" y="264"/>
                  </a:cubicBezTo>
                  <a:cubicBezTo>
                    <a:pt x="113" y="295"/>
                    <a:pt x="79" y="324"/>
                    <a:pt x="44" y="353"/>
                  </a:cubicBezTo>
                  <a:cubicBezTo>
                    <a:pt x="35" y="360"/>
                    <a:pt x="26" y="366"/>
                    <a:pt x="18" y="373"/>
                  </a:cubicBezTo>
                  <a:cubicBezTo>
                    <a:pt x="15" y="376"/>
                    <a:pt x="13" y="379"/>
                    <a:pt x="13" y="380"/>
                  </a:cubicBezTo>
                  <a:cubicBezTo>
                    <a:pt x="14" y="385"/>
                    <a:pt x="25" y="386"/>
                    <a:pt x="29" y="387"/>
                  </a:cubicBezTo>
                  <a:cubicBezTo>
                    <a:pt x="51" y="393"/>
                    <a:pt x="51" y="393"/>
                    <a:pt x="51" y="393"/>
                  </a:cubicBezTo>
                  <a:cubicBezTo>
                    <a:pt x="79" y="400"/>
                    <a:pt x="154" y="418"/>
                    <a:pt x="182" y="425"/>
                  </a:cubicBezTo>
                  <a:close/>
                  <a:moveTo>
                    <a:pt x="182" y="425"/>
                  </a:moveTo>
                  <a:cubicBezTo>
                    <a:pt x="132" y="415"/>
                    <a:pt x="78" y="404"/>
                    <a:pt x="28" y="393"/>
                  </a:cubicBezTo>
                  <a:cubicBezTo>
                    <a:pt x="18" y="391"/>
                    <a:pt x="0" y="387"/>
                    <a:pt x="9" y="373"/>
                  </a:cubicBezTo>
                  <a:cubicBezTo>
                    <a:pt x="17" y="363"/>
                    <a:pt x="29" y="356"/>
                    <a:pt x="39" y="347"/>
                  </a:cubicBezTo>
                  <a:cubicBezTo>
                    <a:pt x="73" y="318"/>
                    <a:pt x="107" y="287"/>
                    <a:pt x="139" y="257"/>
                  </a:cubicBezTo>
                  <a:cubicBezTo>
                    <a:pt x="217" y="181"/>
                    <a:pt x="287" y="98"/>
                    <a:pt x="354" y="13"/>
                  </a:cubicBezTo>
                  <a:cubicBezTo>
                    <a:pt x="358" y="7"/>
                    <a:pt x="364" y="0"/>
                    <a:pt x="372" y="1"/>
                  </a:cubicBezTo>
                  <a:cubicBezTo>
                    <a:pt x="380" y="2"/>
                    <a:pt x="386" y="10"/>
                    <a:pt x="389" y="14"/>
                  </a:cubicBezTo>
                  <a:cubicBezTo>
                    <a:pt x="403" y="37"/>
                    <a:pt x="417" y="59"/>
                    <a:pt x="430" y="82"/>
                  </a:cubicBezTo>
                  <a:cubicBezTo>
                    <a:pt x="440" y="102"/>
                    <a:pt x="461" y="125"/>
                    <a:pt x="450" y="150"/>
                  </a:cubicBezTo>
                  <a:cubicBezTo>
                    <a:pt x="449" y="152"/>
                    <a:pt x="446" y="158"/>
                    <a:pt x="444" y="159"/>
                  </a:cubicBezTo>
                  <a:cubicBezTo>
                    <a:pt x="430" y="177"/>
                    <a:pt x="414" y="196"/>
                    <a:pt x="399" y="213"/>
                  </a:cubicBezTo>
                  <a:cubicBezTo>
                    <a:pt x="333" y="289"/>
                    <a:pt x="260" y="360"/>
                    <a:pt x="182" y="4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1600">
                <a:solidFill>
                  <a:prstClr val="white"/>
                </a:solidFill>
                <a:latin typeface="Open Sans" panose="020B0606030504020204" pitchFamily="34" charset="0"/>
              </a:endParaRPr>
            </a:p>
          </p:txBody>
        </p:sp>
        <p:sp>
          <p:nvSpPr>
            <p:cNvPr id="18" name="Freeform 6">
              <a:extLst>
                <a:ext uri="{FF2B5EF4-FFF2-40B4-BE49-F238E27FC236}">
                  <a16:creationId xmlns:a16="http://schemas.microsoft.com/office/drawing/2014/main" id="{342DE901-D726-E074-2B8A-C61F6B193490}"/>
                </a:ext>
              </a:extLst>
            </p:cNvPr>
            <p:cNvSpPr>
              <a:spLocks noEditPoints="1"/>
            </p:cNvSpPr>
            <p:nvPr/>
          </p:nvSpPr>
          <p:spPr bwMode="auto">
            <a:xfrm>
              <a:off x="2407" y="1281"/>
              <a:ext cx="1056" cy="989"/>
            </a:xfrm>
            <a:custGeom>
              <a:avLst/>
              <a:gdLst>
                <a:gd name="T0" fmla="*/ 183 w 445"/>
                <a:gd name="T1" fmla="*/ 417 h 417"/>
                <a:gd name="T2" fmla="*/ 363 w 445"/>
                <a:gd name="T3" fmla="*/ 215 h 417"/>
                <a:gd name="T4" fmla="*/ 417 w 445"/>
                <a:gd name="T5" fmla="*/ 143 h 417"/>
                <a:gd name="T6" fmla="*/ 418 w 445"/>
                <a:gd name="T7" fmla="*/ 113 h 417"/>
                <a:gd name="T8" fmla="*/ 353 w 445"/>
                <a:gd name="T9" fmla="*/ 21 h 417"/>
                <a:gd name="T10" fmla="*/ 344 w 445"/>
                <a:gd name="T11" fmla="*/ 15 h 417"/>
                <a:gd name="T12" fmla="*/ 337 w 445"/>
                <a:gd name="T13" fmla="*/ 22 h 417"/>
                <a:gd name="T14" fmla="*/ 305 w 445"/>
                <a:gd name="T15" fmla="*/ 66 h 417"/>
                <a:gd name="T16" fmla="*/ 136 w 445"/>
                <a:gd name="T17" fmla="*/ 268 h 417"/>
                <a:gd name="T18" fmla="*/ 40 w 445"/>
                <a:gd name="T19" fmla="*/ 358 h 417"/>
                <a:gd name="T20" fmla="*/ 14 w 445"/>
                <a:gd name="T21" fmla="*/ 383 h 417"/>
                <a:gd name="T22" fmla="*/ 32 w 445"/>
                <a:gd name="T23" fmla="*/ 391 h 417"/>
                <a:gd name="T24" fmla="*/ 53 w 445"/>
                <a:gd name="T25" fmla="*/ 394 h 417"/>
                <a:gd name="T26" fmla="*/ 183 w 445"/>
                <a:gd name="T27" fmla="*/ 417 h 417"/>
                <a:gd name="T28" fmla="*/ 183 w 445"/>
                <a:gd name="T29" fmla="*/ 417 h 417"/>
                <a:gd name="T30" fmla="*/ 53 w 445"/>
                <a:gd name="T31" fmla="*/ 399 h 417"/>
                <a:gd name="T32" fmla="*/ 31 w 445"/>
                <a:gd name="T33" fmla="*/ 396 h 417"/>
                <a:gd name="T34" fmla="*/ 8 w 445"/>
                <a:gd name="T35" fmla="*/ 389 h 417"/>
                <a:gd name="T36" fmla="*/ 35 w 445"/>
                <a:gd name="T37" fmla="*/ 353 h 417"/>
                <a:gd name="T38" fmla="*/ 67 w 445"/>
                <a:gd name="T39" fmla="*/ 323 h 417"/>
                <a:gd name="T40" fmla="*/ 321 w 445"/>
                <a:gd name="T41" fmla="*/ 24 h 417"/>
                <a:gd name="T42" fmla="*/ 333 w 445"/>
                <a:gd name="T43" fmla="*/ 8 h 417"/>
                <a:gd name="T44" fmla="*/ 358 w 445"/>
                <a:gd name="T45" fmla="*/ 9 h 417"/>
                <a:gd name="T46" fmla="*/ 406 w 445"/>
                <a:gd name="T47" fmla="*/ 76 h 417"/>
                <a:gd name="T48" fmla="*/ 425 w 445"/>
                <a:gd name="T49" fmla="*/ 148 h 417"/>
                <a:gd name="T50" fmla="*/ 183 w 445"/>
                <a:gd name="T51" fmla="*/ 417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45" h="417">
                  <a:moveTo>
                    <a:pt x="183" y="417"/>
                  </a:moveTo>
                  <a:cubicBezTo>
                    <a:pt x="247" y="353"/>
                    <a:pt x="307" y="286"/>
                    <a:pt x="363" y="215"/>
                  </a:cubicBezTo>
                  <a:cubicBezTo>
                    <a:pt x="382" y="191"/>
                    <a:pt x="399" y="167"/>
                    <a:pt x="417" y="143"/>
                  </a:cubicBezTo>
                  <a:cubicBezTo>
                    <a:pt x="424" y="134"/>
                    <a:pt x="424" y="122"/>
                    <a:pt x="418" y="113"/>
                  </a:cubicBezTo>
                  <a:cubicBezTo>
                    <a:pt x="398" y="81"/>
                    <a:pt x="375" y="51"/>
                    <a:pt x="353" y="21"/>
                  </a:cubicBezTo>
                  <a:cubicBezTo>
                    <a:pt x="351" y="18"/>
                    <a:pt x="347" y="15"/>
                    <a:pt x="344" y="15"/>
                  </a:cubicBezTo>
                  <a:cubicBezTo>
                    <a:pt x="341" y="15"/>
                    <a:pt x="339" y="19"/>
                    <a:pt x="337" y="22"/>
                  </a:cubicBezTo>
                  <a:cubicBezTo>
                    <a:pt x="326" y="37"/>
                    <a:pt x="316" y="52"/>
                    <a:pt x="305" y="66"/>
                  </a:cubicBezTo>
                  <a:cubicBezTo>
                    <a:pt x="253" y="137"/>
                    <a:pt x="198" y="205"/>
                    <a:pt x="136" y="268"/>
                  </a:cubicBezTo>
                  <a:cubicBezTo>
                    <a:pt x="105" y="299"/>
                    <a:pt x="73" y="329"/>
                    <a:pt x="40" y="358"/>
                  </a:cubicBezTo>
                  <a:cubicBezTo>
                    <a:pt x="32" y="367"/>
                    <a:pt x="20" y="373"/>
                    <a:pt x="14" y="383"/>
                  </a:cubicBezTo>
                  <a:cubicBezTo>
                    <a:pt x="11" y="389"/>
                    <a:pt x="29" y="389"/>
                    <a:pt x="32" y="391"/>
                  </a:cubicBezTo>
                  <a:cubicBezTo>
                    <a:pt x="32" y="391"/>
                    <a:pt x="53" y="394"/>
                    <a:pt x="53" y="394"/>
                  </a:cubicBezTo>
                  <a:cubicBezTo>
                    <a:pt x="81" y="399"/>
                    <a:pt x="155" y="412"/>
                    <a:pt x="183" y="417"/>
                  </a:cubicBezTo>
                  <a:close/>
                  <a:moveTo>
                    <a:pt x="183" y="417"/>
                  </a:moveTo>
                  <a:cubicBezTo>
                    <a:pt x="141" y="412"/>
                    <a:pt x="95" y="405"/>
                    <a:pt x="53" y="399"/>
                  </a:cubicBezTo>
                  <a:cubicBezTo>
                    <a:pt x="31" y="396"/>
                    <a:pt x="31" y="396"/>
                    <a:pt x="31" y="396"/>
                  </a:cubicBezTo>
                  <a:cubicBezTo>
                    <a:pt x="23" y="395"/>
                    <a:pt x="14" y="396"/>
                    <a:pt x="8" y="389"/>
                  </a:cubicBezTo>
                  <a:cubicBezTo>
                    <a:pt x="0" y="377"/>
                    <a:pt x="28" y="361"/>
                    <a:pt x="35" y="353"/>
                  </a:cubicBezTo>
                  <a:cubicBezTo>
                    <a:pt x="46" y="343"/>
                    <a:pt x="56" y="333"/>
                    <a:pt x="67" y="323"/>
                  </a:cubicBezTo>
                  <a:cubicBezTo>
                    <a:pt x="162" y="233"/>
                    <a:pt x="245" y="131"/>
                    <a:pt x="321" y="24"/>
                  </a:cubicBezTo>
                  <a:cubicBezTo>
                    <a:pt x="324" y="20"/>
                    <a:pt x="329" y="11"/>
                    <a:pt x="333" y="8"/>
                  </a:cubicBezTo>
                  <a:cubicBezTo>
                    <a:pt x="340" y="0"/>
                    <a:pt x="351" y="2"/>
                    <a:pt x="358" y="9"/>
                  </a:cubicBezTo>
                  <a:cubicBezTo>
                    <a:pt x="374" y="30"/>
                    <a:pt x="390" y="53"/>
                    <a:pt x="406" y="76"/>
                  </a:cubicBezTo>
                  <a:cubicBezTo>
                    <a:pt x="421" y="99"/>
                    <a:pt x="445" y="122"/>
                    <a:pt x="425" y="148"/>
                  </a:cubicBezTo>
                  <a:cubicBezTo>
                    <a:pt x="354" y="246"/>
                    <a:pt x="272" y="335"/>
                    <a:pt x="183" y="4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1600">
                <a:solidFill>
                  <a:prstClr val="white"/>
                </a:solidFill>
                <a:latin typeface="Open Sans" panose="020B0606030504020204" pitchFamily="34" charset="0"/>
              </a:endParaRPr>
            </a:p>
          </p:txBody>
        </p:sp>
        <p:sp>
          <p:nvSpPr>
            <p:cNvPr id="19" name="Freeform 7">
              <a:extLst>
                <a:ext uri="{FF2B5EF4-FFF2-40B4-BE49-F238E27FC236}">
                  <a16:creationId xmlns:a16="http://schemas.microsoft.com/office/drawing/2014/main" id="{D8DB8C0E-DB63-AA1A-215D-086B2A2C8FDC}"/>
                </a:ext>
              </a:extLst>
            </p:cNvPr>
            <p:cNvSpPr>
              <a:spLocks noEditPoints="1"/>
            </p:cNvSpPr>
            <p:nvPr/>
          </p:nvSpPr>
          <p:spPr bwMode="auto">
            <a:xfrm>
              <a:off x="2163" y="956"/>
              <a:ext cx="1001" cy="954"/>
            </a:xfrm>
            <a:custGeom>
              <a:avLst/>
              <a:gdLst>
                <a:gd name="T0" fmla="*/ 189 w 422"/>
                <a:gd name="T1" fmla="*/ 402 h 402"/>
                <a:gd name="T2" fmla="*/ 356 w 422"/>
                <a:gd name="T3" fmla="*/ 201 h 402"/>
                <a:gd name="T4" fmla="*/ 405 w 422"/>
                <a:gd name="T5" fmla="*/ 130 h 402"/>
                <a:gd name="T6" fmla="*/ 404 w 422"/>
                <a:gd name="T7" fmla="*/ 102 h 402"/>
                <a:gd name="T8" fmla="*/ 334 w 422"/>
                <a:gd name="T9" fmla="*/ 22 h 402"/>
                <a:gd name="T10" fmla="*/ 321 w 422"/>
                <a:gd name="T11" fmla="*/ 19 h 402"/>
                <a:gd name="T12" fmla="*/ 313 w 422"/>
                <a:gd name="T13" fmla="*/ 32 h 402"/>
                <a:gd name="T14" fmla="*/ 188 w 422"/>
                <a:gd name="T15" fmla="*/ 205 h 402"/>
                <a:gd name="T16" fmla="*/ 73 w 422"/>
                <a:gd name="T17" fmla="*/ 330 h 402"/>
                <a:gd name="T18" fmla="*/ 27 w 422"/>
                <a:gd name="T19" fmla="*/ 375 h 402"/>
                <a:gd name="T20" fmla="*/ 20 w 422"/>
                <a:gd name="T21" fmla="*/ 384 h 402"/>
                <a:gd name="T22" fmla="*/ 31 w 422"/>
                <a:gd name="T23" fmla="*/ 388 h 402"/>
                <a:gd name="T24" fmla="*/ 41 w 422"/>
                <a:gd name="T25" fmla="*/ 389 h 402"/>
                <a:gd name="T26" fmla="*/ 62 w 422"/>
                <a:gd name="T27" fmla="*/ 391 h 402"/>
                <a:gd name="T28" fmla="*/ 189 w 422"/>
                <a:gd name="T29" fmla="*/ 402 h 402"/>
                <a:gd name="T30" fmla="*/ 189 w 422"/>
                <a:gd name="T31" fmla="*/ 402 h 402"/>
                <a:gd name="T32" fmla="*/ 41 w 422"/>
                <a:gd name="T33" fmla="*/ 395 h 402"/>
                <a:gd name="T34" fmla="*/ 19 w 422"/>
                <a:gd name="T35" fmla="*/ 392 h 402"/>
                <a:gd name="T36" fmla="*/ 37 w 422"/>
                <a:gd name="T37" fmla="*/ 355 h 402"/>
                <a:gd name="T38" fmla="*/ 125 w 422"/>
                <a:gd name="T39" fmla="*/ 263 h 402"/>
                <a:gd name="T40" fmla="*/ 279 w 422"/>
                <a:gd name="T41" fmla="*/ 61 h 402"/>
                <a:gd name="T42" fmla="*/ 303 w 422"/>
                <a:gd name="T43" fmla="*/ 26 h 402"/>
                <a:gd name="T44" fmla="*/ 314 w 422"/>
                <a:gd name="T45" fmla="*/ 10 h 402"/>
                <a:gd name="T46" fmla="*/ 343 w 422"/>
                <a:gd name="T47" fmla="*/ 14 h 402"/>
                <a:gd name="T48" fmla="*/ 413 w 422"/>
                <a:gd name="T49" fmla="*/ 96 h 402"/>
                <a:gd name="T50" fmla="*/ 414 w 422"/>
                <a:gd name="T51" fmla="*/ 135 h 402"/>
                <a:gd name="T52" fmla="*/ 363 w 422"/>
                <a:gd name="T53" fmla="*/ 206 h 402"/>
                <a:gd name="T54" fmla="*/ 189 w 422"/>
                <a:gd name="T55"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2" h="402">
                  <a:moveTo>
                    <a:pt x="189" y="402"/>
                  </a:moveTo>
                  <a:cubicBezTo>
                    <a:pt x="248" y="338"/>
                    <a:pt x="304" y="272"/>
                    <a:pt x="356" y="201"/>
                  </a:cubicBezTo>
                  <a:cubicBezTo>
                    <a:pt x="373" y="178"/>
                    <a:pt x="389" y="154"/>
                    <a:pt x="405" y="130"/>
                  </a:cubicBezTo>
                  <a:cubicBezTo>
                    <a:pt x="411" y="122"/>
                    <a:pt x="411" y="110"/>
                    <a:pt x="404" y="102"/>
                  </a:cubicBezTo>
                  <a:cubicBezTo>
                    <a:pt x="383" y="75"/>
                    <a:pt x="358" y="48"/>
                    <a:pt x="334" y="22"/>
                  </a:cubicBezTo>
                  <a:cubicBezTo>
                    <a:pt x="331" y="18"/>
                    <a:pt x="325" y="13"/>
                    <a:pt x="321" y="19"/>
                  </a:cubicBezTo>
                  <a:cubicBezTo>
                    <a:pt x="320" y="22"/>
                    <a:pt x="315" y="30"/>
                    <a:pt x="313" y="32"/>
                  </a:cubicBezTo>
                  <a:cubicBezTo>
                    <a:pt x="274" y="92"/>
                    <a:pt x="232" y="149"/>
                    <a:pt x="188" y="205"/>
                  </a:cubicBezTo>
                  <a:cubicBezTo>
                    <a:pt x="152" y="249"/>
                    <a:pt x="113" y="290"/>
                    <a:pt x="73" y="330"/>
                  </a:cubicBezTo>
                  <a:cubicBezTo>
                    <a:pt x="58" y="345"/>
                    <a:pt x="43" y="361"/>
                    <a:pt x="27" y="375"/>
                  </a:cubicBezTo>
                  <a:cubicBezTo>
                    <a:pt x="24" y="377"/>
                    <a:pt x="20" y="381"/>
                    <a:pt x="20" y="384"/>
                  </a:cubicBezTo>
                  <a:cubicBezTo>
                    <a:pt x="22" y="387"/>
                    <a:pt x="27" y="387"/>
                    <a:pt x="31" y="388"/>
                  </a:cubicBezTo>
                  <a:cubicBezTo>
                    <a:pt x="41" y="389"/>
                    <a:pt x="41" y="389"/>
                    <a:pt x="41" y="389"/>
                  </a:cubicBezTo>
                  <a:cubicBezTo>
                    <a:pt x="62" y="391"/>
                    <a:pt x="62" y="391"/>
                    <a:pt x="62" y="391"/>
                  </a:cubicBezTo>
                  <a:cubicBezTo>
                    <a:pt x="89" y="393"/>
                    <a:pt x="162" y="400"/>
                    <a:pt x="189" y="402"/>
                  </a:cubicBezTo>
                  <a:close/>
                  <a:moveTo>
                    <a:pt x="189" y="402"/>
                  </a:moveTo>
                  <a:cubicBezTo>
                    <a:pt x="141" y="400"/>
                    <a:pt x="89" y="397"/>
                    <a:pt x="41" y="395"/>
                  </a:cubicBezTo>
                  <a:cubicBezTo>
                    <a:pt x="35" y="394"/>
                    <a:pt x="25" y="394"/>
                    <a:pt x="19" y="392"/>
                  </a:cubicBezTo>
                  <a:cubicBezTo>
                    <a:pt x="0" y="382"/>
                    <a:pt x="31" y="363"/>
                    <a:pt x="37" y="355"/>
                  </a:cubicBezTo>
                  <a:cubicBezTo>
                    <a:pt x="67" y="325"/>
                    <a:pt x="96" y="294"/>
                    <a:pt x="125" y="263"/>
                  </a:cubicBezTo>
                  <a:cubicBezTo>
                    <a:pt x="181" y="199"/>
                    <a:pt x="232" y="131"/>
                    <a:pt x="279" y="61"/>
                  </a:cubicBezTo>
                  <a:cubicBezTo>
                    <a:pt x="287" y="49"/>
                    <a:pt x="295" y="38"/>
                    <a:pt x="303" y="26"/>
                  </a:cubicBezTo>
                  <a:cubicBezTo>
                    <a:pt x="306" y="22"/>
                    <a:pt x="311" y="14"/>
                    <a:pt x="314" y="10"/>
                  </a:cubicBezTo>
                  <a:cubicBezTo>
                    <a:pt x="323" y="0"/>
                    <a:pt x="336" y="5"/>
                    <a:pt x="343" y="14"/>
                  </a:cubicBezTo>
                  <a:cubicBezTo>
                    <a:pt x="366" y="40"/>
                    <a:pt x="392" y="68"/>
                    <a:pt x="413" y="96"/>
                  </a:cubicBezTo>
                  <a:cubicBezTo>
                    <a:pt x="422" y="107"/>
                    <a:pt x="422" y="126"/>
                    <a:pt x="414" y="135"/>
                  </a:cubicBezTo>
                  <a:cubicBezTo>
                    <a:pt x="397" y="160"/>
                    <a:pt x="381" y="183"/>
                    <a:pt x="363" y="206"/>
                  </a:cubicBezTo>
                  <a:cubicBezTo>
                    <a:pt x="310" y="276"/>
                    <a:pt x="252" y="341"/>
                    <a:pt x="189" y="4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1600">
                <a:solidFill>
                  <a:prstClr val="white"/>
                </a:solidFill>
                <a:latin typeface="Open Sans" panose="020B0606030504020204" pitchFamily="34" charset="0"/>
              </a:endParaRPr>
            </a:p>
          </p:txBody>
        </p:sp>
        <p:sp>
          <p:nvSpPr>
            <p:cNvPr id="20" name="Freeform 8">
              <a:extLst>
                <a:ext uri="{FF2B5EF4-FFF2-40B4-BE49-F238E27FC236}">
                  <a16:creationId xmlns:a16="http://schemas.microsoft.com/office/drawing/2014/main" id="{D60612EB-92C3-9205-60EB-0184F00E3298}"/>
                </a:ext>
              </a:extLst>
            </p:cNvPr>
            <p:cNvSpPr>
              <a:spLocks noEditPoints="1"/>
            </p:cNvSpPr>
            <p:nvPr/>
          </p:nvSpPr>
          <p:spPr bwMode="auto">
            <a:xfrm>
              <a:off x="1952" y="667"/>
              <a:ext cx="904" cy="937"/>
            </a:xfrm>
            <a:custGeom>
              <a:avLst/>
              <a:gdLst>
                <a:gd name="T0" fmla="*/ 173 w 381"/>
                <a:gd name="T1" fmla="*/ 392 h 395"/>
                <a:gd name="T2" fmla="*/ 321 w 381"/>
                <a:gd name="T3" fmla="*/ 190 h 395"/>
                <a:gd name="T4" fmla="*/ 365 w 381"/>
                <a:gd name="T5" fmla="*/ 118 h 395"/>
                <a:gd name="T6" fmla="*/ 362 w 381"/>
                <a:gd name="T7" fmla="*/ 92 h 395"/>
                <a:gd name="T8" fmla="*/ 339 w 381"/>
                <a:gd name="T9" fmla="*/ 68 h 395"/>
                <a:gd name="T10" fmla="*/ 289 w 381"/>
                <a:gd name="T11" fmla="*/ 21 h 395"/>
                <a:gd name="T12" fmla="*/ 278 w 381"/>
                <a:gd name="T13" fmla="*/ 18 h 395"/>
                <a:gd name="T14" fmla="*/ 205 w 381"/>
                <a:gd name="T15" fmla="*/ 137 h 395"/>
                <a:gd name="T16" fmla="*/ 109 w 381"/>
                <a:gd name="T17" fmla="*/ 270 h 395"/>
                <a:gd name="T18" fmla="*/ 27 w 381"/>
                <a:gd name="T19" fmla="*/ 363 h 395"/>
                <a:gd name="T20" fmla="*/ 7 w 381"/>
                <a:gd name="T21" fmla="*/ 385 h 395"/>
                <a:gd name="T22" fmla="*/ 7 w 381"/>
                <a:gd name="T23" fmla="*/ 387 h 395"/>
                <a:gd name="T24" fmla="*/ 9 w 381"/>
                <a:gd name="T25" fmla="*/ 388 h 395"/>
                <a:gd name="T26" fmla="*/ 19 w 381"/>
                <a:gd name="T27" fmla="*/ 389 h 395"/>
                <a:gd name="T28" fmla="*/ 29 w 381"/>
                <a:gd name="T29" fmla="*/ 389 h 395"/>
                <a:gd name="T30" fmla="*/ 50 w 381"/>
                <a:gd name="T31" fmla="*/ 390 h 395"/>
                <a:gd name="T32" fmla="*/ 173 w 381"/>
                <a:gd name="T33" fmla="*/ 392 h 395"/>
                <a:gd name="T34" fmla="*/ 173 w 381"/>
                <a:gd name="T35" fmla="*/ 392 h 395"/>
                <a:gd name="T36" fmla="*/ 50 w 381"/>
                <a:gd name="T37" fmla="*/ 395 h 395"/>
                <a:gd name="T38" fmla="*/ 19 w 381"/>
                <a:gd name="T39" fmla="*/ 395 h 395"/>
                <a:gd name="T40" fmla="*/ 0 w 381"/>
                <a:gd name="T41" fmla="*/ 386 h 395"/>
                <a:gd name="T42" fmla="*/ 15 w 381"/>
                <a:gd name="T43" fmla="*/ 365 h 395"/>
                <a:gd name="T44" fmla="*/ 195 w 381"/>
                <a:gd name="T45" fmla="*/ 131 h 395"/>
                <a:gd name="T46" fmla="*/ 259 w 381"/>
                <a:gd name="T47" fmla="*/ 26 h 395"/>
                <a:gd name="T48" fmla="*/ 272 w 381"/>
                <a:gd name="T49" fmla="*/ 7 h 395"/>
                <a:gd name="T50" fmla="*/ 297 w 381"/>
                <a:gd name="T51" fmla="*/ 12 h 395"/>
                <a:gd name="T52" fmla="*/ 346 w 381"/>
                <a:gd name="T53" fmla="*/ 60 h 395"/>
                <a:gd name="T54" fmla="*/ 376 w 381"/>
                <a:gd name="T55" fmla="*/ 94 h 395"/>
                <a:gd name="T56" fmla="*/ 373 w 381"/>
                <a:gd name="T57" fmla="*/ 123 h 395"/>
                <a:gd name="T58" fmla="*/ 328 w 381"/>
                <a:gd name="T59" fmla="*/ 194 h 395"/>
                <a:gd name="T60" fmla="*/ 173 w 381"/>
                <a:gd name="T61" fmla="*/ 392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1" h="395">
                  <a:moveTo>
                    <a:pt x="173" y="392"/>
                  </a:moveTo>
                  <a:cubicBezTo>
                    <a:pt x="226" y="327"/>
                    <a:pt x="276" y="260"/>
                    <a:pt x="321" y="190"/>
                  </a:cubicBezTo>
                  <a:cubicBezTo>
                    <a:pt x="337" y="166"/>
                    <a:pt x="351" y="142"/>
                    <a:pt x="365" y="118"/>
                  </a:cubicBezTo>
                  <a:cubicBezTo>
                    <a:pt x="370" y="110"/>
                    <a:pt x="369" y="99"/>
                    <a:pt x="362" y="92"/>
                  </a:cubicBezTo>
                  <a:cubicBezTo>
                    <a:pt x="355" y="84"/>
                    <a:pt x="347" y="76"/>
                    <a:pt x="339" y="68"/>
                  </a:cubicBezTo>
                  <a:cubicBezTo>
                    <a:pt x="322" y="52"/>
                    <a:pt x="306" y="36"/>
                    <a:pt x="289" y="21"/>
                  </a:cubicBezTo>
                  <a:cubicBezTo>
                    <a:pt x="287" y="18"/>
                    <a:pt x="281" y="13"/>
                    <a:pt x="278" y="18"/>
                  </a:cubicBezTo>
                  <a:cubicBezTo>
                    <a:pt x="255" y="58"/>
                    <a:pt x="231" y="98"/>
                    <a:pt x="205" y="137"/>
                  </a:cubicBezTo>
                  <a:cubicBezTo>
                    <a:pt x="175" y="183"/>
                    <a:pt x="143" y="228"/>
                    <a:pt x="109" y="270"/>
                  </a:cubicBezTo>
                  <a:cubicBezTo>
                    <a:pt x="82" y="302"/>
                    <a:pt x="55" y="333"/>
                    <a:pt x="27" y="363"/>
                  </a:cubicBezTo>
                  <a:cubicBezTo>
                    <a:pt x="21" y="370"/>
                    <a:pt x="12" y="377"/>
                    <a:pt x="7" y="385"/>
                  </a:cubicBezTo>
                  <a:cubicBezTo>
                    <a:pt x="7" y="386"/>
                    <a:pt x="7" y="387"/>
                    <a:pt x="7" y="387"/>
                  </a:cubicBezTo>
                  <a:cubicBezTo>
                    <a:pt x="7" y="387"/>
                    <a:pt x="8" y="388"/>
                    <a:pt x="9" y="388"/>
                  </a:cubicBezTo>
                  <a:cubicBezTo>
                    <a:pt x="12" y="389"/>
                    <a:pt x="16" y="389"/>
                    <a:pt x="19" y="389"/>
                  </a:cubicBezTo>
                  <a:cubicBezTo>
                    <a:pt x="29" y="389"/>
                    <a:pt x="29" y="389"/>
                    <a:pt x="29" y="389"/>
                  </a:cubicBezTo>
                  <a:cubicBezTo>
                    <a:pt x="50" y="390"/>
                    <a:pt x="50" y="390"/>
                    <a:pt x="50" y="390"/>
                  </a:cubicBezTo>
                  <a:cubicBezTo>
                    <a:pt x="75" y="390"/>
                    <a:pt x="146" y="392"/>
                    <a:pt x="173" y="392"/>
                  </a:cubicBezTo>
                  <a:close/>
                  <a:moveTo>
                    <a:pt x="173" y="392"/>
                  </a:moveTo>
                  <a:cubicBezTo>
                    <a:pt x="133" y="394"/>
                    <a:pt x="89" y="394"/>
                    <a:pt x="50" y="395"/>
                  </a:cubicBezTo>
                  <a:cubicBezTo>
                    <a:pt x="43" y="395"/>
                    <a:pt x="25" y="395"/>
                    <a:pt x="19" y="395"/>
                  </a:cubicBezTo>
                  <a:cubicBezTo>
                    <a:pt x="12" y="395"/>
                    <a:pt x="0" y="395"/>
                    <a:pt x="0" y="386"/>
                  </a:cubicBezTo>
                  <a:cubicBezTo>
                    <a:pt x="2" y="377"/>
                    <a:pt x="9" y="371"/>
                    <a:pt x="15" y="365"/>
                  </a:cubicBezTo>
                  <a:cubicBezTo>
                    <a:pt x="81" y="292"/>
                    <a:pt x="142" y="214"/>
                    <a:pt x="195" y="131"/>
                  </a:cubicBezTo>
                  <a:cubicBezTo>
                    <a:pt x="217" y="96"/>
                    <a:pt x="239" y="62"/>
                    <a:pt x="259" y="26"/>
                  </a:cubicBezTo>
                  <a:cubicBezTo>
                    <a:pt x="263" y="21"/>
                    <a:pt x="266" y="12"/>
                    <a:pt x="272" y="7"/>
                  </a:cubicBezTo>
                  <a:cubicBezTo>
                    <a:pt x="280" y="0"/>
                    <a:pt x="292" y="6"/>
                    <a:pt x="297" y="12"/>
                  </a:cubicBezTo>
                  <a:cubicBezTo>
                    <a:pt x="314" y="28"/>
                    <a:pt x="330" y="44"/>
                    <a:pt x="346" y="60"/>
                  </a:cubicBezTo>
                  <a:cubicBezTo>
                    <a:pt x="356" y="71"/>
                    <a:pt x="368" y="81"/>
                    <a:pt x="376" y="94"/>
                  </a:cubicBezTo>
                  <a:cubicBezTo>
                    <a:pt x="381" y="103"/>
                    <a:pt x="378" y="117"/>
                    <a:pt x="373" y="123"/>
                  </a:cubicBezTo>
                  <a:cubicBezTo>
                    <a:pt x="359" y="147"/>
                    <a:pt x="344" y="171"/>
                    <a:pt x="328" y="194"/>
                  </a:cubicBezTo>
                  <a:cubicBezTo>
                    <a:pt x="281" y="264"/>
                    <a:pt x="229" y="330"/>
                    <a:pt x="173" y="3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1600">
                <a:solidFill>
                  <a:prstClr val="white"/>
                </a:solidFill>
                <a:latin typeface="Open Sans" panose="020B0606030504020204" pitchFamily="34" charset="0"/>
              </a:endParaRPr>
            </a:p>
          </p:txBody>
        </p:sp>
      </p:grpSp>
    </p:spTree>
    <p:extLst>
      <p:ext uri="{BB962C8B-B14F-4D97-AF65-F5344CB8AC3E}">
        <p14:creationId xmlns:p14="http://schemas.microsoft.com/office/powerpoint/2010/main" val="668367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C43D97-D600-4DD9-A33C-608B03A7CFD5}" type="datetimeFigureOut">
              <a:rPr lang="en-US" smtClean="0">
                <a:solidFill>
                  <a:prstClr val="black">
                    <a:tint val="75000"/>
                  </a:prstClr>
                </a:solidFill>
              </a:rPr>
              <a:pPr/>
              <a:t>9/10/2026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50B505B-3F1B-4503-88C2-08B1E4CCBF3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34385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C43D97-D600-4DD9-A33C-608B03A7CFD5}" type="datetimeFigureOut">
              <a:rPr lang="en-US" smtClean="0">
                <a:solidFill>
                  <a:prstClr val="black">
                    <a:tint val="75000"/>
                  </a:prstClr>
                </a:solidFill>
              </a:rPr>
              <a:pPr/>
              <a:t>9/10/2026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50B505B-3F1B-4503-88C2-08B1E4CCBF3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07029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C43D97-D600-4DD9-A33C-608B03A7CFD5}" type="datetimeFigureOut">
              <a:rPr lang="en-US" smtClean="0">
                <a:solidFill>
                  <a:prstClr val="black">
                    <a:tint val="75000"/>
                  </a:prstClr>
                </a:solidFill>
              </a:rPr>
              <a:pPr/>
              <a:t>9/10/2026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50B505B-3F1B-4503-88C2-08B1E4CCBF3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56714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C43D97-D600-4DD9-A33C-608B03A7CFD5}" type="datetimeFigureOut">
              <a:rPr lang="en-US" smtClean="0">
                <a:solidFill>
                  <a:prstClr val="black">
                    <a:tint val="75000"/>
                  </a:prstClr>
                </a:solidFill>
              </a:rPr>
              <a:pPr/>
              <a:t>9/10/2026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50B505B-3F1B-4503-88C2-08B1E4CCBF3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21473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6C9E438-1414-4BFA-9FCF-B51A5BE3D59D}" type="datetimeFigureOut">
              <a:rPr lang="en-US" smtClean="0">
                <a:solidFill>
                  <a:prstClr val="black">
                    <a:tint val="75000"/>
                  </a:prstClr>
                </a:solidFill>
              </a:rPr>
              <a:pPr/>
              <a:t>9/10/2026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6AF30D1-BE63-4B9B-9AE9-81AB219E0C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314874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C9E438-1414-4BFA-9FCF-B51A5BE3D59D}" type="datetimeFigureOut">
              <a:rPr lang="en-US" smtClean="0">
                <a:solidFill>
                  <a:prstClr val="black">
                    <a:tint val="75000"/>
                  </a:prstClr>
                </a:solidFill>
              </a:rPr>
              <a:pPr/>
              <a:t>9/10/2026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6AF30D1-BE63-4B9B-9AE9-81AB219E0C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161790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C9E438-1414-4BFA-9FCF-B51A5BE3D59D}" type="datetimeFigureOut">
              <a:rPr lang="en-US" smtClean="0">
                <a:solidFill>
                  <a:prstClr val="black">
                    <a:tint val="75000"/>
                  </a:prstClr>
                </a:solidFill>
              </a:rPr>
              <a:pPr/>
              <a:t>9/10/2026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6AF30D1-BE63-4B9B-9AE9-81AB219E0C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816197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6C9E438-1414-4BFA-9FCF-B51A5BE3D59D}" type="datetimeFigureOut">
              <a:rPr lang="en-US" smtClean="0">
                <a:solidFill>
                  <a:prstClr val="black">
                    <a:tint val="75000"/>
                  </a:prstClr>
                </a:solidFill>
              </a:rPr>
              <a:pPr/>
              <a:t>9/10/2026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6AF30D1-BE63-4B9B-9AE9-81AB219E0C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03843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C9E438-1414-4BFA-9FCF-B51A5BE3D59D}" type="datetimeFigureOut">
              <a:rPr lang="en-US" smtClean="0">
                <a:solidFill>
                  <a:prstClr val="black">
                    <a:tint val="75000"/>
                  </a:prstClr>
                </a:solidFill>
              </a:rPr>
              <a:pPr/>
              <a:t>9/10/2026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6AF30D1-BE63-4B9B-9AE9-81AB219E0C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545907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6C9E438-1414-4BFA-9FCF-B51A5BE3D59D}" type="datetimeFigureOut">
              <a:rPr lang="en-US" smtClean="0">
                <a:solidFill>
                  <a:prstClr val="black">
                    <a:tint val="75000"/>
                  </a:prstClr>
                </a:solidFill>
              </a:rPr>
              <a:pPr/>
              <a:t>9/10/2026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6AF30D1-BE63-4B9B-9AE9-81AB219E0C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486203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C9E438-1414-4BFA-9FCF-B51A5BE3D59D}" type="datetimeFigureOut">
              <a:rPr lang="en-US" smtClean="0">
                <a:solidFill>
                  <a:prstClr val="black">
                    <a:tint val="75000"/>
                  </a:prstClr>
                </a:solidFill>
              </a:rPr>
              <a:pPr/>
              <a:t>9/10/2026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6AF30D1-BE63-4B9B-9AE9-81AB219E0C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32358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C9E438-1414-4BFA-9FCF-B51A5BE3D59D}" type="datetimeFigureOut">
              <a:rPr lang="en-US" smtClean="0">
                <a:solidFill>
                  <a:prstClr val="black">
                    <a:tint val="75000"/>
                  </a:prstClr>
                </a:solidFill>
              </a:rPr>
              <a:pPr/>
              <a:t>9/10/2026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6AF30D1-BE63-4B9B-9AE9-81AB219E0C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830401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C9E438-1414-4BFA-9FCF-B51A5BE3D59D}" type="datetimeFigureOut">
              <a:rPr lang="en-US" smtClean="0">
                <a:solidFill>
                  <a:prstClr val="black">
                    <a:tint val="75000"/>
                  </a:prstClr>
                </a:solidFill>
              </a:rPr>
              <a:pPr/>
              <a:t>9/10/2026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6AF30D1-BE63-4B9B-9AE9-81AB219E0C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351612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C9E438-1414-4BFA-9FCF-B51A5BE3D59D}" type="datetimeFigureOut">
              <a:rPr lang="en-US" smtClean="0">
                <a:solidFill>
                  <a:prstClr val="black">
                    <a:tint val="75000"/>
                  </a:prstClr>
                </a:solidFill>
              </a:rPr>
              <a:pPr/>
              <a:t>9/10/2026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6AF30D1-BE63-4B9B-9AE9-81AB219E0C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12599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C9E438-1414-4BFA-9FCF-B51A5BE3D59D}" type="datetimeFigureOut">
              <a:rPr lang="en-US" smtClean="0">
                <a:solidFill>
                  <a:prstClr val="black">
                    <a:tint val="75000"/>
                  </a:prstClr>
                </a:solidFill>
              </a:rPr>
              <a:pPr/>
              <a:t>9/10/2026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6AF30D1-BE63-4B9B-9AE9-81AB219E0C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46362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grpSp>
        <p:nvGrpSpPr>
          <p:cNvPr id="7" name="Group 6"/>
          <p:cNvGrpSpPr/>
          <p:nvPr userDrawn="1"/>
        </p:nvGrpSpPr>
        <p:grpSpPr>
          <a:xfrm>
            <a:off x="2" y="0"/>
            <a:ext cx="12191999" cy="6861923"/>
            <a:chOff x="12598961" y="-1"/>
            <a:chExt cx="12191999" cy="6861923"/>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961" y="-1"/>
              <a:ext cx="12191999" cy="6861923"/>
            </a:xfrm>
            <a:prstGeom prst="rect">
              <a:avLst/>
            </a:prstGeom>
            <a:solidFill>
              <a:srgbClr val="00B0F0"/>
            </a:solidFill>
            <a:ln>
              <a:noFill/>
            </a:ln>
            <a:effectLst>
              <a:outerShdw blurRad="152400" dist="50800" dir="5400000" algn="ctr" rotWithShape="0">
                <a:srgbClr val="000000">
                  <a:alpha val="0"/>
                </a:srgbClr>
              </a:outerShdw>
              <a:softEdge rad="0"/>
            </a:effectLst>
          </p:spPr>
        </p:pic>
        <p:sp>
          <p:nvSpPr>
            <p:cNvPr id="9" name="Pentagon 8"/>
            <p:cNvSpPr/>
            <p:nvPr/>
          </p:nvSpPr>
          <p:spPr>
            <a:xfrm>
              <a:off x="12598961" y="0"/>
              <a:ext cx="12191999" cy="6861922"/>
            </a:xfrm>
            <a:prstGeom prst="homePlate">
              <a:avLst>
                <a:gd name="adj" fmla="val 0"/>
              </a:avLst>
            </a:prstGeom>
            <a:solidFill>
              <a:srgbClr val="00B0F0">
                <a:alpha val="1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US" sz="1351">
                <a:solidFill>
                  <a:prstClr val="black"/>
                </a:solidFill>
              </a:endParaRPr>
            </a:p>
          </p:txBody>
        </p:sp>
      </p:grpSp>
      <p:sp>
        <p:nvSpPr>
          <p:cNvPr id="10" name="Arc 9"/>
          <p:cNvSpPr/>
          <p:nvPr userDrawn="1"/>
        </p:nvSpPr>
        <p:spPr>
          <a:xfrm rot="16200000">
            <a:off x="-944973" y="307741"/>
            <a:ext cx="7389991" cy="5486097"/>
          </a:xfrm>
          <a:prstGeom prst="arc">
            <a:avLst>
              <a:gd name="adj1" fmla="val 10736553"/>
              <a:gd name="adj2" fmla="val 19727626"/>
            </a:avLst>
          </a:prstGeom>
          <a:ln>
            <a:solidFill>
              <a:srgbClr val="3F599D"/>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defTabSz="914354"/>
            <a:endParaRPr lang="en-US" sz="1351" dirty="0">
              <a:solidFill>
                <a:prstClr val="black"/>
              </a:solidFill>
            </a:endParaRPr>
          </a:p>
        </p:txBody>
      </p:sp>
      <p:grpSp>
        <p:nvGrpSpPr>
          <p:cNvPr id="11" name="Group 10">
            <a:extLst>
              <a:ext uri="{FF2B5EF4-FFF2-40B4-BE49-F238E27FC236}">
                <a16:creationId xmlns:a16="http://schemas.microsoft.com/office/drawing/2014/main" id="{36D64FDC-E7B2-82F1-5A0F-381282D8D97A}"/>
              </a:ext>
            </a:extLst>
          </p:cNvPr>
          <p:cNvGrpSpPr>
            <a:grpSpLocks noChangeAspect="1"/>
          </p:cNvGrpSpPr>
          <p:nvPr userDrawn="1"/>
        </p:nvGrpSpPr>
        <p:grpSpPr bwMode="auto">
          <a:xfrm>
            <a:off x="9523289" y="-1314503"/>
            <a:ext cx="3807563" cy="4321749"/>
            <a:chOff x="1952" y="667"/>
            <a:chExt cx="1755" cy="1992"/>
          </a:xfrm>
          <a:solidFill>
            <a:schemeClr val="bg1">
              <a:alpha val="25000"/>
            </a:schemeClr>
          </a:solidFill>
        </p:grpSpPr>
        <p:sp>
          <p:nvSpPr>
            <p:cNvPr id="12" name="Freeform 11">
              <a:extLst>
                <a:ext uri="{FF2B5EF4-FFF2-40B4-BE49-F238E27FC236}">
                  <a16:creationId xmlns:a16="http://schemas.microsoft.com/office/drawing/2014/main" id="{019864D3-0A89-E1FA-8394-6F8F2199F832}"/>
                </a:ext>
              </a:extLst>
            </p:cNvPr>
            <p:cNvSpPr>
              <a:spLocks noEditPoints="1"/>
            </p:cNvSpPr>
            <p:nvPr/>
          </p:nvSpPr>
          <p:spPr bwMode="auto">
            <a:xfrm>
              <a:off x="2614" y="1651"/>
              <a:ext cx="1093" cy="1008"/>
            </a:xfrm>
            <a:custGeom>
              <a:avLst/>
              <a:gdLst>
                <a:gd name="T0" fmla="*/ 182 w 461"/>
                <a:gd name="T1" fmla="*/ 425 h 425"/>
                <a:gd name="T2" fmla="*/ 378 w 461"/>
                <a:gd name="T3" fmla="*/ 225 h 425"/>
                <a:gd name="T4" fmla="*/ 436 w 461"/>
                <a:gd name="T5" fmla="*/ 153 h 425"/>
                <a:gd name="T6" fmla="*/ 441 w 461"/>
                <a:gd name="T7" fmla="*/ 146 h 425"/>
                <a:gd name="T8" fmla="*/ 439 w 461"/>
                <a:gd name="T9" fmla="*/ 121 h 425"/>
                <a:gd name="T10" fmla="*/ 420 w 461"/>
                <a:gd name="T11" fmla="*/ 88 h 425"/>
                <a:gd name="T12" fmla="*/ 379 w 461"/>
                <a:gd name="T13" fmla="*/ 21 h 425"/>
                <a:gd name="T14" fmla="*/ 371 w 461"/>
                <a:gd name="T15" fmla="*/ 13 h 425"/>
                <a:gd name="T16" fmla="*/ 363 w 461"/>
                <a:gd name="T17" fmla="*/ 20 h 425"/>
                <a:gd name="T18" fmla="*/ 356 w 461"/>
                <a:gd name="T19" fmla="*/ 29 h 425"/>
                <a:gd name="T20" fmla="*/ 328 w 461"/>
                <a:gd name="T21" fmla="*/ 64 h 425"/>
                <a:gd name="T22" fmla="*/ 146 w 461"/>
                <a:gd name="T23" fmla="*/ 264 h 425"/>
                <a:gd name="T24" fmla="*/ 44 w 461"/>
                <a:gd name="T25" fmla="*/ 353 h 425"/>
                <a:gd name="T26" fmla="*/ 18 w 461"/>
                <a:gd name="T27" fmla="*/ 373 h 425"/>
                <a:gd name="T28" fmla="*/ 13 w 461"/>
                <a:gd name="T29" fmla="*/ 380 h 425"/>
                <a:gd name="T30" fmla="*/ 29 w 461"/>
                <a:gd name="T31" fmla="*/ 387 h 425"/>
                <a:gd name="T32" fmla="*/ 51 w 461"/>
                <a:gd name="T33" fmla="*/ 393 h 425"/>
                <a:gd name="T34" fmla="*/ 182 w 461"/>
                <a:gd name="T35" fmla="*/ 425 h 425"/>
                <a:gd name="T36" fmla="*/ 182 w 461"/>
                <a:gd name="T37" fmla="*/ 425 h 425"/>
                <a:gd name="T38" fmla="*/ 28 w 461"/>
                <a:gd name="T39" fmla="*/ 393 h 425"/>
                <a:gd name="T40" fmla="*/ 9 w 461"/>
                <a:gd name="T41" fmla="*/ 373 h 425"/>
                <a:gd name="T42" fmla="*/ 39 w 461"/>
                <a:gd name="T43" fmla="*/ 347 h 425"/>
                <a:gd name="T44" fmla="*/ 139 w 461"/>
                <a:gd name="T45" fmla="*/ 257 h 425"/>
                <a:gd name="T46" fmla="*/ 354 w 461"/>
                <a:gd name="T47" fmla="*/ 13 h 425"/>
                <a:gd name="T48" fmla="*/ 372 w 461"/>
                <a:gd name="T49" fmla="*/ 1 h 425"/>
                <a:gd name="T50" fmla="*/ 389 w 461"/>
                <a:gd name="T51" fmla="*/ 14 h 425"/>
                <a:gd name="T52" fmla="*/ 430 w 461"/>
                <a:gd name="T53" fmla="*/ 82 h 425"/>
                <a:gd name="T54" fmla="*/ 450 w 461"/>
                <a:gd name="T55" fmla="*/ 150 h 425"/>
                <a:gd name="T56" fmla="*/ 444 w 461"/>
                <a:gd name="T57" fmla="*/ 159 h 425"/>
                <a:gd name="T58" fmla="*/ 399 w 461"/>
                <a:gd name="T59" fmla="*/ 213 h 425"/>
                <a:gd name="T60" fmla="*/ 182 w 461"/>
                <a:gd name="T61"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1" h="425">
                  <a:moveTo>
                    <a:pt x="182" y="425"/>
                  </a:moveTo>
                  <a:cubicBezTo>
                    <a:pt x="251" y="362"/>
                    <a:pt x="317" y="295"/>
                    <a:pt x="378" y="225"/>
                  </a:cubicBezTo>
                  <a:cubicBezTo>
                    <a:pt x="398" y="202"/>
                    <a:pt x="417" y="177"/>
                    <a:pt x="436" y="153"/>
                  </a:cubicBezTo>
                  <a:cubicBezTo>
                    <a:pt x="438" y="151"/>
                    <a:pt x="440" y="148"/>
                    <a:pt x="441" y="146"/>
                  </a:cubicBezTo>
                  <a:cubicBezTo>
                    <a:pt x="444" y="138"/>
                    <a:pt x="443" y="129"/>
                    <a:pt x="439" y="121"/>
                  </a:cubicBezTo>
                  <a:cubicBezTo>
                    <a:pt x="434" y="110"/>
                    <a:pt x="427" y="99"/>
                    <a:pt x="420" y="88"/>
                  </a:cubicBezTo>
                  <a:cubicBezTo>
                    <a:pt x="407" y="65"/>
                    <a:pt x="393" y="43"/>
                    <a:pt x="379" y="21"/>
                  </a:cubicBezTo>
                  <a:cubicBezTo>
                    <a:pt x="377" y="17"/>
                    <a:pt x="374" y="13"/>
                    <a:pt x="371" y="13"/>
                  </a:cubicBezTo>
                  <a:cubicBezTo>
                    <a:pt x="367" y="13"/>
                    <a:pt x="366" y="17"/>
                    <a:pt x="363" y="20"/>
                  </a:cubicBezTo>
                  <a:cubicBezTo>
                    <a:pt x="356" y="29"/>
                    <a:pt x="356" y="29"/>
                    <a:pt x="356" y="29"/>
                  </a:cubicBezTo>
                  <a:cubicBezTo>
                    <a:pt x="347" y="41"/>
                    <a:pt x="338" y="53"/>
                    <a:pt x="328" y="64"/>
                  </a:cubicBezTo>
                  <a:cubicBezTo>
                    <a:pt x="272" y="134"/>
                    <a:pt x="212" y="202"/>
                    <a:pt x="146" y="264"/>
                  </a:cubicBezTo>
                  <a:cubicBezTo>
                    <a:pt x="113" y="295"/>
                    <a:pt x="79" y="324"/>
                    <a:pt x="44" y="353"/>
                  </a:cubicBezTo>
                  <a:cubicBezTo>
                    <a:pt x="35" y="360"/>
                    <a:pt x="26" y="366"/>
                    <a:pt x="18" y="373"/>
                  </a:cubicBezTo>
                  <a:cubicBezTo>
                    <a:pt x="15" y="376"/>
                    <a:pt x="13" y="379"/>
                    <a:pt x="13" y="380"/>
                  </a:cubicBezTo>
                  <a:cubicBezTo>
                    <a:pt x="14" y="385"/>
                    <a:pt x="25" y="386"/>
                    <a:pt x="29" y="387"/>
                  </a:cubicBezTo>
                  <a:cubicBezTo>
                    <a:pt x="51" y="393"/>
                    <a:pt x="51" y="393"/>
                    <a:pt x="51" y="393"/>
                  </a:cubicBezTo>
                  <a:cubicBezTo>
                    <a:pt x="79" y="400"/>
                    <a:pt x="154" y="418"/>
                    <a:pt x="182" y="425"/>
                  </a:cubicBezTo>
                  <a:close/>
                  <a:moveTo>
                    <a:pt x="182" y="425"/>
                  </a:moveTo>
                  <a:cubicBezTo>
                    <a:pt x="132" y="415"/>
                    <a:pt x="78" y="404"/>
                    <a:pt x="28" y="393"/>
                  </a:cubicBezTo>
                  <a:cubicBezTo>
                    <a:pt x="18" y="391"/>
                    <a:pt x="0" y="387"/>
                    <a:pt x="9" y="373"/>
                  </a:cubicBezTo>
                  <a:cubicBezTo>
                    <a:pt x="17" y="363"/>
                    <a:pt x="29" y="356"/>
                    <a:pt x="39" y="347"/>
                  </a:cubicBezTo>
                  <a:cubicBezTo>
                    <a:pt x="73" y="318"/>
                    <a:pt x="107" y="287"/>
                    <a:pt x="139" y="257"/>
                  </a:cubicBezTo>
                  <a:cubicBezTo>
                    <a:pt x="217" y="181"/>
                    <a:pt x="287" y="98"/>
                    <a:pt x="354" y="13"/>
                  </a:cubicBezTo>
                  <a:cubicBezTo>
                    <a:pt x="358" y="7"/>
                    <a:pt x="364" y="0"/>
                    <a:pt x="372" y="1"/>
                  </a:cubicBezTo>
                  <a:cubicBezTo>
                    <a:pt x="380" y="2"/>
                    <a:pt x="386" y="10"/>
                    <a:pt x="389" y="14"/>
                  </a:cubicBezTo>
                  <a:cubicBezTo>
                    <a:pt x="403" y="37"/>
                    <a:pt x="417" y="59"/>
                    <a:pt x="430" y="82"/>
                  </a:cubicBezTo>
                  <a:cubicBezTo>
                    <a:pt x="440" y="102"/>
                    <a:pt x="461" y="125"/>
                    <a:pt x="450" y="150"/>
                  </a:cubicBezTo>
                  <a:cubicBezTo>
                    <a:pt x="449" y="152"/>
                    <a:pt x="446" y="158"/>
                    <a:pt x="444" y="159"/>
                  </a:cubicBezTo>
                  <a:cubicBezTo>
                    <a:pt x="430" y="177"/>
                    <a:pt x="414" y="196"/>
                    <a:pt x="399" y="213"/>
                  </a:cubicBezTo>
                  <a:cubicBezTo>
                    <a:pt x="333" y="289"/>
                    <a:pt x="260" y="360"/>
                    <a:pt x="182" y="4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4"/>
              <a:endParaRPr lang="en-US">
                <a:solidFill>
                  <a:prstClr val="white"/>
                </a:solidFill>
              </a:endParaRPr>
            </a:p>
          </p:txBody>
        </p:sp>
        <p:sp>
          <p:nvSpPr>
            <p:cNvPr id="13" name="Freeform 12">
              <a:extLst>
                <a:ext uri="{FF2B5EF4-FFF2-40B4-BE49-F238E27FC236}">
                  <a16:creationId xmlns:a16="http://schemas.microsoft.com/office/drawing/2014/main" id="{FCE3BC3E-4EA4-5C67-AF44-035692112E23}"/>
                </a:ext>
              </a:extLst>
            </p:cNvPr>
            <p:cNvSpPr>
              <a:spLocks noEditPoints="1"/>
            </p:cNvSpPr>
            <p:nvPr/>
          </p:nvSpPr>
          <p:spPr bwMode="auto">
            <a:xfrm>
              <a:off x="2407" y="1281"/>
              <a:ext cx="1056" cy="989"/>
            </a:xfrm>
            <a:custGeom>
              <a:avLst/>
              <a:gdLst>
                <a:gd name="T0" fmla="*/ 183 w 445"/>
                <a:gd name="T1" fmla="*/ 417 h 417"/>
                <a:gd name="T2" fmla="*/ 363 w 445"/>
                <a:gd name="T3" fmla="*/ 215 h 417"/>
                <a:gd name="T4" fmla="*/ 417 w 445"/>
                <a:gd name="T5" fmla="*/ 143 h 417"/>
                <a:gd name="T6" fmla="*/ 418 w 445"/>
                <a:gd name="T7" fmla="*/ 113 h 417"/>
                <a:gd name="T8" fmla="*/ 353 w 445"/>
                <a:gd name="T9" fmla="*/ 21 h 417"/>
                <a:gd name="T10" fmla="*/ 344 w 445"/>
                <a:gd name="T11" fmla="*/ 15 h 417"/>
                <a:gd name="T12" fmla="*/ 337 w 445"/>
                <a:gd name="T13" fmla="*/ 22 h 417"/>
                <a:gd name="T14" fmla="*/ 305 w 445"/>
                <a:gd name="T15" fmla="*/ 66 h 417"/>
                <a:gd name="T16" fmla="*/ 136 w 445"/>
                <a:gd name="T17" fmla="*/ 268 h 417"/>
                <a:gd name="T18" fmla="*/ 40 w 445"/>
                <a:gd name="T19" fmla="*/ 358 h 417"/>
                <a:gd name="T20" fmla="*/ 14 w 445"/>
                <a:gd name="T21" fmla="*/ 383 h 417"/>
                <a:gd name="T22" fmla="*/ 32 w 445"/>
                <a:gd name="T23" fmla="*/ 391 h 417"/>
                <a:gd name="T24" fmla="*/ 53 w 445"/>
                <a:gd name="T25" fmla="*/ 394 h 417"/>
                <a:gd name="T26" fmla="*/ 183 w 445"/>
                <a:gd name="T27" fmla="*/ 417 h 417"/>
                <a:gd name="T28" fmla="*/ 183 w 445"/>
                <a:gd name="T29" fmla="*/ 417 h 417"/>
                <a:gd name="T30" fmla="*/ 53 w 445"/>
                <a:gd name="T31" fmla="*/ 399 h 417"/>
                <a:gd name="T32" fmla="*/ 31 w 445"/>
                <a:gd name="T33" fmla="*/ 396 h 417"/>
                <a:gd name="T34" fmla="*/ 8 w 445"/>
                <a:gd name="T35" fmla="*/ 389 h 417"/>
                <a:gd name="T36" fmla="*/ 35 w 445"/>
                <a:gd name="T37" fmla="*/ 353 h 417"/>
                <a:gd name="T38" fmla="*/ 67 w 445"/>
                <a:gd name="T39" fmla="*/ 323 h 417"/>
                <a:gd name="T40" fmla="*/ 321 w 445"/>
                <a:gd name="T41" fmla="*/ 24 h 417"/>
                <a:gd name="T42" fmla="*/ 333 w 445"/>
                <a:gd name="T43" fmla="*/ 8 h 417"/>
                <a:gd name="T44" fmla="*/ 358 w 445"/>
                <a:gd name="T45" fmla="*/ 9 h 417"/>
                <a:gd name="T46" fmla="*/ 406 w 445"/>
                <a:gd name="T47" fmla="*/ 76 h 417"/>
                <a:gd name="T48" fmla="*/ 425 w 445"/>
                <a:gd name="T49" fmla="*/ 148 h 417"/>
                <a:gd name="T50" fmla="*/ 183 w 445"/>
                <a:gd name="T51" fmla="*/ 417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45" h="417">
                  <a:moveTo>
                    <a:pt x="183" y="417"/>
                  </a:moveTo>
                  <a:cubicBezTo>
                    <a:pt x="247" y="353"/>
                    <a:pt x="307" y="286"/>
                    <a:pt x="363" y="215"/>
                  </a:cubicBezTo>
                  <a:cubicBezTo>
                    <a:pt x="382" y="191"/>
                    <a:pt x="399" y="167"/>
                    <a:pt x="417" y="143"/>
                  </a:cubicBezTo>
                  <a:cubicBezTo>
                    <a:pt x="424" y="134"/>
                    <a:pt x="424" y="122"/>
                    <a:pt x="418" y="113"/>
                  </a:cubicBezTo>
                  <a:cubicBezTo>
                    <a:pt x="398" y="81"/>
                    <a:pt x="375" y="51"/>
                    <a:pt x="353" y="21"/>
                  </a:cubicBezTo>
                  <a:cubicBezTo>
                    <a:pt x="351" y="18"/>
                    <a:pt x="347" y="15"/>
                    <a:pt x="344" y="15"/>
                  </a:cubicBezTo>
                  <a:cubicBezTo>
                    <a:pt x="341" y="15"/>
                    <a:pt x="339" y="19"/>
                    <a:pt x="337" y="22"/>
                  </a:cubicBezTo>
                  <a:cubicBezTo>
                    <a:pt x="326" y="37"/>
                    <a:pt x="316" y="52"/>
                    <a:pt x="305" y="66"/>
                  </a:cubicBezTo>
                  <a:cubicBezTo>
                    <a:pt x="253" y="137"/>
                    <a:pt x="198" y="205"/>
                    <a:pt x="136" y="268"/>
                  </a:cubicBezTo>
                  <a:cubicBezTo>
                    <a:pt x="105" y="299"/>
                    <a:pt x="73" y="329"/>
                    <a:pt x="40" y="358"/>
                  </a:cubicBezTo>
                  <a:cubicBezTo>
                    <a:pt x="32" y="367"/>
                    <a:pt x="20" y="373"/>
                    <a:pt x="14" y="383"/>
                  </a:cubicBezTo>
                  <a:cubicBezTo>
                    <a:pt x="11" y="389"/>
                    <a:pt x="29" y="389"/>
                    <a:pt x="32" y="391"/>
                  </a:cubicBezTo>
                  <a:cubicBezTo>
                    <a:pt x="32" y="391"/>
                    <a:pt x="53" y="394"/>
                    <a:pt x="53" y="394"/>
                  </a:cubicBezTo>
                  <a:cubicBezTo>
                    <a:pt x="81" y="399"/>
                    <a:pt x="155" y="412"/>
                    <a:pt x="183" y="417"/>
                  </a:cubicBezTo>
                  <a:close/>
                  <a:moveTo>
                    <a:pt x="183" y="417"/>
                  </a:moveTo>
                  <a:cubicBezTo>
                    <a:pt x="141" y="412"/>
                    <a:pt x="95" y="405"/>
                    <a:pt x="53" y="399"/>
                  </a:cubicBezTo>
                  <a:cubicBezTo>
                    <a:pt x="31" y="396"/>
                    <a:pt x="31" y="396"/>
                    <a:pt x="31" y="396"/>
                  </a:cubicBezTo>
                  <a:cubicBezTo>
                    <a:pt x="23" y="395"/>
                    <a:pt x="14" y="396"/>
                    <a:pt x="8" y="389"/>
                  </a:cubicBezTo>
                  <a:cubicBezTo>
                    <a:pt x="0" y="377"/>
                    <a:pt x="28" y="361"/>
                    <a:pt x="35" y="353"/>
                  </a:cubicBezTo>
                  <a:cubicBezTo>
                    <a:pt x="46" y="343"/>
                    <a:pt x="56" y="333"/>
                    <a:pt x="67" y="323"/>
                  </a:cubicBezTo>
                  <a:cubicBezTo>
                    <a:pt x="162" y="233"/>
                    <a:pt x="245" y="131"/>
                    <a:pt x="321" y="24"/>
                  </a:cubicBezTo>
                  <a:cubicBezTo>
                    <a:pt x="324" y="20"/>
                    <a:pt x="329" y="11"/>
                    <a:pt x="333" y="8"/>
                  </a:cubicBezTo>
                  <a:cubicBezTo>
                    <a:pt x="340" y="0"/>
                    <a:pt x="351" y="2"/>
                    <a:pt x="358" y="9"/>
                  </a:cubicBezTo>
                  <a:cubicBezTo>
                    <a:pt x="374" y="30"/>
                    <a:pt x="390" y="53"/>
                    <a:pt x="406" y="76"/>
                  </a:cubicBezTo>
                  <a:cubicBezTo>
                    <a:pt x="421" y="99"/>
                    <a:pt x="445" y="122"/>
                    <a:pt x="425" y="148"/>
                  </a:cubicBezTo>
                  <a:cubicBezTo>
                    <a:pt x="354" y="246"/>
                    <a:pt x="272" y="335"/>
                    <a:pt x="183" y="4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4"/>
              <a:endParaRPr lang="en-US">
                <a:solidFill>
                  <a:prstClr val="white"/>
                </a:solidFill>
              </a:endParaRPr>
            </a:p>
          </p:txBody>
        </p:sp>
        <p:sp>
          <p:nvSpPr>
            <p:cNvPr id="14" name="Freeform 13">
              <a:extLst>
                <a:ext uri="{FF2B5EF4-FFF2-40B4-BE49-F238E27FC236}">
                  <a16:creationId xmlns:a16="http://schemas.microsoft.com/office/drawing/2014/main" id="{73EA08AE-197E-B3FF-2BCB-1180D681AA7F}"/>
                </a:ext>
              </a:extLst>
            </p:cNvPr>
            <p:cNvSpPr>
              <a:spLocks noEditPoints="1"/>
            </p:cNvSpPr>
            <p:nvPr/>
          </p:nvSpPr>
          <p:spPr bwMode="auto">
            <a:xfrm>
              <a:off x="2163" y="956"/>
              <a:ext cx="1001" cy="954"/>
            </a:xfrm>
            <a:custGeom>
              <a:avLst/>
              <a:gdLst>
                <a:gd name="T0" fmla="*/ 189 w 422"/>
                <a:gd name="T1" fmla="*/ 402 h 402"/>
                <a:gd name="T2" fmla="*/ 356 w 422"/>
                <a:gd name="T3" fmla="*/ 201 h 402"/>
                <a:gd name="T4" fmla="*/ 405 w 422"/>
                <a:gd name="T5" fmla="*/ 130 h 402"/>
                <a:gd name="T6" fmla="*/ 404 w 422"/>
                <a:gd name="T7" fmla="*/ 102 h 402"/>
                <a:gd name="T8" fmla="*/ 334 w 422"/>
                <a:gd name="T9" fmla="*/ 22 h 402"/>
                <a:gd name="T10" fmla="*/ 321 w 422"/>
                <a:gd name="T11" fmla="*/ 19 h 402"/>
                <a:gd name="T12" fmla="*/ 313 w 422"/>
                <a:gd name="T13" fmla="*/ 32 h 402"/>
                <a:gd name="T14" fmla="*/ 188 w 422"/>
                <a:gd name="T15" fmla="*/ 205 h 402"/>
                <a:gd name="T16" fmla="*/ 73 w 422"/>
                <a:gd name="T17" fmla="*/ 330 h 402"/>
                <a:gd name="T18" fmla="*/ 27 w 422"/>
                <a:gd name="T19" fmla="*/ 375 h 402"/>
                <a:gd name="T20" fmla="*/ 20 w 422"/>
                <a:gd name="T21" fmla="*/ 384 h 402"/>
                <a:gd name="T22" fmla="*/ 31 w 422"/>
                <a:gd name="T23" fmla="*/ 388 h 402"/>
                <a:gd name="T24" fmla="*/ 41 w 422"/>
                <a:gd name="T25" fmla="*/ 389 h 402"/>
                <a:gd name="T26" fmla="*/ 62 w 422"/>
                <a:gd name="T27" fmla="*/ 391 h 402"/>
                <a:gd name="T28" fmla="*/ 189 w 422"/>
                <a:gd name="T29" fmla="*/ 402 h 402"/>
                <a:gd name="T30" fmla="*/ 189 w 422"/>
                <a:gd name="T31" fmla="*/ 402 h 402"/>
                <a:gd name="T32" fmla="*/ 41 w 422"/>
                <a:gd name="T33" fmla="*/ 395 h 402"/>
                <a:gd name="T34" fmla="*/ 19 w 422"/>
                <a:gd name="T35" fmla="*/ 392 h 402"/>
                <a:gd name="T36" fmla="*/ 37 w 422"/>
                <a:gd name="T37" fmla="*/ 355 h 402"/>
                <a:gd name="T38" fmla="*/ 125 w 422"/>
                <a:gd name="T39" fmla="*/ 263 h 402"/>
                <a:gd name="T40" fmla="*/ 279 w 422"/>
                <a:gd name="T41" fmla="*/ 61 h 402"/>
                <a:gd name="T42" fmla="*/ 303 w 422"/>
                <a:gd name="T43" fmla="*/ 26 h 402"/>
                <a:gd name="T44" fmla="*/ 314 w 422"/>
                <a:gd name="T45" fmla="*/ 10 h 402"/>
                <a:gd name="T46" fmla="*/ 343 w 422"/>
                <a:gd name="T47" fmla="*/ 14 h 402"/>
                <a:gd name="T48" fmla="*/ 413 w 422"/>
                <a:gd name="T49" fmla="*/ 96 h 402"/>
                <a:gd name="T50" fmla="*/ 414 w 422"/>
                <a:gd name="T51" fmla="*/ 135 h 402"/>
                <a:gd name="T52" fmla="*/ 363 w 422"/>
                <a:gd name="T53" fmla="*/ 206 h 402"/>
                <a:gd name="T54" fmla="*/ 189 w 422"/>
                <a:gd name="T55"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2" h="402">
                  <a:moveTo>
                    <a:pt x="189" y="402"/>
                  </a:moveTo>
                  <a:cubicBezTo>
                    <a:pt x="248" y="338"/>
                    <a:pt x="304" y="272"/>
                    <a:pt x="356" y="201"/>
                  </a:cubicBezTo>
                  <a:cubicBezTo>
                    <a:pt x="373" y="178"/>
                    <a:pt x="389" y="154"/>
                    <a:pt x="405" y="130"/>
                  </a:cubicBezTo>
                  <a:cubicBezTo>
                    <a:pt x="411" y="122"/>
                    <a:pt x="411" y="110"/>
                    <a:pt x="404" y="102"/>
                  </a:cubicBezTo>
                  <a:cubicBezTo>
                    <a:pt x="383" y="75"/>
                    <a:pt x="358" y="48"/>
                    <a:pt x="334" y="22"/>
                  </a:cubicBezTo>
                  <a:cubicBezTo>
                    <a:pt x="331" y="18"/>
                    <a:pt x="325" y="13"/>
                    <a:pt x="321" y="19"/>
                  </a:cubicBezTo>
                  <a:cubicBezTo>
                    <a:pt x="320" y="22"/>
                    <a:pt x="315" y="30"/>
                    <a:pt x="313" y="32"/>
                  </a:cubicBezTo>
                  <a:cubicBezTo>
                    <a:pt x="274" y="92"/>
                    <a:pt x="232" y="149"/>
                    <a:pt x="188" y="205"/>
                  </a:cubicBezTo>
                  <a:cubicBezTo>
                    <a:pt x="152" y="249"/>
                    <a:pt x="113" y="290"/>
                    <a:pt x="73" y="330"/>
                  </a:cubicBezTo>
                  <a:cubicBezTo>
                    <a:pt x="58" y="345"/>
                    <a:pt x="43" y="361"/>
                    <a:pt x="27" y="375"/>
                  </a:cubicBezTo>
                  <a:cubicBezTo>
                    <a:pt x="24" y="377"/>
                    <a:pt x="20" y="381"/>
                    <a:pt x="20" y="384"/>
                  </a:cubicBezTo>
                  <a:cubicBezTo>
                    <a:pt x="22" y="387"/>
                    <a:pt x="27" y="387"/>
                    <a:pt x="31" y="388"/>
                  </a:cubicBezTo>
                  <a:cubicBezTo>
                    <a:pt x="41" y="389"/>
                    <a:pt x="41" y="389"/>
                    <a:pt x="41" y="389"/>
                  </a:cubicBezTo>
                  <a:cubicBezTo>
                    <a:pt x="62" y="391"/>
                    <a:pt x="62" y="391"/>
                    <a:pt x="62" y="391"/>
                  </a:cubicBezTo>
                  <a:cubicBezTo>
                    <a:pt x="89" y="393"/>
                    <a:pt x="162" y="400"/>
                    <a:pt x="189" y="402"/>
                  </a:cubicBezTo>
                  <a:close/>
                  <a:moveTo>
                    <a:pt x="189" y="402"/>
                  </a:moveTo>
                  <a:cubicBezTo>
                    <a:pt x="141" y="400"/>
                    <a:pt x="89" y="397"/>
                    <a:pt x="41" y="395"/>
                  </a:cubicBezTo>
                  <a:cubicBezTo>
                    <a:pt x="35" y="394"/>
                    <a:pt x="25" y="394"/>
                    <a:pt x="19" y="392"/>
                  </a:cubicBezTo>
                  <a:cubicBezTo>
                    <a:pt x="0" y="382"/>
                    <a:pt x="31" y="363"/>
                    <a:pt x="37" y="355"/>
                  </a:cubicBezTo>
                  <a:cubicBezTo>
                    <a:pt x="67" y="325"/>
                    <a:pt x="96" y="294"/>
                    <a:pt x="125" y="263"/>
                  </a:cubicBezTo>
                  <a:cubicBezTo>
                    <a:pt x="181" y="199"/>
                    <a:pt x="232" y="131"/>
                    <a:pt x="279" y="61"/>
                  </a:cubicBezTo>
                  <a:cubicBezTo>
                    <a:pt x="287" y="49"/>
                    <a:pt x="295" y="38"/>
                    <a:pt x="303" y="26"/>
                  </a:cubicBezTo>
                  <a:cubicBezTo>
                    <a:pt x="306" y="22"/>
                    <a:pt x="311" y="14"/>
                    <a:pt x="314" y="10"/>
                  </a:cubicBezTo>
                  <a:cubicBezTo>
                    <a:pt x="323" y="0"/>
                    <a:pt x="336" y="5"/>
                    <a:pt x="343" y="14"/>
                  </a:cubicBezTo>
                  <a:cubicBezTo>
                    <a:pt x="366" y="40"/>
                    <a:pt x="392" y="68"/>
                    <a:pt x="413" y="96"/>
                  </a:cubicBezTo>
                  <a:cubicBezTo>
                    <a:pt x="422" y="107"/>
                    <a:pt x="422" y="126"/>
                    <a:pt x="414" y="135"/>
                  </a:cubicBezTo>
                  <a:cubicBezTo>
                    <a:pt x="397" y="160"/>
                    <a:pt x="381" y="183"/>
                    <a:pt x="363" y="206"/>
                  </a:cubicBezTo>
                  <a:cubicBezTo>
                    <a:pt x="310" y="276"/>
                    <a:pt x="252" y="341"/>
                    <a:pt x="189" y="4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4"/>
              <a:endParaRPr lang="en-US">
                <a:solidFill>
                  <a:prstClr val="white"/>
                </a:solidFill>
              </a:endParaRPr>
            </a:p>
          </p:txBody>
        </p:sp>
        <p:sp>
          <p:nvSpPr>
            <p:cNvPr id="15" name="Freeform 14">
              <a:extLst>
                <a:ext uri="{FF2B5EF4-FFF2-40B4-BE49-F238E27FC236}">
                  <a16:creationId xmlns:a16="http://schemas.microsoft.com/office/drawing/2014/main" id="{81053509-F672-B825-826A-32EC25F6A5B3}"/>
                </a:ext>
              </a:extLst>
            </p:cNvPr>
            <p:cNvSpPr>
              <a:spLocks noEditPoints="1"/>
            </p:cNvSpPr>
            <p:nvPr/>
          </p:nvSpPr>
          <p:spPr bwMode="auto">
            <a:xfrm>
              <a:off x="1952" y="667"/>
              <a:ext cx="904" cy="937"/>
            </a:xfrm>
            <a:custGeom>
              <a:avLst/>
              <a:gdLst>
                <a:gd name="T0" fmla="*/ 173 w 381"/>
                <a:gd name="T1" fmla="*/ 392 h 395"/>
                <a:gd name="T2" fmla="*/ 321 w 381"/>
                <a:gd name="T3" fmla="*/ 190 h 395"/>
                <a:gd name="T4" fmla="*/ 365 w 381"/>
                <a:gd name="T5" fmla="*/ 118 h 395"/>
                <a:gd name="T6" fmla="*/ 362 w 381"/>
                <a:gd name="T7" fmla="*/ 92 h 395"/>
                <a:gd name="T8" fmla="*/ 339 w 381"/>
                <a:gd name="T9" fmla="*/ 68 h 395"/>
                <a:gd name="T10" fmla="*/ 289 w 381"/>
                <a:gd name="T11" fmla="*/ 21 h 395"/>
                <a:gd name="T12" fmla="*/ 278 w 381"/>
                <a:gd name="T13" fmla="*/ 18 h 395"/>
                <a:gd name="T14" fmla="*/ 205 w 381"/>
                <a:gd name="T15" fmla="*/ 137 h 395"/>
                <a:gd name="T16" fmla="*/ 109 w 381"/>
                <a:gd name="T17" fmla="*/ 270 h 395"/>
                <a:gd name="T18" fmla="*/ 27 w 381"/>
                <a:gd name="T19" fmla="*/ 363 h 395"/>
                <a:gd name="T20" fmla="*/ 7 w 381"/>
                <a:gd name="T21" fmla="*/ 385 h 395"/>
                <a:gd name="T22" fmla="*/ 7 w 381"/>
                <a:gd name="T23" fmla="*/ 387 h 395"/>
                <a:gd name="T24" fmla="*/ 9 w 381"/>
                <a:gd name="T25" fmla="*/ 388 h 395"/>
                <a:gd name="T26" fmla="*/ 19 w 381"/>
                <a:gd name="T27" fmla="*/ 389 h 395"/>
                <a:gd name="T28" fmla="*/ 29 w 381"/>
                <a:gd name="T29" fmla="*/ 389 h 395"/>
                <a:gd name="T30" fmla="*/ 50 w 381"/>
                <a:gd name="T31" fmla="*/ 390 h 395"/>
                <a:gd name="T32" fmla="*/ 173 w 381"/>
                <a:gd name="T33" fmla="*/ 392 h 395"/>
                <a:gd name="T34" fmla="*/ 173 w 381"/>
                <a:gd name="T35" fmla="*/ 392 h 395"/>
                <a:gd name="T36" fmla="*/ 50 w 381"/>
                <a:gd name="T37" fmla="*/ 395 h 395"/>
                <a:gd name="T38" fmla="*/ 19 w 381"/>
                <a:gd name="T39" fmla="*/ 395 h 395"/>
                <a:gd name="T40" fmla="*/ 0 w 381"/>
                <a:gd name="T41" fmla="*/ 386 h 395"/>
                <a:gd name="T42" fmla="*/ 15 w 381"/>
                <a:gd name="T43" fmla="*/ 365 h 395"/>
                <a:gd name="T44" fmla="*/ 195 w 381"/>
                <a:gd name="T45" fmla="*/ 131 h 395"/>
                <a:gd name="T46" fmla="*/ 259 w 381"/>
                <a:gd name="T47" fmla="*/ 26 h 395"/>
                <a:gd name="T48" fmla="*/ 272 w 381"/>
                <a:gd name="T49" fmla="*/ 7 h 395"/>
                <a:gd name="T50" fmla="*/ 297 w 381"/>
                <a:gd name="T51" fmla="*/ 12 h 395"/>
                <a:gd name="T52" fmla="*/ 346 w 381"/>
                <a:gd name="T53" fmla="*/ 60 h 395"/>
                <a:gd name="T54" fmla="*/ 376 w 381"/>
                <a:gd name="T55" fmla="*/ 94 h 395"/>
                <a:gd name="T56" fmla="*/ 373 w 381"/>
                <a:gd name="T57" fmla="*/ 123 h 395"/>
                <a:gd name="T58" fmla="*/ 328 w 381"/>
                <a:gd name="T59" fmla="*/ 194 h 395"/>
                <a:gd name="T60" fmla="*/ 173 w 381"/>
                <a:gd name="T61" fmla="*/ 392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1" h="395">
                  <a:moveTo>
                    <a:pt x="173" y="392"/>
                  </a:moveTo>
                  <a:cubicBezTo>
                    <a:pt x="226" y="327"/>
                    <a:pt x="276" y="260"/>
                    <a:pt x="321" y="190"/>
                  </a:cubicBezTo>
                  <a:cubicBezTo>
                    <a:pt x="337" y="166"/>
                    <a:pt x="351" y="142"/>
                    <a:pt x="365" y="118"/>
                  </a:cubicBezTo>
                  <a:cubicBezTo>
                    <a:pt x="370" y="110"/>
                    <a:pt x="369" y="99"/>
                    <a:pt x="362" y="92"/>
                  </a:cubicBezTo>
                  <a:cubicBezTo>
                    <a:pt x="355" y="84"/>
                    <a:pt x="347" y="76"/>
                    <a:pt x="339" y="68"/>
                  </a:cubicBezTo>
                  <a:cubicBezTo>
                    <a:pt x="322" y="52"/>
                    <a:pt x="306" y="36"/>
                    <a:pt x="289" y="21"/>
                  </a:cubicBezTo>
                  <a:cubicBezTo>
                    <a:pt x="287" y="18"/>
                    <a:pt x="281" y="13"/>
                    <a:pt x="278" y="18"/>
                  </a:cubicBezTo>
                  <a:cubicBezTo>
                    <a:pt x="255" y="58"/>
                    <a:pt x="231" y="98"/>
                    <a:pt x="205" y="137"/>
                  </a:cubicBezTo>
                  <a:cubicBezTo>
                    <a:pt x="175" y="183"/>
                    <a:pt x="143" y="228"/>
                    <a:pt x="109" y="270"/>
                  </a:cubicBezTo>
                  <a:cubicBezTo>
                    <a:pt x="82" y="302"/>
                    <a:pt x="55" y="333"/>
                    <a:pt x="27" y="363"/>
                  </a:cubicBezTo>
                  <a:cubicBezTo>
                    <a:pt x="21" y="370"/>
                    <a:pt x="12" y="377"/>
                    <a:pt x="7" y="385"/>
                  </a:cubicBezTo>
                  <a:cubicBezTo>
                    <a:pt x="7" y="386"/>
                    <a:pt x="7" y="387"/>
                    <a:pt x="7" y="387"/>
                  </a:cubicBezTo>
                  <a:cubicBezTo>
                    <a:pt x="7" y="387"/>
                    <a:pt x="8" y="388"/>
                    <a:pt x="9" y="388"/>
                  </a:cubicBezTo>
                  <a:cubicBezTo>
                    <a:pt x="12" y="389"/>
                    <a:pt x="16" y="389"/>
                    <a:pt x="19" y="389"/>
                  </a:cubicBezTo>
                  <a:cubicBezTo>
                    <a:pt x="29" y="389"/>
                    <a:pt x="29" y="389"/>
                    <a:pt x="29" y="389"/>
                  </a:cubicBezTo>
                  <a:cubicBezTo>
                    <a:pt x="50" y="390"/>
                    <a:pt x="50" y="390"/>
                    <a:pt x="50" y="390"/>
                  </a:cubicBezTo>
                  <a:cubicBezTo>
                    <a:pt x="75" y="390"/>
                    <a:pt x="146" y="392"/>
                    <a:pt x="173" y="392"/>
                  </a:cubicBezTo>
                  <a:close/>
                  <a:moveTo>
                    <a:pt x="173" y="392"/>
                  </a:moveTo>
                  <a:cubicBezTo>
                    <a:pt x="133" y="394"/>
                    <a:pt x="89" y="394"/>
                    <a:pt x="50" y="395"/>
                  </a:cubicBezTo>
                  <a:cubicBezTo>
                    <a:pt x="43" y="395"/>
                    <a:pt x="25" y="395"/>
                    <a:pt x="19" y="395"/>
                  </a:cubicBezTo>
                  <a:cubicBezTo>
                    <a:pt x="12" y="395"/>
                    <a:pt x="0" y="395"/>
                    <a:pt x="0" y="386"/>
                  </a:cubicBezTo>
                  <a:cubicBezTo>
                    <a:pt x="2" y="377"/>
                    <a:pt x="9" y="371"/>
                    <a:pt x="15" y="365"/>
                  </a:cubicBezTo>
                  <a:cubicBezTo>
                    <a:pt x="81" y="292"/>
                    <a:pt x="142" y="214"/>
                    <a:pt x="195" y="131"/>
                  </a:cubicBezTo>
                  <a:cubicBezTo>
                    <a:pt x="217" y="96"/>
                    <a:pt x="239" y="62"/>
                    <a:pt x="259" y="26"/>
                  </a:cubicBezTo>
                  <a:cubicBezTo>
                    <a:pt x="263" y="21"/>
                    <a:pt x="266" y="12"/>
                    <a:pt x="272" y="7"/>
                  </a:cubicBezTo>
                  <a:cubicBezTo>
                    <a:pt x="280" y="0"/>
                    <a:pt x="292" y="6"/>
                    <a:pt x="297" y="12"/>
                  </a:cubicBezTo>
                  <a:cubicBezTo>
                    <a:pt x="314" y="28"/>
                    <a:pt x="330" y="44"/>
                    <a:pt x="346" y="60"/>
                  </a:cubicBezTo>
                  <a:cubicBezTo>
                    <a:pt x="356" y="71"/>
                    <a:pt x="368" y="81"/>
                    <a:pt x="376" y="94"/>
                  </a:cubicBezTo>
                  <a:cubicBezTo>
                    <a:pt x="381" y="103"/>
                    <a:pt x="378" y="117"/>
                    <a:pt x="373" y="123"/>
                  </a:cubicBezTo>
                  <a:cubicBezTo>
                    <a:pt x="359" y="147"/>
                    <a:pt x="344" y="171"/>
                    <a:pt x="328" y="194"/>
                  </a:cubicBezTo>
                  <a:cubicBezTo>
                    <a:pt x="281" y="264"/>
                    <a:pt x="229" y="330"/>
                    <a:pt x="173" y="3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4"/>
              <a:endParaRPr lang="en-US">
                <a:solidFill>
                  <a:prstClr val="white"/>
                </a:solidFill>
              </a:endParaRPr>
            </a:p>
          </p:txBody>
        </p:sp>
      </p:grpSp>
    </p:spTree>
    <p:extLst>
      <p:ext uri="{BB962C8B-B14F-4D97-AF65-F5344CB8AC3E}">
        <p14:creationId xmlns:p14="http://schemas.microsoft.com/office/powerpoint/2010/main" val="7802813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grpSp>
        <p:nvGrpSpPr>
          <p:cNvPr id="7" name="Group 6"/>
          <p:cNvGrpSpPr/>
          <p:nvPr userDrawn="1"/>
        </p:nvGrpSpPr>
        <p:grpSpPr>
          <a:xfrm>
            <a:off x="2" y="0"/>
            <a:ext cx="12191999" cy="6861923"/>
            <a:chOff x="12598961" y="-1"/>
            <a:chExt cx="12191999" cy="6861923"/>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961" y="-1"/>
              <a:ext cx="12191999" cy="6861923"/>
            </a:xfrm>
            <a:prstGeom prst="rect">
              <a:avLst/>
            </a:prstGeom>
            <a:solidFill>
              <a:srgbClr val="00B0F0"/>
            </a:solidFill>
            <a:ln>
              <a:noFill/>
            </a:ln>
            <a:effectLst>
              <a:outerShdw blurRad="152400" dist="50800" dir="5400000" algn="ctr" rotWithShape="0">
                <a:srgbClr val="000000">
                  <a:alpha val="0"/>
                </a:srgbClr>
              </a:outerShdw>
              <a:softEdge rad="0"/>
            </a:effectLst>
          </p:spPr>
        </p:pic>
        <p:sp>
          <p:nvSpPr>
            <p:cNvPr id="9" name="Pentagon 8"/>
            <p:cNvSpPr/>
            <p:nvPr userDrawn="1"/>
          </p:nvSpPr>
          <p:spPr>
            <a:xfrm>
              <a:off x="12598961" y="0"/>
              <a:ext cx="12191999" cy="6861922"/>
            </a:xfrm>
            <a:prstGeom prst="homePlate">
              <a:avLst>
                <a:gd name="adj" fmla="val 0"/>
              </a:avLst>
            </a:prstGeom>
            <a:solidFill>
              <a:srgbClr val="00B0F0">
                <a:alpha val="1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US" sz="1351">
                <a:solidFill>
                  <a:prstClr val="black"/>
                </a:solidFill>
              </a:endParaRPr>
            </a:p>
          </p:txBody>
        </p:sp>
      </p:grpSp>
      <p:sp>
        <p:nvSpPr>
          <p:cNvPr id="10" name="Arc 9"/>
          <p:cNvSpPr/>
          <p:nvPr userDrawn="1"/>
        </p:nvSpPr>
        <p:spPr>
          <a:xfrm rot="16200000">
            <a:off x="-944973" y="307741"/>
            <a:ext cx="7389991" cy="5486097"/>
          </a:xfrm>
          <a:prstGeom prst="arc">
            <a:avLst>
              <a:gd name="adj1" fmla="val 10736553"/>
              <a:gd name="adj2" fmla="val 19727626"/>
            </a:avLst>
          </a:prstGeom>
          <a:ln>
            <a:solidFill>
              <a:srgbClr val="3F599D"/>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defTabSz="914354"/>
            <a:endParaRPr lang="en-US" sz="1351" dirty="0">
              <a:solidFill>
                <a:prstClr val="black"/>
              </a:solidFill>
            </a:endParaRPr>
          </a:p>
        </p:txBody>
      </p:sp>
      <p:grpSp>
        <p:nvGrpSpPr>
          <p:cNvPr id="11" name="Group 10">
            <a:extLst>
              <a:ext uri="{FF2B5EF4-FFF2-40B4-BE49-F238E27FC236}">
                <a16:creationId xmlns:a16="http://schemas.microsoft.com/office/drawing/2014/main" id="{36D64FDC-E7B2-82F1-5A0F-381282D8D97A}"/>
              </a:ext>
            </a:extLst>
          </p:cNvPr>
          <p:cNvGrpSpPr>
            <a:grpSpLocks noChangeAspect="1"/>
          </p:cNvGrpSpPr>
          <p:nvPr userDrawn="1"/>
        </p:nvGrpSpPr>
        <p:grpSpPr bwMode="auto">
          <a:xfrm>
            <a:off x="9523289" y="-1314503"/>
            <a:ext cx="3807563" cy="4321749"/>
            <a:chOff x="1952" y="667"/>
            <a:chExt cx="1755" cy="1992"/>
          </a:xfrm>
          <a:solidFill>
            <a:schemeClr val="bg1">
              <a:alpha val="25000"/>
            </a:schemeClr>
          </a:solidFill>
        </p:grpSpPr>
        <p:sp>
          <p:nvSpPr>
            <p:cNvPr id="12" name="Freeform 11">
              <a:extLst>
                <a:ext uri="{FF2B5EF4-FFF2-40B4-BE49-F238E27FC236}">
                  <a16:creationId xmlns:a16="http://schemas.microsoft.com/office/drawing/2014/main" id="{019864D3-0A89-E1FA-8394-6F8F2199F832}"/>
                </a:ext>
              </a:extLst>
            </p:cNvPr>
            <p:cNvSpPr>
              <a:spLocks noEditPoints="1"/>
            </p:cNvSpPr>
            <p:nvPr/>
          </p:nvSpPr>
          <p:spPr bwMode="auto">
            <a:xfrm>
              <a:off x="2614" y="1651"/>
              <a:ext cx="1093" cy="1008"/>
            </a:xfrm>
            <a:custGeom>
              <a:avLst/>
              <a:gdLst>
                <a:gd name="T0" fmla="*/ 182 w 461"/>
                <a:gd name="T1" fmla="*/ 425 h 425"/>
                <a:gd name="T2" fmla="*/ 378 w 461"/>
                <a:gd name="T3" fmla="*/ 225 h 425"/>
                <a:gd name="T4" fmla="*/ 436 w 461"/>
                <a:gd name="T5" fmla="*/ 153 h 425"/>
                <a:gd name="T6" fmla="*/ 441 w 461"/>
                <a:gd name="T7" fmla="*/ 146 h 425"/>
                <a:gd name="T8" fmla="*/ 439 w 461"/>
                <a:gd name="T9" fmla="*/ 121 h 425"/>
                <a:gd name="T10" fmla="*/ 420 w 461"/>
                <a:gd name="T11" fmla="*/ 88 h 425"/>
                <a:gd name="T12" fmla="*/ 379 w 461"/>
                <a:gd name="T13" fmla="*/ 21 h 425"/>
                <a:gd name="T14" fmla="*/ 371 w 461"/>
                <a:gd name="T15" fmla="*/ 13 h 425"/>
                <a:gd name="T16" fmla="*/ 363 w 461"/>
                <a:gd name="T17" fmla="*/ 20 h 425"/>
                <a:gd name="T18" fmla="*/ 356 w 461"/>
                <a:gd name="T19" fmla="*/ 29 h 425"/>
                <a:gd name="T20" fmla="*/ 328 w 461"/>
                <a:gd name="T21" fmla="*/ 64 h 425"/>
                <a:gd name="T22" fmla="*/ 146 w 461"/>
                <a:gd name="T23" fmla="*/ 264 h 425"/>
                <a:gd name="T24" fmla="*/ 44 w 461"/>
                <a:gd name="T25" fmla="*/ 353 h 425"/>
                <a:gd name="T26" fmla="*/ 18 w 461"/>
                <a:gd name="T27" fmla="*/ 373 h 425"/>
                <a:gd name="T28" fmla="*/ 13 w 461"/>
                <a:gd name="T29" fmla="*/ 380 h 425"/>
                <a:gd name="T30" fmla="*/ 29 w 461"/>
                <a:gd name="T31" fmla="*/ 387 h 425"/>
                <a:gd name="T32" fmla="*/ 51 w 461"/>
                <a:gd name="T33" fmla="*/ 393 h 425"/>
                <a:gd name="T34" fmla="*/ 182 w 461"/>
                <a:gd name="T35" fmla="*/ 425 h 425"/>
                <a:gd name="T36" fmla="*/ 182 w 461"/>
                <a:gd name="T37" fmla="*/ 425 h 425"/>
                <a:gd name="T38" fmla="*/ 28 w 461"/>
                <a:gd name="T39" fmla="*/ 393 h 425"/>
                <a:gd name="T40" fmla="*/ 9 w 461"/>
                <a:gd name="T41" fmla="*/ 373 h 425"/>
                <a:gd name="T42" fmla="*/ 39 w 461"/>
                <a:gd name="T43" fmla="*/ 347 h 425"/>
                <a:gd name="T44" fmla="*/ 139 w 461"/>
                <a:gd name="T45" fmla="*/ 257 h 425"/>
                <a:gd name="T46" fmla="*/ 354 w 461"/>
                <a:gd name="T47" fmla="*/ 13 h 425"/>
                <a:gd name="T48" fmla="*/ 372 w 461"/>
                <a:gd name="T49" fmla="*/ 1 h 425"/>
                <a:gd name="T50" fmla="*/ 389 w 461"/>
                <a:gd name="T51" fmla="*/ 14 h 425"/>
                <a:gd name="T52" fmla="*/ 430 w 461"/>
                <a:gd name="T53" fmla="*/ 82 h 425"/>
                <a:gd name="T54" fmla="*/ 450 w 461"/>
                <a:gd name="T55" fmla="*/ 150 h 425"/>
                <a:gd name="T56" fmla="*/ 444 w 461"/>
                <a:gd name="T57" fmla="*/ 159 h 425"/>
                <a:gd name="T58" fmla="*/ 399 w 461"/>
                <a:gd name="T59" fmla="*/ 213 h 425"/>
                <a:gd name="T60" fmla="*/ 182 w 461"/>
                <a:gd name="T61"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1" h="425">
                  <a:moveTo>
                    <a:pt x="182" y="425"/>
                  </a:moveTo>
                  <a:cubicBezTo>
                    <a:pt x="251" y="362"/>
                    <a:pt x="317" y="295"/>
                    <a:pt x="378" y="225"/>
                  </a:cubicBezTo>
                  <a:cubicBezTo>
                    <a:pt x="398" y="202"/>
                    <a:pt x="417" y="177"/>
                    <a:pt x="436" y="153"/>
                  </a:cubicBezTo>
                  <a:cubicBezTo>
                    <a:pt x="438" y="151"/>
                    <a:pt x="440" y="148"/>
                    <a:pt x="441" y="146"/>
                  </a:cubicBezTo>
                  <a:cubicBezTo>
                    <a:pt x="444" y="138"/>
                    <a:pt x="443" y="129"/>
                    <a:pt x="439" y="121"/>
                  </a:cubicBezTo>
                  <a:cubicBezTo>
                    <a:pt x="434" y="110"/>
                    <a:pt x="427" y="99"/>
                    <a:pt x="420" y="88"/>
                  </a:cubicBezTo>
                  <a:cubicBezTo>
                    <a:pt x="407" y="65"/>
                    <a:pt x="393" y="43"/>
                    <a:pt x="379" y="21"/>
                  </a:cubicBezTo>
                  <a:cubicBezTo>
                    <a:pt x="377" y="17"/>
                    <a:pt x="374" y="13"/>
                    <a:pt x="371" y="13"/>
                  </a:cubicBezTo>
                  <a:cubicBezTo>
                    <a:pt x="367" y="13"/>
                    <a:pt x="366" y="17"/>
                    <a:pt x="363" y="20"/>
                  </a:cubicBezTo>
                  <a:cubicBezTo>
                    <a:pt x="356" y="29"/>
                    <a:pt x="356" y="29"/>
                    <a:pt x="356" y="29"/>
                  </a:cubicBezTo>
                  <a:cubicBezTo>
                    <a:pt x="347" y="41"/>
                    <a:pt x="338" y="53"/>
                    <a:pt x="328" y="64"/>
                  </a:cubicBezTo>
                  <a:cubicBezTo>
                    <a:pt x="272" y="134"/>
                    <a:pt x="212" y="202"/>
                    <a:pt x="146" y="264"/>
                  </a:cubicBezTo>
                  <a:cubicBezTo>
                    <a:pt x="113" y="295"/>
                    <a:pt x="79" y="324"/>
                    <a:pt x="44" y="353"/>
                  </a:cubicBezTo>
                  <a:cubicBezTo>
                    <a:pt x="35" y="360"/>
                    <a:pt x="26" y="366"/>
                    <a:pt x="18" y="373"/>
                  </a:cubicBezTo>
                  <a:cubicBezTo>
                    <a:pt x="15" y="376"/>
                    <a:pt x="13" y="379"/>
                    <a:pt x="13" y="380"/>
                  </a:cubicBezTo>
                  <a:cubicBezTo>
                    <a:pt x="14" y="385"/>
                    <a:pt x="25" y="386"/>
                    <a:pt x="29" y="387"/>
                  </a:cubicBezTo>
                  <a:cubicBezTo>
                    <a:pt x="51" y="393"/>
                    <a:pt x="51" y="393"/>
                    <a:pt x="51" y="393"/>
                  </a:cubicBezTo>
                  <a:cubicBezTo>
                    <a:pt x="79" y="400"/>
                    <a:pt x="154" y="418"/>
                    <a:pt x="182" y="425"/>
                  </a:cubicBezTo>
                  <a:close/>
                  <a:moveTo>
                    <a:pt x="182" y="425"/>
                  </a:moveTo>
                  <a:cubicBezTo>
                    <a:pt x="132" y="415"/>
                    <a:pt x="78" y="404"/>
                    <a:pt x="28" y="393"/>
                  </a:cubicBezTo>
                  <a:cubicBezTo>
                    <a:pt x="18" y="391"/>
                    <a:pt x="0" y="387"/>
                    <a:pt x="9" y="373"/>
                  </a:cubicBezTo>
                  <a:cubicBezTo>
                    <a:pt x="17" y="363"/>
                    <a:pt x="29" y="356"/>
                    <a:pt x="39" y="347"/>
                  </a:cubicBezTo>
                  <a:cubicBezTo>
                    <a:pt x="73" y="318"/>
                    <a:pt x="107" y="287"/>
                    <a:pt x="139" y="257"/>
                  </a:cubicBezTo>
                  <a:cubicBezTo>
                    <a:pt x="217" y="181"/>
                    <a:pt x="287" y="98"/>
                    <a:pt x="354" y="13"/>
                  </a:cubicBezTo>
                  <a:cubicBezTo>
                    <a:pt x="358" y="7"/>
                    <a:pt x="364" y="0"/>
                    <a:pt x="372" y="1"/>
                  </a:cubicBezTo>
                  <a:cubicBezTo>
                    <a:pt x="380" y="2"/>
                    <a:pt x="386" y="10"/>
                    <a:pt x="389" y="14"/>
                  </a:cubicBezTo>
                  <a:cubicBezTo>
                    <a:pt x="403" y="37"/>
                    <a:pt x="417" y="59"/>
                    <a:pt x="430" y="82"/>
                  </a:cubicBezTo>
                  <a:cubicBezTo>
                    <a:pt x="440" y="102"/>
                    <a:pt x="461" y="125"/>
                    <a:pt x="450" y="150"/>
                  </a:cubicBezTo>
                  <a:cubicBezTo>
                    <a:pt x="449" y="152"/>
                    <a:pt x="446" y="158"/>
                    <a:pt x="444" y="159"/>
                  </a:cubicBezTo>
                  <a:cubicBezTo>
                    <a:pt x="430" y="177"/>
                    <a:pt x="414" y="196"/>
                    <a:pt x="399" y="213"/>
                  </a:cubicBezTo>
                  <a:cubicBezTo>
                    <a:pt x="333" y="289"/>
                    <a:pt x="260" y="360"/>
                    <a:pt x="182" y="4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4"/>
              <a:endParaRPr lang="en-US">
                <a:solidFill>
                  <a:prstClr val="white"/>
                </a:solidFill>
              </a:endParaRPr>
            </a:p>
          </p:txBody>
        </p:sp>
        <p:sp>
          <p:nvSpPr>
            <p:cNvPr id="13" name="Freeform 12">
              <a:extLst>
                <a:ext uri="{FF2B5EF4-FFF2-40B4-BE49-F238E27FC236}">
                  <a16:creationId xmlns:a16="http://schemas.microsoft.com/office/drawing/2014/main" id="{FCE3BC3E-4EA4-5C67-AF44-035692112E23}"/>
                </a:ext>
              </a:extLst>
            </p:cNvPr>
            <p:cNvSpPr>
              <a:spLocks noEditPoints="1"/>
            </p:cNvSpPr>
            <p:nvPr/>
          </p:nvSpPr>
          <p:spPr bwMode="auto">
            <a:xfrm>
              <a:off x="2407" y="1281"/>
              <a:ext cx="1056" cy="989"/>
            </a:xfrm>
            <a:custGeom>
              <a:avLst/>
              <a:gdLst>
                <a:gd name="T0" fmla="*/ 183 w 445"/>
                <a:gd name="T1" fmla="*/ 417 h 417"/>
                <a:gd name="T2" fmla="*/ 363 w 445"/>
                <a:gd name="T3" fmla="*/ 215 h 417"/>
                <a:gd name="T4" fmla="*/ 417 w 445"/>
                <a:gd name="T5" fmla="*/ 143 h 417"/>
                <a:gd name="T6" fmla="*/ 418 w 445"/>
                <a:gd name="T7" fmla="*/ 113 h 417"/>
                <a:gd name="T8" fmla="*/ 353 w 445"/>
                <a:gd name="T9" fmla="*/ 21 h 417"/>
                <a:gd name="T10" fmla="*/ 344 w 445"/>
                <a:gd name="T11" fmla="*/ 15 h 417"/>
                <a:gd name="T12" fmla="*/ 337 w 445"/>
                <a:gd name="T13" fmla="*/ 22 h 417"/>
                <a:gd name="T14" fmla="*/ 305 w 445"/>
                <a:gd name="T15" fmla="*/ 66 h 417"/>
                <a:gd name="T16" fmla="*/ 136 w 445"/>
                <a:gd name="T17" fmla="*/ 268 h 417"/>
                <a:gd name="T18" fmla="*/ 40 w 445"/>
                <a:gd name="T19" fmla="*/ 358 h 417"/>
                <a:gd name="T20" fmla="*/ 14 w 445"/>
                <a:gd name="T21" fmla="*/ 383 h 417"/>
                <a:gd name="T22" fmla="*/ 32 w 445"/>
                <a:gd name="T23" fmla="*/ 391 h 417"/>
                <a:gd name="T24" fmla="*/ 53 w 445"/>
                <a:gd name="T25" fmla="*/ 394 h 417"/>
                <a:gd name="T26" fmla="*/ 183 w 445"/>
                <a:gd name="T27" fmla="*/ 417 h 417"/>
                <a:gd name="T28" fmla="*/ 183 w 445"/>
                <a:gd name="T29" fmla="*/ 417 h 417"/>
                <a:gd name="T30" fmla="*/ 53 w 445"/>
                <a:gd name="T31" fmla="*/ 399 h 417"/>
                <a:gd name="T32" fmla="*/ 31 w 445"/>
                <a:gd name="T33" fmla="*/ 396 h 417"/>
                <a:gd name="T34" fmla="*/ 8 w 445"/>
                <a:gd name="T35" fmla="*/ 389 h 417"/>
                <a:gd name="T36" fmla="*/ 35 w 445"/>
                <a:gd name="T37" fmla="*/ 353 h 417"/>
                <a:gd name="T38" fmla="*/ 67 w 445"/>
                <a:gd name="T39" fmla="*/ 323 h 417"/>
                <a:gd name="T40" fmla="*/ 321 w 445"/>
                <a:gd name="T41" fmla="*/ 24 h 417"/>
                <a:gd name="T42" fmla="*/ 333 w 445"/>
                <a:gd name="T43" fmla="*/ 8 h 417"/>
                <a:gd name="T44" fmla="*/ 358 w 445"/>
                <a:gd name="T45" fmla="*/ 9 h 417"/>
                <a:gd name="T46" fmla="*/ 406 w 445"/>
                <a:gd name="T47" fmla="*/ 76 h 417"/>
                <a:gd name="T48" fmla="*/ 425 w 445"/>
                <a:gd name="T49" fmla="*/ 148 h 417"/>
                <a:gd name="T50" fmla="*/ 183 w 445"/>
                <a:gd name="T51" fmla="*/ 417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45" h="417">
                  <a:moveTo>
                    <a:pt x="183" y="417"/>
                  </a:moveTo>
                  <a:cubicBezTo>
                    <a:pt x="247" y="353"/>
                    <a:pt x="307" y="286"/>
                    <a:pt x="363" y="215"/>
                  </a:cubicBezTo>
                  <a:cubicBezTo>
                    <a:pt x="382" y="191"/>
                    <a:pt x="399" y="167"/>
                    <a:pt x="417" y="143"/>
                  </a:cubicBezTo>
                  <a:cubicBezTo>
                    <a:pt x="424" y="134"/>
                    <a:pt x="424" y="122"/>
                    <a:pt x="418" y="113"/>
                  </a:cubicBezTo>
                  <a:cubicBezTo>
                    <a:pt x="398" y="81"/>
                    <a:pt x="375" y="51"/>
                    <a:pt x="353" y="21"/>
                  </a:cubicBezTo>
                  <a:cubicBezTo>
                    <a:pt x="351" y="18"/>
                    <a:pt x="347" y="15"/>
                    <a:pt x="344" y="15"/>
                  </a:cubicBezTo>
                  <a:cubicBezTo>
                    <a:pt x="341" y="15"/>
                    <a:pt x="339" y="19"/>
                    <a:pt x="337" y="22"/>
                  </a:cubicBezTo>
                  <a:cubicBezTo>
                    <a:pt x="326" y="37"/>
                    <a:pt x="316" y="52"/>
                    <a:pt x="305" y="66"/>
                  </a:cubicBezTo>
                  <a:cubicBezTo>
                    <a:pt x="253" y="137"/>
                    <a:pt x="198" y="205"/>
                    <a:pt x="136" y="268"/>
                  </a:cubicBezTo>
                  <a:cubicBezTo>
                    <a:pt x="105" y="299"/>
                    <a:pt x="73" y="329"/>
                    <a:pt x="40" y="358"/>
                  </a:cubicBezTo>
                  <a:cubicBezTo>
                    <a:pt x="32" y="367"/>
                    <a:pt x="20" y="373"/>
                    <a:pt x="14" y="383"/>
                  </a:cubicBezTo>
                  <a:cubicBezTo>
                    <a:pt x="11" y="389"/>
                    <a:pt x="29" y="389"/>
                    <a:pt x="32" y="391"/>
                  </a:cubicBezTo>
                  <a:cubicBezTo>
                    <a:pt x="32" y="391"/>
                    <a:pt x="53" y="394"/>
                    <a:pt x="53" y="394"/>
                  </a:cubicBezTo>
                  <a:cubicBezTo>
                    <a:pt x="81" y="399"/>
                    <a:pt x="155" y="412"/>
                    <a:pt x="183" y="417"/>
                  </a:cubicBezTo>
                  <a:close/>
                  <a:moveTo>
                    <a:pt x="183" y="417"/>
                  </a:moveTo>
                  <a:cubicBezTo>
                    <a:pt x="141" y="412"/>
                    <a:pt x="95" y="405"/>
                    <a:pt x="53" y="399"/>
                  </a:cubicBezTo>
                  <a:cubicBezTo>
                    <a:pt x="31" y="396"/>
                    <a:pt x="31" y="396"/>
                    <a:pt x="31" y="396"/>
                  </a:cubicBezTo>
                  <a:cubicBezTo>
                    <a:pt x="23" y="395"/>
                    <a:pt x="14" y="396"/>
                    <a:pt x="8" y="389"/>
                  </a:cubicBezTo>
                  <a:cubicBezTo>
                    <a:pt x="0" y="377"/>
                    <a:pt x="28" y="361"/>
                    <a:pt x="35" y="353"/>
                  </a:cubicBezTo>
                  <a:cubicBezTo>
                    <a:pt x="46" y="343"/>
                    <a:pt x="56" y="333"/>
                    <a:pt x="67" y="323"/>
                  </a:cubicBezTo>
                  <a:cubicBezTo>
                    <a:pt x="162" y="233"/>
                    <a:pt x="245" y="131"/>
                    <a:pt x="321" y="24"/>
                  </a:cubicBezTo>
                  <a:cubicBezTo>
                    <a:pt x="324" y="20"/>
                    <a:pt x="329" y="11"/>
                    <a:pt x="333" y="8"/>
                  </a:cubicBezTo>
                  <a:cubicBezTo>
                    <a:pt x="340" y="0"/>
                    <a:pt x="351" y="2"/>
                    <a:pt x="358" y="9"/>
                  </a:cubicBezTo>
                  <a:cubicBezTo>
                    <a:pt x="374" y="30"/>
                    <a:pt x="390" y="53"/>
                    <a:pt x="406" y="76"/>
                  </a:cubicBezTo>
                  <a:cubicBezTo>
                    <a:pt x="421" y="99"/>
                    <a:pt x="445" y="122"/>
                    <a:pt x="425" y="148"/>
                  </a:cubicBezTo>
                  <a:cubicBezTo>
                    <a:pt x="354" y="246"/>
                    <a:pt x="272" y="335"/>
                    <a:pt x="183" y="4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4"/>
              <a:endParaRPr lang="en-US">
                <a:solidFill>
                  <a:prstClr val="white"/>
                </a:solidFill>
              </a:endParaRPr>
            </a:p>
          </p:txBody>
        </p:sp>
        <p:sp>
          <p:nvSpPr>
            <p:cNvPr id="14" name="Freeform 13">
              <a:extLst>
                <a:ext uri="{FF2B5EF4-FFF2-40B4-BE49-F238E27FC236}">
                  <a16:creationId xmlns:a16="http://schemas.microsoft.com/office/drawing/2014/main" id="{73EA08AE-197E-B3FF-2BCB-1180D681AA7F}"/>
                </a:ext>
              </a:extLst>
            </p:cNvPr>
            <p:cNvSpPr>
              <a:spLocks noEditPoints="1"/>
            </p:cNvSpPr>
            <p:nvPr/>
          </p:nvSpPr>
          <p:spPr bwMode="auto">
            <a:xfrm>
              <a:off x="2163" y="956"/>
              <a:ext cx="1001" cy="954"/>
            </a:xfrm>
            <a:custGeom>
              <a:avLst/>
              <a:gdLst>
                <a:gd name="T0" fmla="*/ 189 w 422"/>
                <a:gd name="T1" fmla="*/ 402 h 402"/>
                <a:gd name="T2" fmla="*/ 356 w 422"/>
                <a:gd name="T3" fmla="*/ 201 h 402"/>
                <a:gd name="T4" fmla="*/ 405 w 422"/>
                <a:gd name="T5" fmla="*/ 130 h 402"/>
                <a:gd name="T6" fmla="*/ 404 w 422"/>
                <a:gd name="T7" fmla="*/ 102 h 402"/>
                <a:gd name="T8" fmla="*/ 334 w 422"/>
                <a:gd name="T9" fmla="*/ 22 h 402"/>
                <a:gd name="T10" fmla="*/ 321 w 422"/>
                <a:gd name="T11" fmla="*/ 19 h 402"/>
                <a:gd name="T12" fmla="*/ 313 w 422"/>
                <a:gd name="T13" fmla="*/ 32 h 402"/>
                <a:gd name="T14" fmla="*/ 188 w 422"/>
                <a:gd name="T15" fmla="*/ 205 h 402"/>
                <a:gd name="T16" fmla="*/ 73 w 422"/>
                <a:gd name="T17" fmla="*/ 330 h 402"/>
                <a:gd name="T18" fmla="*/ 27 w 422"/>
                <a:gd name="T19" fmla="*/ 375 h 402"/>
                <a:gd name="T20" fmla="*/ 20 w 422"/>
                <a:gd name="T21" fmla="*/ 384 h 402"/>
                <a:gd name="T22" fmla="*/ 31 w 422"/>
                <a:gd name="T23" fmla="*/ 388 h 402"/>
                <a:gd name="T24" fmla="*/ 41 w 422"/>
                <a:gd name="T25" fmla="*/ 389 h 402"/>
                <a:gd name="T26" fmla="*/ 62 w 422"/>
                <a:gd name="T27" fmla="*/ 391 h 402"/>
                <a:gd name="T28" fmla="*/ 189 w 422"/>
                <a:gd name="T29" fmla="*/ 402 h 402"/>
                <a:gd name="T30" fmla="*/ 189 w 422"/>
                <a:gd name="T31" fmla="*/ 402 h 402"/>
                <a:gd name="T32" fmla="*/ 41 w 422"/>
                <a:gd name="T33" fmla="*/ 395 h 402"/>
                <a:gd name="T34" fmla="*/ 19 w 422"/>
                <a:gd name="T35" fmla="*/ 392 h 402"/>
                <a:gd name="T36" fmla="*/ 37 w 422"/>
                <a:gd name="T37" fmla="*/ 355 h 402"/>
                <a:gd name="T38" fmla="*/ 125 w 422"/>
                <a:gd name="T39" fmla="*/ 263 h 402"/>
                <a:gd name="T40" fmla="*/ 279 w 422"/>
                <a:gd name="T41" fmla="*/ 61 h 402"/>
                <a:gd name="T42" fmla="*/ 303 w 422"/>
                <a:gd name="T43" fmla="*/ 26 h 402"/>
                <a:gd name="T44" fmla="*/ 314 w 422"/>
                <a:gd name="T45" fmla="*/ 10 h 402"/>
                <a:gd name="T46" fmla="*/ 343 w 422"/>
                <a:gd name="T47" fmla="*/ 14 h 402"/>
                <a:gd name="T48" fmla="*/ 413 w 422"/>
                <a:gd name="T49" fmla="*/ 96 h 402"/>
                <a:gd name="T50" fmla="*/ 414 w 422"/>
                <a:gd name="T51" fmla="*/ 135 h 402"/>
                <a:gd name="T52" fmla="*/ 363 w 422"/>
                <a:gd name="T53" fmla="*/ 206 h 402"/>
                <a:gd name="T54" fmla="*/ 189 w 422"/>
                <a:gd name="T55"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2" h="402">
                  <a:moveTo>
                    <a:pt x="189" y="402"/>
                  </a:moveTo>
                  <a:cubicBezTo>
                    <a:pt x="248" y="338"/>
                    <a:pt x="304" y="272"/>
                    <a:pt x="356" y="201"/>
                  </a:cubicBezTo>
                  <a:cubicBezTo>
                    <a:pt x="373" y="178"/>
                    <a:pt x="389" y="154"/>
                    <a:pt x="405" y="130"/>
                  </a:cubicBezTo>
                  <a:cubicBezTo>
                    <a:pt x="411" y="122"/>
                    <a:pt x="411" y="110"/>
                    <a:pt x="404" y="102"/>
                  </a:cubicBezTo>
                  <a:cubicBezTo>
                    <a:pt x="383" y="75"/>
                    <a:pt x="358" y="48"/>
                    <a:pt x="334" y="22"/>
                  </a:cubicBezTo>
                  <a:cubicBezTo>
                    <a:pt x="331" y="18"/>
                    <a:pt x="325" y="13"/>
                    <a:pt x="321" y="19"/>
                  </a:cubicBezTo>
                  <a:cubicBezTo>
                    <a:pt x="320" y="22"/>
                    <a:pt x="315" y="30"/>
                    <a:pt x="313" y="32"/>
                  </a:cubicBezTo>
                  <a:cubicBezTo>
                    <a:pt x="274" y="92"/>
                    <a:pt x="232" y="149"/>
                    <a:pt x="188" y="205"/>
                  </a:cubicBezTo>
                  <a:cubicBezTo>
                    <a:pt x="152" y="249"/>
                    <a:pt x="113" y="290"/>
                    <a:pt x="73" y="330"/>
                  </a:cubicBezTo>
                  <a:cubicBezTo>
                    <a:pt x="58" y="345"/>
                    <a:pt x="43" y="361"/>
                    <a:pt x="27" y="375"/>
                  </a:cubicBezTo>
                  <a:cubicBezTo>
                    <a:pt x="24" y="377"/>
                    <a:pt x="20" y="381"/>
                    <a:pt x="20" y="384"/>
                  </a:cubicBezTo>
                  <a:cubicBezTo>
                    <a:pt x="22" y="387"/>
                    <a:pt x="27" y="387"/>
                    <a:pt x="31" y="388"/>
                  </a:cubicBezTo>
                  <a:cubicBezTo>
                    <a:pt x="41" y="389"/>
                    <a:pt x="41" y="389"/>
                    <a:pt x="41" y="389"/>
                  </a:cubicBezTo>
                  <a:cubicBezTo>
                    <a:pt x="62" y="391"/>
                    <a:pt x="62" y="391"/>
                    <a:pt x="62" y="391"/>
                  </a:cubicBezTo>
                  <a:cubicBezTo>
                    <a:pt x="89" y="393"/>
                    <a:pt x="162" y="400"/>
                    <a:pt x="189" y="402"/>
                  </a:cubicBezTo>
                  <a:close/>
                  <a:moveTo>
                    <a:pt x="189" y="402"/>
                  </a:moveTo>
                  <a:cubicBezTo>
                    <a:pt x="141" y="400"/>
                    <a:pt x="89" y="397"/>
                    <a:pt x="41" y="395"/>
                  </a:cubicBezTo>
                  <a:cubicBezTo>
                    <a:pt x="35" y="394"/>
                    <a:pt x="25" y="394"/>
                    <a:pt x="19" y="392"/>
                  </a:cubicBezTo>
                  <a:cubicBezTo>
                    <a:pt x="0" y="382"/>
                    <a:pt x="31" y="363"/>
                    <a:pt x="37" y="355"/>
                  </a:cubicBezTo>
                  <a:cubicBezTo>
                    <a:pt x="67" y="325"/>
                    <a:pt x="96" y="294"/>
                    <a:pt x="125" y="263"/>
                  </a:cubicBezTo>
                  <a:cubicBezTo>
                    <a:pt x="181" y="199"/>
                    <a:pt x="232" y="131"/>
                    <a:pt x="279" y="61"/>
                  </a:cubicBezTo>
                  <a:cubicBezTo>
                    <a:pt x="287" y="49"/>
                    <a:pt x="295" y="38"/>
                    <a:pt x="303" y="26"/>
                  </a:cubicBezTo>
                  <a:cubicBezTo>
                    <a:pt x="306" y="22"/>
                    <a:pt x="311" y="14"/>
                    <a:pt x="314" y="10"/>
                  </a:cubicBezTo>
                  <a:cubicBezTo>
                    <a:pt x="323" y="0"/>
                    <a:pt x="336" y="5"/>
                    <a:pt x="343" y="14"/>
                  </a:cubicBezTo>
                  <a:cubicBezTo>
                    <a:pt x="366" y="40"/>
                    <a:pt x="392" y="68"/>
                    <a:pt x="413" y="96"/>
                  </a:cubicBezTo>
                  <a:cubicBezTo>
                    <a:pt x="422" y="107"/>
                    <a:pt x="422" y="126"/>
                    <a:pt x="414" y="135"/>
                  </a:cubicBezTo>
                  <a:cubicBezTo>
                    <a:pt x="397" y="160"/>
                    <a:pt x="381" y="183"/>
                    <a:pt x="363" y="206"/>
                  </a:cubicBezTo>
                  <a:cubicBezTo>
                    <a:pt x="310" y="276"/>
                    <a:pt x="252" y="341"/>
                    <a:pt x="189" y="4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4"/>
              <a:endParaRPr lang="en-US">
                <a:solidFill>
                  <a:prstClr val="white"/>
                </a:solidFill>
              </a:endParaRPr>
            </a:p>
          </p:txBody>
        </p:sp>
        <p:sp>
          <p:nvSpPr>
            <p:cNvPr id="15" name="Freeform 14">
              <a:extLst>
                <a:ext uri="{FF2B5EF4-FFF2-40B4-BE49-F238E27FC236}">
                  <a16:creationId xmlns:a16="http://schemas.microsoft.com/office/drawing/2014/main" id="{81053509-F672-B825-826A-32EC25F6A5B3}"/>
                </a:ext>
              </a:extLst>
            </p:cNvPr>
            <p:cNvSpPr>
              <a:spLocks noEditPoints="1"/>
            </p:cNvSpPr>
            <p:nvPr/>
          </p:nvSpPr>
          <p:spPr bwMode="auto">
            <a:xfrm>
              <a:off x="1952" y="667"/>
              <a:ext cx="904" cy="937"/>
            </a:xfrm>
            <a:custGeom>
              <a:avLst/>
              <a:gdLst>
                <a:gd name="T0" fmla="*/ 173 w 381"/>
                <a:gd name="T1" fmla="*/ 392 h 395"/>
                <a:gd name="T2" fmla="*/ 321 w 381"/>
                <a:gd name="T3" fmla="*/ 190 h 395"/>
                <a:gd name="T4" fmla="*/ 365 w 381"/>
                <a:gd name="T5" fmla="*/ 118 h 395"/>
                <a:gd name="T6" fmla="*/ 362 w 381"/>
                <a:gd name="T7" fmla="*/ 92 h 395"/>
                <a:gd name="T8" fmla="*/ 339 w 381"/>
                <a:gd name="T9" fmla="*/ 68 h 395"/>
                <a:gd name="T10" fmla="*/ 289 w 381"/>
                <a:gd name="T11" fmla="*/ 21 h 395"/>
                <a:gd name="T12" fmla="*/ 278 w 381"/>
                <a:gd name="T13" fmla="*/ 18 h 395"/>
                <a:gd name="T14" fmla="*/ 205 w 381"/>
                <a:gd name="T15" fmla="*/ 137 h 395"/>
                <a:gd name="T16" fmla="*/ 109 w 381"/>
                <a:gd name="T17" fmla="*/ 270 h 395"/>
                <a:gd name="T18" fmla="*/ 27 w 381"/>
                <a:gd name="T19" fmla="*/ 363 h 395"/>
                <a:gd name="T20" fmla="*/ 7 w 381"/>
                <a:gd name="T21" fmla="*/ 385 h 395"/>
                <a:gd name="T22" fmla="*/ 7 w 381"/>
                <a:gd name="T23" fmla="*/ 387 h 395"/>
                <a:gd name="T24" fmla="*/ 9 w 381"/>
                <a:gd name="T25" fmla="*/ 388 h 395"/>
                <a:gd name="T26" fmla="*/ 19 w 381"/>
                <a:gd name="T27" fmla="*/ 389 h 395"/>
                <a:gd name="T28" fmla="*/ 29 w 381"/>
                <a:gd name="T29" fmla="*/ 389 h 395"/>
                <a:gd name="T30" fmla="*/ 50 w 381"/>
                <a:gd name="T31" fmla="*/ 390 h 395"/>
                <a:gd name="T32" fmla="*/ 173 w 381"/>
                <a:gd name="T33" fmla="*/ 392 h 395"/>
                <a:gd name="T34" fmla="*/ 173 w 381"/>
                <a:gd name="T35" fmla="*/ 392 h 395"/>
                <a:gd name="T36" fmla="*/ 50 w 381"/>
                <a:gd name="T37" fmla="*/ 395 h 395"/>
                <a:gd name="T38" fmla="*/ 19 w 381"/>
                <a:gd name="T39" fmla="*/ 395 h 395"/>
                <a:gd name="T40" fmla="*/ 0 w 381"/>
                <a:gd name="T41" fmla="*/ 386 h 395"/>
                <a:gd name="T42" fmla="*/ 15 w 381"/>
                <a:gd name="T43" fmla="*/ 365 h 395"/>
                <a:gd name="T44" fmla="*/ 195 w 381"/>
                <a:gd name="T45" fmla="*/ 131 h 395"/>
                <a:gd name="T46" fmla="*/ 259 w 381"/>
                <a:gd name="T47" fmla="*/ 26 h 395"/>
                <a:gd name="T48" fmla="*/ 272 w 381"/>
                <a:gd name="T49" fmla="*/ 7 h 395"/>
                <a:gd name="T50" fmla="*/ 297 w 381"/>
                <a:gd name="T51" fmla="*/ 12 h 395"/>
                <a:gd name="T52" fmla="*/ 346 w 381"/>
                <a:gd name="T53" fmla="*/ 60 h 395"/>
                <a:gd name="T54" fmla="*/ 376 w 381"/>
                <a:gd name="T55" fmla="*/ 94 h 395"/>
                <a:gd name="T56" fmla="*/ 373 w 381"/>
                <a:gd name="T57" fmla="*/ 123 h 395"/>
                <a:gd name="T58" fmla="*/ 328 w 381"/>
                <a:gd name="T59" fmla="*/ 194 h 395"/>
                <a:gd name="T60" fmla="*/ 173 w 381"/>
                <a:gd name="T61" fmla="*/ 392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1" h="395">
                  <a:moveTo>
                    <a:pt x="173" y="392"/>
                  </a:moveTo>
                  <a:cubicBezTo>
                    <a:pt x="226" y="327"/>
                    <a:pt x="276" y="260"/>
                    <a:pt x="321" y="190"/>
                  </a:cubicBezTo>
                  <a:cubicBezTo>
                    <a:pt x="337" y="166"/>
                    <a:pt x="351" y="142"/>
                    <a:pt x="365" y="118"/>
                  </a:cubicBezTo>
                  <a:cubicBezTo>
                    <a:pt x="370" y="110"/>
                    <a:pt x="369" y="99"/>
                    <a:pt x="362" y="92"/>
                  </a:cubicBezTo>
                  <a:cubicBezTo>
                    <a:pt x="355" y="84"/>
                    <a:pt x="347" y="76"/>
                    <a:pt x="339" y="68"/>
                  </a:cubicBezTo>
                  <a:cubicBezTo>
                    <a:pt x="322" y="52"/>
                    <a:pt x="306" y="36"/>
                    <a:pt x="289" y="21"/>
                  </a:cubicBezTo>
                  <a:cubicBezTo>
                    <a:pt x="287" y="18"/>
                    <a:pt x="281" y="13"/>
                    <a:pt x="278" y="18"/>
                  </a:cubicBezTo>
                  <a:cubicBezTo>
                    <a:pt x="255" y="58"/>
                    <a:pt x="231" y="98"/>
                    <a:pt x="205" y="137"/>
                  </a:cubicBezTo>
                  <a:cubicBezTo>
                    <a:pt x="175" y="183"/>
                    <a:pt x="143" y="228"/>
                    <a:pt x="109" y="270"/>
                  </a:cubicBezTo>
                  <a:cubicBezTo>
                    <a:pt x="82" y="302"/>
                    <a:pt x="55" y="333"/>
                    <a:pt x="27" y="363"/>
                  </a:cubicBezTo>
                  <a:cubicBezTo>
                    <a:pt x="21" y="370"/>
                    <a:pt x="12" y="377"/>
                    <a:pt x="7" y="385"/>
                  </a:cubicBezTo>
                  <a:cubicBezTo>
                    <a:pt x="7" y="386"/>
                    <a:pt x="7" y="387"/>
                    <a:pt x="7" y="387"/>
                  </a:cubicBezTo>
                  <a:cubicBezTo>
                    <a:pt x="7" y="387"/>
                    <a:pt x="8" y="388"/>
                    <a:pt x="9" y="388"/>
                  </a:cubicBezTo>
                  <a:cubicBezTo>
                    <a:pt x="12" y="389"/>
                    <a:pt x="16" y="389"/>
                    <a:pt x="19" y="389"/>
                  </a:cubicBezTo>
                  <a:cubicBezTo>
                    <a:pt x="29" y="389"/>
                    <a:pt x="29" y="389"/>
                    <a:pt x="29" y="389"/>
                  </a:cubicBezTo>
                  <a:cubicBezTo>
                    <a:pt x="50" y="390"/>
                    <a:pt x="50" y="390"/>
                    <a:pt x="50" y="390"/>
                  </a:cubicBezTo>
                  <a:cubicBezTo>
                    <a:pt x="75" y="390"/>
                    <a:pt x="146" y="392"/>
                    <a:pt x="173" y="392"/>
                  </a:cubicBezTo>
                  <a:close/>
                  <a:moveTo>
                    <a:pt x="173" y="392"/>
                  </a:moveTo>
                  <a:cubicBezTo>
                    <a:pt x="133" y="394"/>
                    <a:pt x="89" y="394"/>
                    <a:pt x="50" y="395"/>
                  </a:cubicBezTo>
                  <a:cubicBezTo>
                    <a:pt x="43" y="395"/>
                    <a:pt x="25" y="395"/>
                    <a:pt x="19" y="395"/>
                  </a:cubicBezTo>
                  <a:cubicBezTo>
                    <a:pt x="12" y="395"/>
                    <a:pt x="0" y="395"/>
                    <a:pt x="0" y="386"/>
                  </a:cubicBezTo>
                  <a:cubicBezTo>
                    <a:pt x="2" y="377"/>
                    <a:pt x="9" y="371"/>
                    <a:pt x="15" y="365"/>
                  </a:cubicBezTo>
                  <a:cubicBezTo>
                    <a:pt x="81" y="292"/>
                    <a:pt x="142" y="214"/>
                    <a:pt x="195" y="131"/>
                  </a:cubicBezTo>
                  <a:cubicBezTo>
                    <a:pt x="217" y="96"/>
                    <a:pt x="239" y="62"/>
                    <a:pt x="259" y="26"/>
                  </a:cubicBezTo>
                  <a:cubicBezTo>
                    <a:pt x="263" y="21"/>
                    <a:pt x="266" y="12"/>
                    <a:pt x="272" y="7"/>
                  </a:cubicBezTo>
                  <a:cubicBezTo>
                    <a:pt x="280" y="0"/>
                    <a:pt x="292" y="6"/>
                    <a:pt x="297" y="12"/>
                  </a:cubicBezTo>
                  <a:cubicBezTo>
                    <a:pt x="314" y="28"/>
                    <a:pt x="330" y="44"/>
                    <a:pt x="346" y="60"/>
                  </a:cubicBezTo>
                  <a:cubicBezTo>
                    <a:pt x="356" y="71"/>
                    <a:pt x="368" y="81"/>
                    <a:pt x="376" y="94"/>
                  </a:cubicBezTo>
                  <a:cubicBezTo>
                    <a:pt x="381" y="103"/>
                    <a:pt x="378" y="117"/>
                    <a:pt x="373" y="123"/>
                  </a:cubicBezTo>
                  <a:cubicBezTo>
                    <a:pt x="359" y="147"/>
                    <a:pt x="344" y="171"/>
                    <a:pt x="328" y="194"/>
                  </a:cubicBezTo>
                  <a:cubicBezTo>
                    <a:pt x="281" y="264"/>
                    <a:pt x="229" y="330"/>
                    <a:pt x="173" y="3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4"/>
              <a:endParaRPr lang="en-US">
                <a:solidFill>
                  <a:prstClr val="white"/>
                </a:solidFill>
              </a:endParaRPr>
            </a:p>
          </p:txBody>
        </p:sp>
      </p:grpSp>
    </p:spTree>
    <p:extLst>
      <p:ext uri="{BB962C8B-B14F-4D97-AF65-F5344CB8AC3E}">
        <p14:creationId xmlns:p14="http://schemas.microsoft.com/office/powerpoint/2010/main" val="2912071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914377"/>
            <a:fld id="{63C43D97-D600-4DD9-A33C-608B03A7CFD5}" type="datetimeFigureOut">
              <a:rPr lang="en-US" smtClean="0">
                <a:solidFill>
                  <a:prstClr val="black">
                    <a:tint val="75000"/>
                  </a:prstClr>
                </a:solidFill>
              </a:rPr>
              <a:pPr defTabSz="914377"/>
              <a:t>9/10/2026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377"/>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914377"/>
            <a:fld id="{B50B505B-3F1B-4503-88C2-08B1E4CCBF3F}" type="slidenum">
              <a:rPr lang="en-US" smtClean="0">
                <a:solidFill>
                  <a:prstClr val="black">
                    <a:tint val="75000"/>
                  </a:prstClr>
                </a:solidFill>
              </a:rPr>
              <a:pPr defTabSz="914377"/>
              <a:t>‹#›</a:t>
            </a:fld>
            <a:endParaRPr lang="en-US">
              <a:solidFill>
                <a:prstClr val="black">
                  <a:tint val="75000"/>
                </a:prstClr>
              </a:solidFill>
            </a:endParaRPr>
          </a:p>
        </p:txBody>
      </p:sp>
    </p:spTree>
    <p:extLst>
      <p:ext uri="{BB962C8B-B14F-4D97-AF65-F5344CB8AC3E}">
        <p14:creationId xmlns:p14="http://schemas.microsoft.com/office/powerpoint/2010/main" val="337483113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C9E438-1414-4BFA-9FCF-B51A5BE3D59D}" type="datetimeFigureOut">
              <a:rPr lang="en-US" smtClean="0">
                <a:solidFill>
                  <a:prstClr val="black">
                    <a:tint val="75000"/>
                  </a:prstClr>
                </a:solidFill>
              </a:rPr>
              <a:pPr/>
              <a:t>9/10/2026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AF30D1-BE63-4B9B-9AE9-81AB219E0CA0}" type="slidenum">
              <a:rPr lang="en-US" smtClean="0">
                <a:solidFill>
                  <a:prstClr val="black">
                    <a:tint val="75000"/>
                  </a:prstClr>
                </a:solidFill>
              </a:rPr>
              <a:pPr/>
              <a:t>‹#›</a:t>
            </a:fld>
            <a:endParaRPr lang="en-US">
              <a:solidFill>
                <a:prstClr val="black">
                  <a:tint val="75000"/>
                </a:prstClr>
              </a:solidFill>
            </a:endParaRPr>
          </a:p>
        </p:txBody>
      </p:sp>
      <p:sp>
        <p:nvSpPr>
          <p:cNvPr id="9" name="Rectangle 8"/>
          <p:cNvSpPr/>
          <p:nvPr userDrawn="1"/>
        </p:nvSpPr>
        <p:spPr>
          <a:xfrm>
            <a:off x="0" y="996679"/>
            <a:ext cx="12192000" cy="5861321"/>
          </a:xfrm>
          <a:prstGeom prst="rect">
            <a:avLst/>
          </a:prstGeom>
          <a:solidFill>
            <a:srgbClr val="E3E7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1013553"/>
          </a:xfrm>
          <a:prstGeom prst="rect">
            <a:avLst/>
          </a:prstGeom>
          <a:solidFill>
            <a:srgbClr val="1D4E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userDrawn="1"/>
        </p:nvPicPr>
        <p:blipFill>
          <a:blip r:embed="rId15" cstate="email">
            <a:extLst>
              <a:ext uri="{28A0092B-C50C-407E-A947-70E740481C1C}">
                <a14:useLocalDpi xmlns:a14="http://schemas.microsoft.com/office/drawing/2010/main" val="0"/>
              </a:ext>
            </a:extLst>
          </a:blip>
          <a:stretch>
            <a:fillRect/>
          </a:stretch>
        </p:blipFill>
        <p:spPr>
          <a:xfrm>
            <a:off x="209314" y="198952"/>
            <a:ext cx="926435" cy="598775"/>
          </a:xfrm>
          <a:prstGeom prst="rect">
            <a:avLst/>
          </a:prstGeom>
        </p:spPr>
      </p:pic>
      <p:cxnSp>
        <p:nvCxnSpPr>
          <p:cNvPr id="12" name="Straight Connector 11"/>
          <p:cNvCxnSpPr/>
          <p:nvPr userDrawn="1"/>
        </p:nvCxnSpPr>
        <p:spPr>
          <a:xfrm>
            <a:off x="1320800" y="177494"/>
            <a:ext cx="0" cy="658564"/>
          </a:xfrm>
          <a:prstGeom prst="line">
            <a:avLst/>
          </a:prstGeom>
          <a:ln>
            <a:solidFill>
              <a:srgbClr val="5795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2091857"/>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slide" Target="slide14.xml"/><Relationship Id="rId7" Type="http://schemas.openxmlformats.org/officeDocument/2006/relationships/slide" Target="slide13.xml"/><Relationship Id="rId2" Type="http://schemas.openxmlformats.org/officeDocument/2006/relationships/slideLayout" Target="../slideLayouts/slideLayout13.xml"/><Relationship Id="rId1" Type="http://schemas.openxmlformats.org/officeDocument/2006/relationships/tags" Target="../tags/tag3.xml"/><Relationship Id="rId6" Type="http://schemas.openxmlformats.org/officeDocument/2006/relationships/slide" Target="slide5.xml"/><Relationship Id="rId5" Type="http://schemas.openxmlformats.org/officeDocument/2006/relationships/slide" Target="slide16.xml"/><Relationship Id="rId4" Type="http://schemas.openxmlformats.org/officeDocument/2006/relationships/audio" Target="../media/audio1.wav"/><Relationship Id="rId9" Type="http://schemas.openxmlformats.org/officeDocument/2006/relationships/slide" Target="slide18.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slide" Target="slide23.xml"/><Relationship Id="rId2" Type="http://schemas.openxmlformats.org/officeDocument/2006/relationships/slide" Target="slide21.xml"/><Relationship Id="rId1" Type="http://schemas.openxmlformats.org/officeDocument/2006/relationships/slideLayout" Target="../slideLayouts/slideLayout13.xml"/><Relationship Id="rId6" Type="http://schemas.openxmlformats.org/officeDocument/2006/relationships/slide" Target="slide22.xml"/><Relationship Id="rId5" Type="http://schemas.openxmlformats.org/officeDocument/2006/relationships/slide" Target="slide20.xml"/><Relationship Id="rId4" Type="http://schemas.openxmlformats.org/officeDocument/2006/relationships/slide" Target="slide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2.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audio" Target="../media/audio1.wav"/><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ags" Target="../tags/tag5.xml"/><Relationship Id="rId5" Type="http://schemas.openxmlformats.org/officeDocument/2006/relationships/audio" Target="../media/audio1.wav"/><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2.xml"/><Relationship Id="rId1" Type="http://schemas.openxmlformats.org/officeDocument/2006/relationships/tags" Target="../tags/tag6.xml"/><Relationship Id="rId5" Type="http://schemas.openxmlformats.org/officeDocument/2006/relationships/audio" Target="../media/audio1.wav"/><Relationship Id="rId4" Type="http://schemas.openxmlformats.org/officeDocument/2006/relationships/slide" Target="slide3.xml"/></Relationships>
</file>

<file path=ppt/slides/_rels/slide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8.png"/><Relationship Id="rId1" Type="http://schemas.openxmlformats.org/officeDocument/2006/relationships/slideLayout" Target="../slideLayouts/slideLayout12.xml"/><Relationship Id="rId4" Type="http://schemas.openxmlformats.org/officeDocument/2006/relationships/audio" Target="../media/audio1.wav"/></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9.png"/><Relationship Id="rId1" Type="http://schemas.openxmlformats.org/officeDocument/2006/relationships/slideLayout" Target="../slideLayouts/slideLayout12.xml"/><Relationship Id="rId4"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5" Type="http://schemas.openxmlformats.org/officeDocument/2006/relationships/audio" Target="../media/audio1.wav"/><Relationship Id="rId4" Type="http://schemas.openxmlformats.org/officeDocument/2006/relationships/slide" Target="slide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 Id="rId5" Type="http://schemas.openxmlformats.org/officeDocument/2006/relationships/audio" Target="../media/audio1.wav"/><Relationship Id="rId4" Type="http://schemas.openxmlformats.org/officeDocument/2006/relationships/slide" Target="slide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audio" Target="../media/audio1.wav"/><Relationship Id="rId2" Type="http://schemas.openxmlformats.org/officeDocument/2006/relationships/image" Target="../media/image14.png"/><Relationship Id="rId1" Type="http://schemas.openxmlformats.org/officeDocument/2006/relationships/slideLayout" Target="../slideLayouts/slideLayout12.xml"/><Relationship Id="rId6" Type="http://schemas.openxmlformats.org/officeDocument/2006/relationships/slide" Target="slide3.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audio" Target="../media/audio1.wav"/><Relationship Id="rId5" Type="http://schemas.openxmlformats.org/officeDocument/2006/relationships/slide" Target="slide3.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1.png"/><Relationship Id="rId1" Type="http://schemas.openxmlformats.org/officeDocument/2006/relationships/slideLayout" Target="../slideLayouts/slideLayout13.xml"/><Relationship Id="rId4" Type="http://schemas.openxmlformats.org/officeDocument/2006/relationships/audio" Target="../media/audio1.wav"/></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13.xml"/><Relationship Id="rId6" Type="http://schemas.openxmlformats.org/officeDocument/2006/relationships/audio" Target="../media/audio1.wav"/><Relationship Id="rId5" Type="http://schemas.openxmlformats.org/officeDocument/2006/relationships/slide" Target="slide3.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audio" Target="../media/audio1.wav"/><Relationship Id="rId2" Type="http://schemas.openxmlformats.org/officeDocument/2006/relationships/image" Target="../media/image26.png"/><Relationship Id="rId1" Type="http://schemas.openxmlformats.org/officeDocument/2006/relationships/slideLayout" Target="../slideLayouts/slideLayout13.xml"/><Relationship Id="rId6" Type="http://schemas.openxmlformats.org/officeDocument/2006/relationships/slide" Target="slide3.xml"/><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 Id="rId6" Type="http://schemas.openxmlformats.org/officeDocument/2006/relationships/audio" Target="../media/audio1.wav"/><Relationship Id="rId5" Type="http://schemas.openxmlformats.org/officeDocument/2006/relationships/slide" Target="slide3.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audio" Target="../media/audio1.wav"/><Relationship Id="rId5" Type="http://schemas.openxmlformats.org/officeDocument/2006/relationships/slide" Target="slide3.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 Id="rId6" Type="http://schemas.openxmlformats.org/officeDocument/2006/relationships/audio" Target="../media/audio1.wav"/><Relationship Id="rId5" Type="http://schemas.openxmlformats.org/officeDocument/2006/relationships/slide" Target="slide3.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audio" Target="../media/audio1.wav"/><Relationship Id="rId5" Type="http://schemas.openxmlformats.org/officeDocument/2006/relationships/slide" Target="slide3.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audio" Target="../media/audio1.wav"/><Relationship Id="rId2" Type="http://schemas.openxmlformats.org/officeDocument/2006/relationships/image" Target="../media/image41.png"/><Relationship Id="rId1" Type="http://schemas.openxmlformats.org/officeDocument/2006/relationships/slideLayout" Target="../slideLayouts/slideLayout12.xml"/><Relationship Id="rId6" Type="http://schemas.openxmlformats.org/officeDocument/2006/relationships/slide" Target="slide3.xml"/><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2.xml"/><Relationship Id="rId6" Type="http://schemas.openxmlformats.org/officeDocument/2006/relationships/image" Target="../media/image47.png"/><Relationship Id="rId5" Type="http://schemas.openxmlformats.org/officeDocument/2006/relationships/audio" Target="../media/audio1.wav"/><Relationship Id="rId4" Type="http://schemas.openxmlformats.org/officeDocument/2006/relationships/slide" Target="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52828" y="1514222"/>
            <a:ext cx="11118146" cy="1200329"/>
          </a:xfrm>
          <a:prstGeom prst="rect">
            <a:avLst/>
          </a:prstGeom>
          <a:noFill/>
        </p:spPr>
        <p:txBody>
          <a:bodyPr wrap="square" rtlCol="0">
            <a:spAutoFit/>
          </a:bodyPr>
          <a:lstStyle/>
          <a:p>
            <a:pPr marL="0" lvl="1" indent="-571500" algn="ctr" defTabSz="914354">
              <a:lnSpc>
                <a:spcPct val="80000"/>
              </a:lnSpc>
              <a:spcBef>
                <a:spcPts val="800"/>
              </a:spcBef>
              <a:defRPr/>
            </a:pPr>
            <a:r>
              <a:rPr lang="en-US" sz="4000" b="1" i="1" spc="93" dirty="0">
                <a:solidFill>
                  <a:prstClr val="white"/>
                </a:solidFill>
                <a:latin typeface="Poppins" panose="00000500000000000000" pitchFamily="2" charset="0"/>
                <a:cs typeface="Poppins" panose="00000500000000000000" pitchFamily="2" charset="0"/>
              </a:rPr>
              <a:t>Outlet Master – DMS-NG: User</a:t>
            </a:r>
          </a:p>
          <a:p>
            <a:pPr marL="0" lvl="1" indent="-571500" algn="ctr" defTabSz="914354">
              <a:lnSpc>
                <a:spcPct val="80000"/>
              </a:lnSpc>
              <a:spcBef>
                <a:spcPts val="800"/>
              </a:spcBef>
              <a:defRPr/>
            </a:pPr>
            <a:r>
              <a:rPr lang="en-US" sz="4000" b="1" i="1" spc="93" dirty="0">
                <a:solidFill>
                  <a:prstClr val="white"/>
                </a:solidFill>
                <a:latin typeface="Poppins" panose="00000500000000000000" pitchFamily="2" charset="0"/>
                <a:cs typeface="Poppins" panose="00000500000000000000" pitchFamily="2" charset="0"/>
              </a:rPr>
              <a:t> Guide</a:t>
            </a:r>
            <a:endParaRPr lang="en-ID" sz="4000" b="1" i="1" spc="93" dirty="0">
              <a:solidFill>
                <a:prstClr val="white"/>
              </a:solidFill>
              <a:latin typeface="Poppins" panose="00000500000000000000" pitchFamily="2" charset="0"/>
              <a:cs typeface="Poppins" panose="00000500000000000000" pitchFamily="2" charset="0"/>
            </a:endParaRPr>
          </a:p>
        </p:txBody>
      </p:sp>
      <p:cxnSp>
        <p:nvCxnSpPr>
          <p:cNvPr id="14" name="Straight Connector 13"/>
          <p:cNvCxnSpPr/>
          <p:nvPr/>
        </p:nvCxnSpPr>
        <p:spPr>
          <a:xfrm>
            <a:off x="1422217" y="2807151"/>
            <a:ext cx="8168057" cy="0"/>
          </a:xfrm>
          <a:prstGeom prst="line">
            <a:avLst/>
          </a:prstGeom>
          <a:ln w="3175">
            <a:solidFill>
              <a:srgbClr val="3F599D"/>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55807" y="3975083"/>
            <a:ext cx="2093184" cy="1352871"/>
          </a:xfrm>
          <a:prstGeom prst="rect">
            <a:avLst/>
          </a:prstGeom>
        </p:spPr>
      </p:pic>
      <p:grpSp>
        <p:nvGrpSpPr>
          <p:cNvPr id="17" name="Group 16"/>
          <p:cNvGrpSpPr/>
          <p:nvPr/>
        </p:nvGrpSpPr>
        <p:grpSpPr>
          <a:xfrm>
            <a:off x="2855864" y="4757391"/>
            <a:ext cx="2956505" cy="587260"/>
            <a:chOff x="602950" y="5699546"/>
            <a:chExt cx="2467028" cy="490033"/>
          </a:xfrm>
        </p:grpSpPr>
        <p:sp>
          <p:nvSpPr>
            <p:cNvPr id="18" name="Freeform 53"/>
            <p:cNvSpPr>
              <a:spLocks noEditPoints="1"/>
            </p:cNvSpPr>
            <p:nvPr/>
          </p:nvSpPr>
          <p:spPr bwMode="auto">
            <a:xfrm>
              <a:off x="602950" y="5724777"/>
              <a:ext cx="157307" cy="157307"/>
            </a:xfrm>
            <a:custGeom>
              <a:avLst/>
              <a:gdLst>
                <a:gd name="T0" fmla="*/ 23 w 46"/>
                <a:gd name="T1" fmla="*/ 0 h 46"/>
                <a:gd name="T2" fmla="*/ 0 w 46"/>
                <a:gd name="T3" fmla="*/ 23 h 46"/>
                <a:gd name="T4" fmla="*/ 23 w 46"/>
                <a:gd name="T5" fmla="*/ 46 h 46"/>
                <a:gd name="T6" fmla="*/ 46 w 46"/>
                <a:gd name="T7" fmla="*/ 23 h 46"/>
                <a:gd name="T8" fmla="*/ 23 w 46"/>
                <a:gd name="T9" fmla="*/ 0 h 46"/>
                <a:gd name="T10" fmla="*/ 43 w 46"/>
                <a:gd name="T11" fmla="*/ 21 h 46"/>
                <a:gd name="T12" fmla="*/ 37 w 46"/>
                <a:gd name="T13" fmla="*/ 21 h 46"/>
                <a:gd name="T14" fmla="*/ 33 w 46"/>
                <a:gd name="T15" fmla="*/ 6 h 46"/>
                <a:gd name="T16" fmla="*/ 43 w 46"/>
                <a:gd name="T17" fmla="*/ 21 h 46"/>
                <a:gd name="T18" fmla="*/ 22 w 46"/>
                <a:gd name="T19" fmla="*/ 4 h 46"/>
                <a:gd name="T20" fmla="*/ 22 w 46"/>
                <a:gd name="T21" fmla="*/ 21 h 46"/>
                <a:gd name="T22" fmla="*/ 13 w 46"/>
                <a:gd name="T23" fmla="*/ 21 h 46"/>
                <a:gd name="T24" fmla="*/ 22 w 46"/>
                <a:gd name="T25" fmla="*/ 4 h 46"/>
                <a:gd name="T26" fmla="*/ 22 w 46"/>
                <a:gd name="T27" fmla="*/ 25 h 46"/>
                <a:gd name="T28" fmla="*/ 22 w 46"/>
                <a:gd name="T29" fmla="*/ 42 h 46"/>
                <a:gd name="T30" fmla="*/ 13 w 46"/>
                <a:gd name="T31" fmla="*/ 25 h 46"/>
                <a:gd name="T32" fmla="*/ 22 w 46"/>
                <a:gd name="T33" fmla="*/ 25 h 46"/>
                <a:gd name="T34" fmla="*/ 25 w 46"/>
                <a:gd name="T35" fmla="*/ 42 h 46"/>
                <a:gd name="T36" fmla="*/ 25 w 46"/>
                <a:gd name="T37" fmla="*/ 25 h 46"/>
                <a:gd name="T38" fmla="*/ 34 w 46"/>
                <a:gd name="T39" fmla="*/ 25 h 46"/>
                <a:gd name="T40" fmla="*/ 25 w 46"/>
                <a:gd name="T41" fmla="*/ 42 h 46"/>
                <a:gd name="T42" fmla="*/ 25 w 46"/>
                <a:gd name="T43" fmla="*/ 21 h 46"/>
                <a:gd name="T44" fmla="*/ 25 w 46"/>
                <a:gd name="T45" fmla="*/ 4 h 46"/>
                <a:gd name="T46" fmla="*/ 34 w 46"/>
                <a:gd name="T47" fmla="*/ 21 h 46"/>
                <a:gd name="T48" fmla="*/ 25 w 46"/>
                <a:gd name="T49" fmla="*/ 21 h 46"/>
                <a:gd name="T50" fmla="*/ 14 w 46"/>
                <a:gd name="T51" fmla="*/ 6 h 46"/>
                <a:gd name="T52" fmla="*/ 10 w 46"/>
                <a:gd name="T53" fmla="*/ 21 h 46"/>
                <a:gd name="T54" fmla="*/ 4 w 46"/>
                <a:gd name="T55" fmla="*/ 21 h 46"/>
                <a:gd name="T56" fmla="*/ 14 w 46"/>
                <a:gd name="T57" fmla="*/ 6 h 46"/>
                <a:gd name="T58" fmla="*/ 4 w 46"/>
                <a:gd name="T59" fmla="*/ 25 h 46"/>
                <a:gd name="T60" fmla="*/ 10 w 46"/>
                <a:gd name="T61" fmla="*/ 25 h 46"/>
                <a:gd name="T62" fmla="*/ 14 w 46"/>
                <a:gd name="T63" fmla="*/ 40 h 46"/>
                <a:gd name="T64" fmla="*/ 4 w 46"/>
                <a:gd name="T65" fmla="*/ 25 h 46"/>
                <a:gd name="T66" fmla="*/ 33 w 46"/>
                <a:gd name="T67" fmla="*/ 40 h 46"/>
                <a:gd name="T68" fmla="*/ 37 w 46"/>
                <a:gd name="T69" fmla="*/ 25 h 46"/>
                <a:gd name="T70" fmla="*/ 43 w 46"/>
                <a:gd name="T71" fmla="*/ 25 h 46"/>
                <a:gd name="T72" fmla="*/ 33 w 46"/>
                <a:gd name="T73"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6" h="46">
                  <a:moveTo>
                    <a:pt x="23" y="0"/>
                  </a:moveTo>
                  <a:cubicBezTo>
                    <a:pt x="11" y="0"/>
                    <a:pt x="0" y="10"/>
                    <a:pt x="0" y="23"/>
                  </a:cubicBezTo>
                  <a:cubicBezTo>
                    <a:pt x="0" y="36"/>
                    <a:pt x="11" y="46"/>
                    <a:pt x="23" y="46"/>
                  </a:cubicBezTo>
                  <a:cubicBezTo>
                    <a:pt x="36" y="46"/>
                    <a:pt x="46" y="36"/>
                    <a:pt x="46" y="23"/>
                  </a:cubicBezTo>
                  <a:cubicBezTo>
                    <a:pt x="46" y="10"/>
                    <a:pt x="36" y="0"/>
                    <a:pt x="23" y="0"/>
                  </a:cubicBezTo>
                  <a:close/>
                  <a:moveTo>
                    <a:pt x="43" y="21"/>
                  </a:moveTo>
                  <a:cubicBezTo>
                    <a:pt x="37" y="21"/>
                    <a:pt x="37" y="21"/>
                    <a:pt x="37" y="21"/>
                  </a:cubicBezTo>
                  <a:cubicBezTo>
                    <a:pt x="37" y="15"/>
                    <a:pt x="35" y="10"/>
                    <a:pt x="33" y="6"/>
                  </a:cubicBezTo>
                  <a:cubicBezTo>
                    <a:pt x="38" y="9"/>
                    <a:pt x="42" y="15"/>
                    <a:pt x="43" y="21"/>
                  </a:cubicBezTo>
                  <a:close/>
                  <a:moveTo>
                    <a:pt x="22" y="4"/>
                  </a:moveTo>
                  <a:cubicBezTo>
                    <a:pt x="22" y="21"/>
                    <a:pt x="22" y="21"/>
                    <a:pt x="22" y="21"/>
                  </a:cubicBezTo>
                  <a:cubicBezTo>
                    <a:pt x="13" y="21"/>
                    <a:pt x="13" y="21"/>
                    <a:pt x="13" y="21"/>
                  </a:cubicBezTo>
                  <a:cubicBezTo>
                    <a:pt x="13" y="13"/>
                    <a:pt x="17" y="5"/>
                    <a:pt x="22" y="4"/>
                  </a:cubicBezTo>
                  <a:close/>
                  <a:moveTo>
                    <a:pt x="22" y="25"/>
                  </a:moveTo>
                  <a:cubicBezTo>
                    <a:pt x="22" y="42"/>
                    <a:pt x="22" y="42"/>
                    <a:pt x="22" y="42"/>
                  </a:cubicBezTo>
                  <a:cubicBezTo>
                    <a:pt x="17" y="41"/>
                    <a:pt x="13" y="33"/>
                    <a:pt x="13" y="25"/>
                  </a:cubicBezTo>
                  <a:lnTo>
                    <a:pt x="22" y="25"/>
                  </a:lnTo>
                  <a:close/>
                  <a:moveTo>
                    <a:pt x="25" y="42"/>
                  </a:moveTo>
                  <a:cubicBezTo>
                    <a:pt x="25" y="25"/>
                    <a:pt x="25" y="25"/>
                    <a:pt x="25" y="25"/>
                  </a:cubicBezTo>
                  <a:cubicBezTo>
                    <a:pt x="34" y="25"/>
                    <a:pt x="34" y="25"/>
                    <a:pt x="34" y="25"/>
                  </a:cubicBezTo>
                  <a:cubicBezTo>
                    <a:pt x="33" y="33"/>
                    <a:pt x="30" y="41"/>
                    <a:pt x="25" y="42"/>
                  </a:cubicBezTo>
                  <a:close/>
                  <a:moveTo>
                    <a:pt x="25" y="21"/>
                  </a:moveTo>
                  <a:cubicBezTo>
                    <a:pt x="25" y="4"/>
                    <a:pt x="25" y="4"/>
                    <a:pt x="25" y="4"/>
                  </a:cubicBezTo>
                  <a:cubicBezTo>
                    <a:pt x="30" y="5"/>
                    <a:pt x="33" y="13"/>
                    <a:pt x="34" y="21"/>
                  </a:cubicBezTo>
                  <a:lnTo>
                    <a:pt x="25" y="21"/>
                  </a:lnTo>
                  <a:close/>
                  <a:moveTo>
                    <a:pt x="14" y="6"/>
                  </a:moveTo>
                  <a:cubicBezTo>
                    <a:pt x="11" y="10"/>
                    <a:pt x="10" y="15"/>
                    <a:pt x="10" y="21"/>
                  </a:cubicBezTo>
                  <a:cubicBezTo>
                    <a:pt x="4" y="21"/>
                    <a:pt x="4" y="21"/>
                    <a:pt x="4" y="21"/>
                  </a:cubicBezTo>
                  <a:cubicBezTo>
                    <a:pt x="5" y="15"/>
                    <a:pt x="8" y="9"/>
                    <a:pt x="14" y="6"/>
                  </a:cubicBezTo>
                  <a:close/>
                  <a:moveTo>
                    <a:pt x="4" y="25"/>
                  </a:moveTo>
                  <a:cubicBezTo>
                    <a:pt x="10" y="25"/>
                    <a:pt x="10" y="25"/>
                    <a:pt x="10" y="25"/>
                  </a:cubicBezTo>
                  <a:cubicBezTo>
                    <a:pt x="10" y="31"/>
                    <a:pt x="11" y="36"/>
                    <a:pt x="14" y="40"/>
                  </a:cubicBezTo>
                  <a:cubicBezTo>
                    <a:pt x="8" y="37"/>
                    <a:pt x="5" y="31"/>
                    <a:pt x="4" y="25"/>
                  </a:cubicBezTo>
                  <a:close/>
                  <a:moveTo>
                    <a:pt x="33" y="40"/>
                  </a:moveTo>
                  <a:cubicBezTo>
                    <a:pt x="35" y="36"/>
                    <a:pt x="37" y="31"/>
                    <a:pt x="37" y="25"/>
                  </a:cubicBezTo>
                  <a:cubicBezTo>
                    <a:pt x="43" y="25"/>
                    <a:pt x="43" y="25"/>
                    <a:pt x="43" y="25"/>
                  </a:cubicBezTo>
                  <a:cubicBezTo>
                    <a:pt x="42" y="31"/>
                    <a:pt x="38" y="37"/>
                    <a:pt x="33" y="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77"/>
              <a:endParaRPr lang="en-US">
                <a:solidFill>
                  <a:prstClr val="black"/>
                </a:solidFill>
              </a:endParaRPr>
            </a:p>
          </p:txBody>
        </p:sp>
        <p:sp>
          <p:nvSpPr>
            <p:cNvPr id="19" name="Rectangle 18"/>
            <p:cNvSpPr/>
            <p:nvPr/>
          </p:nvSpPr>
          <p:spPr>
            <a:xfrm>
              <a:off x="783774" y="5699546"/>
              <a:ext cx="2030762" cy="218298"/>
            </a:xfrm>
            <a:prstGeom prst="rect">
              <a:avLst/>
            </a:prstGeom>
          </p:spPr>
          <p:txBody>
            <a:bodyPr wrap="none" anchor="ctr">
              <a:spAutoFit/>
            </a:bodyPr>
            <a:lstStyle/>
            <a:p>
              <a:pPr defTabSz="914377"/>
              <a:r>
                <a:rPr lang="en-US" sz="1100" dirty="0">
                  <a:solidFill>
                    <a:prstClr val="white"/>
                  </a:solidFill>
                  <a:latin typeface="Poppins" panose="00000500000000000000" pitchFamily="2" charset="0"/>
                  <a:cs typeface="Poppins" panose="00000500000000000000" pitchFamily="2" charset="0"/>
                </a:rPr>
                <a:t>www.centegytechnologies.com </a:t>
              </a:r>
            </a:p>
          </p:txBody>
        </p:sp>
        <p:sp>
          <p:nvSpPr>
            <p:cNvPr id="20" name="Freeform 5"/>
            <p:cNvSpPr>
              <a:spLocks noEditPoints="1"/>
            </p:cNvSpPr>
            <p:nvPr/>
          </p:nvSpPr>
          <p:spPr bwMode="auto">
            <a:xfrm>
              <a:off x="603310" y="6027287"/>
              <a:ext cx="164523" cy="124115"/>
            </a:xfrm>
            <a:custGeom>
              <a:avLst/>
              <a:gdLst>
                <a:gd name="T0" fmla="*/ 48 w 48"/>
                <a:gd name="T1" fmla="*/ 2 h 36"/>
                <a:gd name="T2" fmla="*/ 48 w 48"/>
                <a:gd name="T3" fmla="*/ 2 h 36"/>
                <a:gd name="T4" fmla="*/ 48 w 48"/>
                <a:gd name="T5" fmla="*/ 2 h 36"/>
                <a:gd name="T6" fmla="*/ 48 w 48"/>
                <a:gd name="T7" fmla="*/ 1 h 36"/>
                <a:gd name="T8" fmla="*/ 48 w 48"/>
                <a:gd name="T9" fmla="*/ 1 h 36"/>
                <a:gd name="T10" fmla="*/ 48 w 48"/>
                <a:gd name="T11" fmla="*/ 1 h 36"/>
                <a:gd name="T12" fmla="*/ 48 w 48"/>
                <a:gd name="T13" fmla="*/ 1 h 36"/>
                <a:gd name="T14" fmla="*/ 48 w 48"/>
                <a:gd name="T15" fmla="*/ 1 h 36"/>
                <a:gd name="T16" fmla="*/ 48 w 48"/>
                <a:gd name="T17" fmla="*/ 1 h 36"/>
                <a:gd name="T18" fmla="*/ 48 w 48"/>
                <a:gd name="T19" fmla="*/ 1 h 36"/>
                <a:gd name="T20" fmla="*/ 47 w 48"/>
                <a:gd name="T21" fmla="*/ 1 h 36"/>
                <a:gd name="T22" fmla="*/ 47 w 48"/>
                <a:gd name="T23" fmla="*/ 1 h 36"/>
                <a:gd name="T24" fmla="*/ 47 w 48"/>
                <a:gd name="T25" fmla="*/ 0 h 36"/>
                <a:gd name="T26" fmla="*/ 47 w 48"/>
                <a:gd name="T27" fmla="*/ 0 h 36"/>
                <a:gd name="T28" fmla="*/ 47 w 48"/>
                <a:gd name="T29" fmla="*/ 0 h 36"/>
                <a:gd name="T30" fmla="*/ 47 w 48"/>
                <a:gd name="T31" fmla="*/ 0 h 36"/>
                <a:gd name="T32" fmla="*/ 46 w 48"/>
                <a:gd name="T33" fmla="*/ 0 h 36"/>
                <a:gd name="T34" fmla="*/ 46 w 48"/>
                <a:gd name="T35" fmla="*/ 0 h 36"/>
                <a:gd name="T36" fmla="*/ 2 w 48"/>
                <a:gd name="T37" fmla="*/ 0 h 36"/>
                <a:gd name="T38" fmla="*/ 2 w 48"/>
                <a:gd name="T39" fmla="*/ 0 h 36"/>
                <a:gd name="T40" fmla="*/ 2 w 48"/>
                <a:gd name="T41" fmla="*/ 0 h 36"/>
                <a:gd name="T42" fmla="*/ 2 w 48"/>
                <a:gd name="T43" fmla="*/ 0 h 36"/>
                <a:gd name="T44" fmla="*/ 1 w 48"/>
                <a:gd name="T45" fmla="*/ 0 h 36"/>
                <a:gd name="T46" fmla="*/ 1 w 48"/>
                <a:gd name="T47" fmla="*/ 0 h 36"/>
                <a:gd name="T48" fmla="*/ 1 w 48"/>
                <a:gd name="T49" fmla="*/ 1 h 36"/>
                <a:gd name="T50" fmla="*/ 1 w 48"/>
                <a:gd name="T51" fmla="*/ 1 h 36"/>
                <a:gd name="T52" fmla="*/ 1 w 48"/>
                <a:gd name="T53" fmla="*/ 1 h 36"/>
                <a:gd name="T54" fmla="*/ 1 w 48"/>
                <a:gd name="T55" fmla="*/ 1 h 36"/>
                <a:gd name="T56" fmla="*/ 1 w 48"/>
                <a:gd name="T57" fmla="*/ 1 h 36"/>
                <a:gd name="T58" fmla="*/ 0 w 48"/>
                <a:gd name="T59" fmla="*/ 1 h 36"/>
                <a:gd name="T60" fmla="*/ 0 w 48"/>
                <a:gd name="T61" fmla="*/ 1 h 36"/>
                <a:gd name="T62" fmla="*/ 0 w 48"/>
                <a:gd name="T63" fmla="*/ 1 h 36"/>
                <a:gd name="T64" fmla="*/ 0 w 48"/>
                <a:gd name="T65" fmla="*/ 1 h 36"/>
                <a:gd name="T66" fmla="*/ 0 w 48"/>
                <a:gd name="T67" fmla="*/ 2 h 36"/>
                <a:gd name="T68" fmla="*/ 0 w 48"/>
                <a:gd name="T69" fmla="*/ 2 h 36"/>
                <a:gd name="T70" fmla="*/ 0 w 48"/>
                <a:gd name="T71" fmla="*/ 2 h 36"/>
                <a:gd name="T72" fmla="*/ 0 w 48"/>
                <a:gd name="T73" fmla="*/ 2 h 36"/>
                <a:gd name="T74" fmla="*/ 0 w 48"/>
                <a:gd name="T75" fmla="*/ 34 h 36"/>
                <a:gd name="T76" fmla="*/ 2 w 48"/>
                <a:gd name="T77" fmla="*/ 36 h 36"/>
                <a:gd name="T78" fmla="*/ 46 w 48"/>
                <a:gd name="T79" fmla="*/ 36 h 36"/>
                <a:gd name="T80" fmla="*/ 48 w 48"/>
                <a:gd name="T81" fmla="*/ 34 h 36"/>
                <a:gd name="T82" fmla="*/ 48 w 48"/>
                <a:gd name="T83" fmla="*/ 2 h 36"/>
                <a:gd name="T84" fmla="*/ 41 w 48"/>
                <a:gd name="T85" fmla="*/ 4 h 36"/>
                <a:gd name="T86" fmla="*/ 24 w 48"/>
                <a:gd name="T87" fmla="*/ 19 h 36"/>
                <a:gd name="T88" fmla="*/ 7 w 48"/>
                <a:gd name="T89" fmla="*/ 4 h 36"/>
                <a:gd name="T90" fmla="*/ 41 w 48"/>
                <a:gd name="T91" fmla="*/ 4 h 36"/>
                <a:gd name="T92" fmla="*/ 4 w 48"/>
                <a:gd name="T93" fmla="*/ 32 h 36"/>
                <a:gd name="T94" fmla="*/ 4 w 48"/>
                <a:gd name="T95" fmla="*/ 6 h 36"/>
                <a:gd name="T96" fmla="*/ 23 w 48"/>
                <a:gd name="T97" fmla="*/ 22 h 36"/>
                <a:gd name="T98" fmla="*/ 24 w 48"/>
                <a:gd name="T99" fmla="*/ 23 h 36"/>
                <a:gd name="T100" fmla="*/ 25 w 48"/>
                <a:gd name="T101" fmla="*/ 22 h 36"/>
                <a:gd name="T102" fmla="*/ 44 w 48"/>
                <a:gd name="T103" fmla="*/ 6 h 36"/>
                <a:gd name="T104" fmla="*/ 44 w 48"/>
                <a:gd name="T105" fmla="*/ 32 h 36"/>
                <a:gd name="T106" fmla="*/ 4 w 48"/>
                <a:gd name="T107" fmla="*/ 3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8" h="36">
                  <a:moveTo>
                    <a:pt x="48" y="2"/>
                  </a:moveTo>
                  <a:cubicBezTo>
                    <a:pt x="48" y="2"/>
                    <a:pt x="48" y="2"/>
                    <a:pt x="48" y="2"/>
                  </a:cubicBezTo>
                  <a:cubicBezTo>
                    <a:pt x="48" y="2"/>
                    <a:pt x="48" y="2"/>
                    <a:pt x="48" y="2"/>
                  </a:cubicBezTo>
                  <a:cubicBezTo>
                    <a:pt x="48" y="1"/>
                    <a:pt x="48" y="1"/>
                    <a:pt x="48" y="1"/>
                  </a:cubicBezTo>
                  <a:cubicBezTo>
                    <a:pt x="48" y="1"/>
                    <a:pt x="48" y="1"/>
                    <a:pt x="48" y="1"/>
                  </a:cubicBezTo>
                  <a:cubicBezTo>
                    <a:pt x="48" y="1"/>
                    <a:pt x="48" y="1"/>
                    <a:pt x="48" y="1"/>
                  </a:cubicBezTo>
                  <a:cubicBezTo>
                    <a:pt x="48" y="1"/>
                    <a:pt x="48" y="1"/>
                    <a:pt x="48" y="1"/>
                  </a:cubicBezTo>
                  <a:cubicBezTo>
                    <a:pt x="48" y="1"/>
                    <a:pt x="48" y="1"/>
                    <a:pt x="48" y="1"/>
                  </a:cubicBezTo>
                  <a:cubicBezTo>
                    <a:pt x="48" y="1"/>
                    <a:pt x="48" y="1"/>
                    <a:pt x="48" y="1"/>
                  </a:cubicBezTo>
                  <a:cubicBezTo>
                    <a:pt x="48" y="1"/>
                    <a:pt x="48" y="1"/>
                    <a:pt x="48" y="1"/>
                  </a:cubicBezTo>
                  <a:cubicBezTo>
                    <a:pt x="47" y="1"/>
                    <a:pt x="47" y="1"/>
                    <a:pt x="47" y="1"/>
                  </a:cubicBezTo>
                  <a:cubicBezTo>
                    <a:pt x="47" y="1"/>
                    <a:pt x="47" y="1"/>
                    <a:pt x="47" y="1"/>
                  </a:cubicBezTo>
                  <a:cubicBezTo>
                    <a:pt x="47" y="0"/>
                    <a:pt x="47" y="0"/>
                    <a:pt x="47" y="0"/>
                  </a:cubicBezTo>
                  <a:cubicBezTo>
                    <a:pt x="47" y="0"/>
                    <a:pt x="47" y="0"/>
                    <a:pt x="47" y="0"/>
                  </a:cubicBezTo>
                  <a:cubicBezTo>
                    <a:pt x="47" y="0"/>
                    <a:pt x="47" y="0"/>
                    <a:pt x="47" y="0"/>
                  </a:cubicBezTo>
                  <a:cubicBezTo>
                    <a:pt x="47" y="0"/>
                    <a:pt x="47" y="0"/>
                    <a:pt x="47" y="0"/>
                  </a:cubicBezTo>
                  <a:cubicBezTo>
                    <a:pt x="46" y="0"/>
                    <a:pt x="46" y="0"/>
                    <a:pt x="46" y="0"/>
                  </a:cubicBezTo>
                  <a:cubicBezTo>
                    <a:pt x="46" y="0"/>
                    <a:pt x="46" y="0"/>
                    <a:pt x="46" y="0"/>
                  </a:cubicBezTo>
                  <a:cubicBezTo>
                    <a:pt x="2" y="0"/>
                    <a:pt x="2" y="0"/>
                    <a:pt x="2" y="0"/>
                  </a:cubicBezTo>
                  <a:cubicBezTo>
                    <a:pt x="2" y="0"/>
                    <a:pt x="2" y="0"/>
                    <a:pt x="2" y="0"/>
                  </a:cubicBezTo>
                  <a:cubicBezTo>
                    <a:pt x="2" y="0"/>
                    <a:pt x="2" y="0"/>
                    <a:pt x="2" y="0"/>
                  </a:cubicBezTo>
                  <a:cubicBezTo>
                    <a:pt x="2" y="0"/>
                    <a:pt x="2" y="0"/>
                    <a:pt x="2" y="0"/>
                  </a:cubicBezTo>
                  <a:cubicBezTo>
                    <a:pt x="1" y="0"/>
                    <a:pt x="1" y="0"/>
                    <a:pt x="1" y="0"/>
                  </a:cubicBezTo>
                  <a:cubicBezTo>
                    <a:pt x="1" y="0"/>
                    <a:pt x="1" y="0"/>
                    <a:pt x="1" y="0"/>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0" y="2"/>
                  </a:cubicBezTo>
                  <a:cubicBezTo>
                    <a:pt x="0" y="34"/>
                    <a:pt x="0" y="34"/>
                    <a:pt x="0" y="34"/>
                  </a:cubicBezTo>
                  <a:cubicBezTo>
                    <a:pt x="0" y="35"/>
                    <a:pt x="1" y="36"/>
                    <a:pt x="2" y="36"/>
                  </a:cubicBezTo>
                  <a:cubicBezTo>
                    <a:pt x="46" y="36"/>
                    <a:pt x="46" y="36"/>
                    <a:pt x="46" y="36"/>
                  </a:cubicBezTo>
                  <a:cubicBezTo>
                    <a:pt x="47" y="36"/>
                    <a:pt x="48" y="35"/>
                    <a:pt x="48" y="34"/>
                  </a:cubicBezTo>
                  <a:cubicBezTo>
                    <a:pt x="48" y="2"/>
                    <a:pt x="48" y="2"/>
                    <a:pt x="48" y="2"/>
                  </a:cubicBezTo>
                  <a:close/>
                  <a:moveTo>
                    <a:pt x="41" y="4"/>
                  </a:moveTo>
                  <a:cubicBezTo>
                    <a:pt x="24" y="19"/>
                    <a:pt x="24" y="19"/>
                    <a:pt x="24" y="19"/>
                  </a:cubicBezTo>
                  <a:cubicBezTo>
                    <a:pt x="7" y="4"/>
                    <a:pt x="7" y="4"/>
                    <a:pt x="7" y="4"/>
                  </a:cubicBezTo>
                  <a:lnTo>
                    <a:pt x="41" y="4"/>
                  </a:lnTo>
                  <a:close/>
                  <a:moveTo>
                    <a:pt x="4" y="32"/>
                  </a:moveTo>
                  <a:cubicBezTo>
                    <a:pt x="4" y="6"/>
                    <a:pt x="4" y="6"/>
                    <a:pt x="4" y="6"/>
                  </a:cubicBezTo>
                  <a:cubicBezTo>
                    <a:pt x="23" y="22"/>
                    <a:pt x="23" y="22"/>
                    <a:pt x="23" y="22"/>
                  </a:cubicBezTo>
                  <a:cubicBezTo>
                    <a:pt x="23" y="23"/>
                    <a:pt x="24" y="23"/>
                    <a:pt x="24" y="23"/>
                  </a:cubicBezTo>
                  <a:cubicBezTo>
                    <a:pt x="25" y="23"/>
                    <a:pt x="25" y="23"/>
                    <a:pt x="25" y="22"/>
                  </a:cubicBezTo>
                  <a:cubicBezTo>
                    <a:pt x="44" y="6"/>
                    <a:pt x="44" y="6"/>
                    <a:pt x="44" y="6"/>
                  </a:cubicBezTo>
                  <a:cubicBezTo>
                    <a:pt x="44" y="32"/>
                    <a:pt x="44" y="32"/>
                    <a:pt x="44" y="32"/>
                  </a:cubicBezTo>
                  <a:lnTo>
                    <a:pt x="4" y="3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77"/>
              <a:endParaRPr lang="en-US">
                <a:solidFill>
                  <a:prstClr val="black"/>
                </a:solidFill>
              </a:endParaRPr>
            </a:p>
          </p:txBody>
        </p:sp>
        <p:sp>
          <p:nvSpPr>
            <p:cNvPr id="21" name="Rectangle 20"/>
            <p:cNvSpPr/>
            <p:nvPr/>
          </p:nvSpPr>
          <p:spPr>
            <a:xfrm>
              <a:off x="807810" y="5971281"/>
              <a:ext cx="2262168" cy="218298"/>
            </a:xfrm>
            <a:prstGeom prst="rect">
              <a:avLst/>
            </a:prstGeom>
          </p:spPr>
          <p:txBody>
            <a:bodyPr wrap="none" anchor="ctr">
              <a:spAutoFit/>
            </a:bodyPr>
            <a:lstStyle/>
            <a:p>
              <a:pPr defTabSz="914377"/>
              <a:r>
                <a:rPr lang="en-US" sz="1100" dirty="0">
                  <a:solidFill>
                    <a:prstClr val="white"/>
                  </a:solidFill>
                  <a:latin typeface="Poppins" panose="00000500000000000000" pitchFamily="2" charset="0"/>
                  <a:cs typeface="Poppins" panose="00000500000000000000" pitchFamily="2" charset="0"/>
                </a:rPr>
                <a:t>contact@centegytechnologies.com</a:t>
              </a:r>
            </a:p>
          </p:txBody>
        </p:sp>
      </p:grpSp>
      <p:sp>
        <p:nvSpPr>
          <p:cNvPr id="11" name="Rectangle 10"/>
          <p:cNvSpPr/>
          <p:nvPr/>
        </p:nvSpPr>
        <p:spPr>
          <a:xfrm>
            <a:off x="722042" y="3049519"/>
            <a:ext cx="9568405" cy="400110"/>
          </a:xfrm>
          <a:prstGeom prst="rect">
            <a:avLst/>
          </a:prstGeom>
        </p:spPr>
        <p:txBody>
          <a:bodyPr wrap="square">
            <a:spAutoFit/>
          </a:bodyPr>
          <a:lstStyle/>
          <a:p>
            <a:pPr marL="0" lvl="1" indent="-571500" algn="ctr" defTabSz="914354">
              <a:lnSpc>
                <a:spcPct val="80000"/>
              </a:lnSpc>
              <a:defRPr/>
            </a:pPr>
            <a:r>
              <a:rPr lang="en-US" sz="2400" dirty="0">
                <a:solidFill>
                  <a:schemeClr val="bg1"/>
                </a:solidFill>
                <a:latin typeface="Poppins" panose="00000500000000000000" pitchFamily="2" charset="0"/>
                <a:cs typeface="Poppins" panose="00000500000000000000" pitchFamily="2" charset="0"/>
              </a:rPr>
              <a:t>Comprehensive Walkthrough of Outlet Profiling Version 1.2</a:t>
            </a:r>
          </a:p>
        </p:txBody>
      </p:sp>
    </p:spTree>
    <p:custDataLst>
      <p:tags r:id="rId1"/>
    </p:custDataLst>
    <p:extLst>
      <p:ext uri="{BB962C8B-B14F-4D97-AF65-F5344CB8AC3E}">
        <p14:creationId xmlns:p14="http://schemas.microsoft.com/office/powerpoint/2010/main" val="2496642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246247"/>
            <a:ext cx="12192000" cy="451406"/>
          </a:xfrm>
          <a:prstGeom prst="rect">
            <a:avLst/>
          </a:prstGeom>
        </p:spPr>
        <p:txBody>
          <a:bodyPr wrap="square">
            <a:spAutoFit/>
          </a:bodyPr>
          <a:lstStyle/>
          <a:p>
            <a:pPr marL="0" lvl="1" indent="-571500" algn="ctr" defTabSz="914354">
              <a:lnSpc>
                <a:spcPct val="80000"/>
              </a:lnSpc>
              <a:defRPr/>
            </a:pPr>
            <a:r>
              <a:rPr lang="en-ID" sz="2800" b="1" dirty="0">
                <a:solidFill>
                  <a:schemeClr val="bg1"/>
                </a:solidFill>
                <a:latin typeface="Poppins" panose="00000500000000000000" pitchFamily="2" charset="0"/>
                <a:cs typeface="Poppins" panose="00000500000000000000" pitchFamily="2" charset="0"/>
              </a:rPr>
              <a:t>Outline</a:t>
            </a:r>
          </a:p>
        </p:txBody>
      </p:sp>
      <p:sp>
        <p:nvSpPr>
          <p:cNvPr id="9" name="Rectangle 8">
            <a:extLst>
              <a:ext uri="{FF2B5EF4-FFF2-40B4-BE49-F238E27FC236}">
                <a16:creationId xmlns:a16="http://schemas.microsoft.com/office/drawing/2014/main" id="{9FFC4414-7E34-A37A-064E-7E0370AD6BAE}"/>
              </a:ext>
            </a:extLst>
          </p:cNvPr>
          <p:cNvSpPr/>
          <p:nvPr/>
        </p:nvSpPr>
        <p:spPr>
          <a:xfrm>
            <a:off x="1414480" y="1749143"/>
            <a:ext cx="4349711" cy="372175"/>
          </a:xfrm>
          <a:prstGeom prst="rect">
            <a:avLst/>
          </a:prstGeom>
        </p:spPr>
        <p:txBody>
          <a:bodyPr wrap="square">
            <a:spAutoFit/>
          </a:bodyPr>
          <a:lstStyle/>
          <a:p>
            <a:pPr lvl="0"/>
            <a:r>
              <a:rPr lang="en-US" dirty="0">
                <a:solidFill>
                  <a:schemeClr val="bg1"/>
                </a:solidFill>
              </a:rPr>
              <a:t>Outlet Master Introduction and Workflow</a:t>
            </a:r>
          </a:p>
        </p:txBody>
      </p:sp>
      <p:sp>
        <p:nvSpPr>
          <p:cNvPr id="2" name="TextBox 1"/>
          <p:cNvSpPr txBox="1"/>
          <p:nvPr/>
        </p:nvSpPr>
        <p:spPr>
          <a:xfrm>
            <a:off x="836351" y="1714551"/>
            <a:ext cx="597371" cy="461665"/>
          </a:xfrm>
          <a:prstGeom prst="rect">
            <a:avLst/>
          </a:prstGeom>
          <a:noFill/>
        </p:spPr>
        <p:txBody>
          <a:bodyPr wrap="square" rtlCol="0">
            <a:spAutoFit/>
          </a:bodyPr>
          <a:lstStyle/>
          <a:p>
            <a:pPr algn="ctr"/>
            <a:r>
              <a:rPr lang="en-US" sz="2400" b="1" dirty="0">
                <a:solidFill>
                  <a:schemeClr val="bg1"/>
                </a:solidFill>
              </a:rPr>
              <a:t>01.</a:t>
            </a:r>
          </a:p>
        </p:txBody>
      </p:sp>
      <p:sp>
        <p:nvSpPr>
          <p:cNvPr id="14" name="TextBox 13"/>
          <p:cNvSpPr txBox="1"/>
          <p:nvPr/>
        </p:nvSpPr>
        <p:spPr>
          <a:xfrm>
            <a:off x="836341" y="2081254"/>
            <a:ext cx="597371" cy="461665"/>
          </a:xfrm>
          <a:prstGeom prst="rect">
            <a:avLst/>
          </a:prstGeom>
          <a:noFill/>
        </p:spPr>
        <p:txBody>
          <a:bodyPr wrap="square" rtlCol="0">
            <a:spAutoFit/>
          </a:bodyPr>
          <a:lstStyle/>
          <a:p>
            <a:pPr algn="ctr"/>
            <a:r>
              <a:rPr lang="en-US" sz="2400" b="1" dirty="0">
                <a:solidFill>
                  <a:schemeClr val="bg1"/>
                </a:solidFill>
              </a:rPr>
              <a:t>02.</a:t>
            </a:r>
          </a:p>
        </p:txBody>
      </p:sp>
      <p:sp>
        <p:nvSpPr>
          <p:cNvPr id="15" name="TextBox 14"/>
          <p:cNvSpPr txBox="1"/>
          <p:nvPr/>
        </p:nvSpPr>
        <p:spPr>
          <a:xfrm>
            <a:off x="836332" y="2435871"/>
            <a:ext cx="597371" cy="461665"/>
          </a:xfrm>
          <a:prstGeom prst="rect">
            <a:avLst/>
          </a:prstGeom>
          <a:noFill/>
        </p:spPr>
        <p:txBody>
          <a:bodyPr wrap="square" rtlCol="0">
            <a:spAutoFit/>
          </a:bodyPr>
          <a:lstStyle/>
          <a:p>
            <a:pPr algn="ctr"/>
            <a:r>
              <a:rPr lang="en-US" sz="2400" b="1" dirty="0">
                <a:solidFill>
                  <a:schemeClr val="bg1"/>
                </a:solidFill>
              </a:rPr>
              <a:t>03.</a:t>
            </a:r>
          </a:p>
        </p:txBody>
      </p:sp>
      <p:sp>
        <p:nvSpPr>
          <p:cNvPr id="22" name="TextBox 21"/>
          <p:cNvSpPr txBox="1"/>
          <p:nvPr/>
        </p:nvSpPr>
        <p:spPr>
          <a:xfrm>
            <a:off x="836332" y="2803236"/>
            <a:ext cx="597371" cy="461665"/>
          </a:xfrm>
          <a:prstGeom prst="rect">
            <a:avLst/>
          </a:prstGeom>
          <a:noFill/>
        </p:spPr>
        <p:txBody>
          <a:bodyPr wrap="square" rtlCol="0">
            <a:spAutoFit/>
          </a:bodyPr>
          <a:lstStyle/>
          <a:p>
            <a:pPr algn="ctr"/>
            <a:r>
              <a:rPr lang="en-US" sz="2400" b="1" dirty="0">
                <a:solidFill>
                  <a:schemeClr val="bg1"/>
                </a:solidFill>
              </a:rPr>
              <a:t>04.</a:t>
            </a:r>
          </a:p>
        </p:txBody>
      </p:sp>
      <p:sp>
        <p:nvSpPr>
          <p:cNvPr id="23" name="TextBox 22"/>
          <p:cNvSpPr txBox="1"/>
          <p:nvPr/>
        </p:nvSpPr>
        <p:spPr>
          <a:xfrm>
            <a:off x="836331" y="3166989"/>
            <a:ext cx="597371" cy="461665"/>
          </a:xfrm>
          <a:prstGeom prst="rect">
            <a:avLst/>
          </a:prstGeom>
          <a:noFill/>
        </p:spPr>
        <p:txBody>
          <a:bodyPr wrap="square" rtlCol="0">
            <a:spAutoFit/>
          </a:bodyPr>
          <a:lstStyle/>
          <a:p>
            <a:pPr algn="ctr"/>
            <a:r>
              <a:rPr lang="en-US" sz="2400" b="1" dirty="0">
                <a:solidFill>
                  <a:schemeClr val="bg1"/>
                </a:solidFill>
              </a:rPr>
              <a:t>05.</a:t>
            </a:r>
          </a:p>
        </p:txBody>
      </p:sp>
      <p:sp>
        <p:nvSpPr>
          <p:cNvPr id="24" name="TextBox 23"/>
          <p:cNvSpPr txBox="1"/>
          <p:nvPr/>
        </p:nvSpPr>
        <p:spPr>
          <a:xfrm>
            <a:off x="836331" y="3519683"/>
            <a:ext cx="597371" cy="461665"/>
          </a:xfrm>
          <a:prstGeom prst="rect">
            <a:avLst/>
          </a:prstGeom>
          <a:noFill/>
        </p:spPr>
        <p:txBody>
          <a:bodyPr wrap="square" rtlCol="0">
            <a:spAutoFit/>
          </a:bodyPr>
          <a:lstStyle/>
          <a:p>
            <a:pPr algn="ctr"/>
            <a:r>
              <a:rPr lang="en-US" sz="2400" b="1" dirty="0">
                <a:solidFill>
                  <a:schemeClr val="bg1"/>
                </a:solidFill>
              </a:rPr>
              <a:t>06.</a:t>
            </a:r>
          </a:p>
        </p:txBody>
      </p:sp>
      <p:sp>
        <p:nvSpPr>
          <p:cNvPr id="25" name="TextBox 24"/>
          <p:cNvSpPr txBox="1"/>
          <p:nvPr/>
        </p:nvSpPr>
        <p:spPr>
          <a:xfrm>
            <a:off x="836331" y="3868400"/>
            <a:ext cx="597371" cy="461665"/>
          </a:xfrm>
          <a:prstGeom prst="rect">
            <a:avLst/>
          </a:prstGeom>
          <a:noFill/>
        </p:spPr>
        <p:txBody>
          <a:bodyPr wrap="square" rtlCol="0">
            <a:spAutoFit/>
          </a:bodyPr>
          <a:lstStyle/>
          <a:p>
            <a:pPr algn="ctr"/>
            <a:r>
              <a:rPr lang="en-US" sz="2400" b="1" dirty="0">
                <a:solidFill>
                  <a:schemeClr val="bg1"/>
                </a:solidFill>
              </a:rPr>
              <a:t>07.</a:t>
            </a:r>
          </a:p>
        </p:txBody>
      </p:sp>
      <p:sp>
        <p:nvSpPr>
          <p:cNvPr id="26" name="TextBox 25"/>
          <p:cNvSpPr txBox="1"/>
          <p:nvPr/>
        </p:nvSpPr>
        <p:spPr>
          <a:xfrm>
            <a:off x="836331" y="4233189"/>
            <a:ext cx="597371" cy="461665"/>
          </a:xfrm>
          <a:prstGeom prst="rect">
            <a:avLst/>
          </a:prstGeom>
          <a:noFill/>
        </p:spPr>
        <p:txBody>
          <a:bodyPr wrap="square" rtlCol="0">
            <a:spAutoFit/>
          </a:bodyPr>
          <a:lstStyle/>
          <a:p>
            <a:pPr algn="ctr"/>
            <a:r>
              <a:rPr lang="en-US" sz="2400" b="1" dirty="0">
                <a:solidFill>
                  <a:schemeClr val="bg1"/>
                </a:solidFill>
              </a:rPr>
              <a:t>08.</a:t>
            </a:r>
          </a:p>
        </p:txBody>
      </p:sp>
      <p:sp>
        <p:nvSpPr>
          <p:cNvPr id="27" name="TextBox 26"/>
          <p:cNvSpPr txBox="1"/>
          <p:nvPr/>
        </p:nvSpPr>
        <p:spPr>
          <a:xfrm>
            <a:off x="836331" y="4585275"/>
            <a:ext cx="597371" cy="461665"/>
          </a:xfrm>
          <a:prstGeom prst="rect">
            <a:avLst/>
          </a:prstGeom>
          <a:noFill/>
        </p:spPr>
        <p:txBody>
          <a:bodyPr wrap="square" rtlCol="0">
            <a:spAutoFit/>
          </a:bodyPr>
          <a:lstStyle/>
          <a:p>
            <a:pPr algn="ctr"/>
            <a:r>
              <a:rPr lang="en-US" sz="2400" b="1" dirty="0">
                <a:solidFill>
                  <a:schemeClr val="bg1"/>
                </a:solidFill>
              </a:rPr>
              <a:t>09.</a:t>
            </a:r>
          </a:p>
        </p:txBody>
      </p:sp>
      <p:sp>
        <p:nvSpPr>
          <p:cNvPr id="28" name="TextBox 27"/>
          <p:cNvSpPr txBox="1"/>
          <p:nvPr/>
        </p:nvSpPr>
        <p:spPr>
          <a:xfrm>
            <a:off x="826720" y="4979603"/>
            <a:ext cx="597371" cy="461665"/>
          </a:xfrm>
          <a:prstGeom prst="rect">
            <a:avLst/>
          </a:prstGeom>
          <a:noFill/>
        </p:spPr>
        <p:txBody>
          <a:bodyPr wrap="square" rtlCol="0">
            <a:spAutoFit/>
          </a:bodyPr>
          <a:lstStyle/>
          <a:p>
            <a:pPr algn="ctr"/>
            <a:r>
              <a:rPr lang="en-US" sz="2400" b="1" dirty="0">
                <a:solidFill>
                  <a:schemeClr val="bg1"/>
                </a:solidFill>
              </a:rPr>
              <a:t>10.</a:t>
            </a:r>
          </a:p>
        </p:txBody>
      </p:sp>
      <p:sp>
        <p:nvSpPr>
          <p:cNvPr id="29" name="TextBox 28"/>
          <p:cNvSpPr txBox="1"/>
          <p:nvPr/>
        </p:nvSpPr>
        <p:spPr>
          <a:xfrm>
            <a:off x="817110" y="5346968"/>
            <a:ext cx="597371" cy="461665"/>
          </a:xfrm>
          <a:prstGeom prst="rect">
            <a:avLst/>
          </a:prstGeom>
          <a:noFill/>
        </p:spPr>
        <p:txBody>
          <a:bodyPr wrap="square" rtlCol="0">
            <a:spAutoFit/>
          </a:bodyPr>
          <a:lstStyle/>
          <a:p>
            <a:pPr algn="ctr"/>
            <a:r>
              <a:rPr lang="en-US" sz="2400" b="1" dirty="0">
                <a:solidFill>
                  <a:schemeClr val="bg1"/>
                </a:solidFill>
              </a:rPr>
              <a:t>11.</a:t>
            </a:r>
          </a:p>
        </p:txBody>
      </p:sp>
      <p:cxnSp>
        <p:nvCxnSpPr>
          <p:cNvPr id="5" name="Straight Connector 4"/>
          <p:cNvCxnSpPr/>
          <p:nvPr/>
        </p:nvCxnSpPr>
        <p:spPr>
          <a:xfrm>
            <a:off x="3635022" y="685957"/>
            <a:ext cx="5215467"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9FFC4414-7E34-A37A-064E-7E0370AD6BAE}"/>
              </a:ext>
            </a:extLst>
          </p:cNvPr>
          <p:cNvSpPr/>
          <p:nvPr/>
        </p:nvSpPr>
        <p:spPr>
          <a:xfrm>
            <a:off x="1414481" y="2136288"/>
            <a:ext cx="3663852" cy="369332"/>
          </a:xfrm>
          <a:prstGeom prst="rect">
            <a:avLst/>
          </a:prstGeom>
        </p:spPr>
        <p:txBody>
          <a:bodyPr wrap="square">
            <a:spAutoFit/>
          </a:bodyPr>
          <a:lstStyle/>
          <a:p>
            <a:pPr lvl="0"/>
            <a:r>
              <a:rPr lang="en-US" dirty="0">
                <a:solidFill>
                  <a:schemeClr val="bg1"/>
                </a:solidFill>
              </a:rPr>
              <a:t>Outlet Profile Creation</a:t>
            </a:r>
          </a:p>
        </p:txBody>
      </p:sp>
      <p:sp>
        <p:nvSpPr>
          <p:cNvPr id="30" name="Rectangle 29">
            <a:extLst>
              <a:ext uri="{FF2B5EF4-FFF2-40B4-BE49-F238E27FC236}">
                <a16:creationId xmlns:a16="http://schemas.microsoft.com/office/drawing/2014/main" id="{9FFC4414-7E34-A37A-064E-7E0370AD6BAE}"/>
              </a:ext>
            </a:extLst>
          </p:cNvPr>
          <p:cNvSpPr/>
          <p:nvPr/>
        </p:nvSpPr>
        <p:spPr>
          <a:xfrm>
            <a:off x="1414481" y="2515646"/>
            <a:ext cx="3663852" cy="369332"/>
          </a:xfrm>
          <a:prstGeom prst="rect">
            <a:avLst/>
          </a:prstGeom>
        </p:spPr>
        <p:txBody>
          <a:bodyPr wrap="square">
            <a:spAutoFit/>
          </a:bodyPr>
          <a:lstStyle/>
          <a:p>
            <a:pPr lvl="0"/>
            <a:r>
              <a:rPr lang="en-US" dirty="0">
                <a:solidFill>
                  <a:schemeClr val="bg1"/>
                </a:solidFill>
              </a:rPr>
              <a:t>Outlet Profile Approval</a:t>
            </a:r>
          </a:p>
        </p:txBody>
      </p:sp>
      <p:sp>
        <p:nvSpPr>
          <p:cNvPr id="33" name="Rectangle 32">
            <a:extLst>
              <a:ext uri="{FF2B5EF4-FFF2-40B4-BE49-F238E27FC236}">
                <a16:creationId xmlns:a16="http://schemas.microsoft.com/office/drawing/2014/main" id="{9FFC4414-7E34-A37A-064E-7E0370AD6BAE}"/>
              </a:ext>
            </a:extLst>
          </p:cNvPr>
          <p:cNvSpPr/>
          <p:nvPr/>
        </p:nvSpPr>
        <p:spPr>
          <a:xfrm>
            <a:off x="1414481" y="2871246"/>
            <a:ext cx="3663852" cy="369332"/>
          </a:xfrm>
          <a:prstGeom prst="rect">
            <a:avLst/>
          </a:prstGeom>
        </p:spPr>
        <p:txBody>
          <a:bodyPr wrap="square">
            <a:spAutoFit/>
          </a:bodyPr>
          <a:lstStyle/>
          <a:p>
            <a:pPr lvl="0"/>
            <a:r>
              <a:rPr lang="en-US" dirty="0">
                <a:solidFill>
                  <a:schemeClr val="bg1"/>
                </a:solidFill>
              </a:rPr>
              <a:t>Change Track Outlet Profile</a:t>
            </a:r>
          </a:p>
        </p:txBody>
      </p:sp>
      <p:sp>
        <p:nvSpPr>
          <p:cNvPr id="34" name="Rectangle 33">
            <a:extLst>
              <a:ext uri="{FF2B5EF4-FFF2-40B4-BE49-F238E27FC236}">
                <a16:creationId xmlns:a16="http://schemas.microsoft.com/office/drawing/2014/main" id="{9FFC4414-7E34-A37A-064E-7E0370AD6BAE}"/>
              </a:ext>
            </a:extLst>
          </p:cNvPr>
          <p:cNvSpPr/>
          <p:nvPr/>
        </p:nvSpPr>
        <p:spPr>
          <a:xfrm>
            <a:off x="1433701" y="3215144"/>
            <a:ext cx="3663852" cy="369332"/>
          </a:xfrm>
          <a:prstGeom prst="rect">
            <a:avLst/>
          </a:prstGeom>
        </p:spPr>
        <p:txBody>
          <a:bodyPr wrap="square">
            <a:spAutoFit/>
          </a:bodyPr>
          <a:lstStyle/>
          <a:p>
            <a:r>
              <a:rPr lang="en-US" dirty="0">
                <a:solidFill>
                  <a:schemeClr val="bg1"/>
                </a:solidFill>
              </a:rPr>
              <a:t>Change Track Outlet Operative Info</a:t>
            </a:r>
          </a:p>
        </p:txBody>
      </p:sp>
      <p:sp>
        <p:nvSpPr>
          <p:cNvPr id="35" name="Rectangle 34">
            <a:extLst>
              <a:ext uri="{FF2B5EF4-FFF2-40B4-BE49-F238E27FC236}">
                <a16:creationId xmlns:a16="http://schemas.microsoft.com/office/drawing/2014/main" id="{9FFC4414-7E34-A37A-064E-7E0370AD6BAE}"/>
              </a:ext>
            </a:extLst>
          </p:cNvPr>
          <p:cNvSpPr/>
          <p:nvPr/>
        </p:nvSpPr>
        <p:spPr>
          <a:xfrm>
            <a:off x="1433701" y="3582596"/>
            <a:ext cx="3663852" cy="369332"/>
          </a:xfrm>
          <a:prstGeom prst="rect">
            <a:avLst/>
          </a:prstGeom>
        </p:spPr>
        <p:txBody>
          <a:bodyPr wrap="square">
            <a:spAutoFit/>
          </a:bodyPr>
          <a:lstStyle/>
          <a:p>
            <a:pPr lvl="0"/>
            <a:r>
              <a:rPr lang="en-US" dirty="0">
                <a:solidFill>
                  <a:schemeClr val="bg1"/>
                </a:solidFill>
              </a:rPr>
              <a:t>Change Track Outlet Document</a:t>
            </a:r>
          </a:p>
        </p:txBody>
      </p:sp>
      <p:sp>
        <p:nvSpPr>
          <p:cNvPr id="36" name="Rectangle 35">
            <a:extLst>
              <a:ext uri="{FF2B5EF4-FFF2-40B4-BE49-F238E27FC236}">
                <a16:creationId xmlns:a16="http://schemas.microsoft.com/office/drawing/2014/main" id="{9FFC4414-7E34-A37A-064E-7E0370AD6BAE}"/>
              </a:ext>
            </a:extLst>
          </p:cNvPr>
          <p:cNvSpPr/>
          <p:nvPr/>
        </p:nvSpPr>
        <p:spPr>
          <a:xfrm>
            <a:off x="1433701" y="3902991"/>
            <a:ext cx="3663852" cy="369332"/>
          </a:xfrm>
          <a:prstGeom prst="rect">
            <a:avLst/>
          </a:prstGeom>
        </p:spPr>
        <p:txBody>
          <a:bodyPr wrap="square">
            <a:spAutoFit/>
          </a:bodyPr>
          <a:lstStyle/>
          <a:p>
            <a:pPr lvl="0"/>
            <a:r>
              <a:rPr lang="en-US" dirty="0">
                <a:solidFill>
                  <a:schemeClr val="bg1"/>
                </a:solidFill>
              </a:rPr>
              <a:t>Analysis Classification-Outlet</a:t>
            </a:r>
          </a:p>
        </p:txBody>
      </p:sp>
      <p:sp>
        <p:nvSpPr>
          <p:cNvPr id="37" name="Rectangle 36">
            <a:extLst>
              <a:ext uri="{FF2B5EF4-FFF2-40B4-BE49-F238E27FC236}">
                <a16:creationId xmlns:a16="http://schemas.microsoft.com/office/drawing/2014/main" id="{9FFC4414-7E34-A37A-064E-7E0370AD6BAE}"/>
              </a:ext>
            </a:extLst>
          </p:cNvPr>
          <p:cNvSpPr/>
          <p:nvPr/>
        </p:nvSpPr>
        <p:spPr>
          <a:xfrm>
            <a:off x="1424091" y="4267780"/>
            <a:ext cx="3663852" cy="369332"/>
          </a:xfrm>
          <a:prstGeom prst="rect">
            <a:avLst/>
          </a:prstGeom>
        </p:spPr>
        <p:txBody>
          <a:bodyPr wrap="square">
            <a:spAutoFit/>
          </a:bodyPr>
          <a:lstStyle/>
          <a:p>
            <a:pPr lvl="0"/>
            <a:r>
              <a:rPr lang="en-US" dirty="0">
                <a:solidFill>
                  <a:schemeClr val="bg1"/>
                </a:solidFill>
              </a:rPr>
              <a:t>Outlet Status</a:t>
            </a:r>
          </a:p>
        </p:txBody>
      </p:sp>
      <p:sp>
        <p:nvSpPr>
          <p:cNvPr id="38" name="Rectangle 37">
            <a:extLst>
              <a:ext uri="{FF2B5EF4-FFF2-40B4-BE49-F238E27FC236}">
                <a16:creationId xmlns:a16="http://schemas.microsoft.com/office/drawing/2014/main" id="{9FFC4414-7E34-A37A-064E-7E0370AD6BAE}"/>
              </a:ext>
            </a:extLst>
          </p:cNvPr>
          <p:cNvSpPr/>
          <p:nvPr/>
        </p:nvSpPr>
        <p:spPr>
          <a:xfrm>
            <a:off x="1414481" y="4623767"/>
            <a:ext cx="3663852" cy="369332"/>
          </a:xfrm>
          <a:prstGeom prst="rect">
            <a:avLst/>
          </a:prstGeom>
        </p:spPr>
        <p:txBody>
          <a:bodyPr wrap="square">
            <a:spAutoFit/>
          </a:bodyPr>
          <a:lstStyle/>
          <a:p>
            <a:pPr lvl="0"/>
            <a:r>
              <a:rPr lang="en-US" dirty="0">
                <a:solidFill>
                  <a:schemeClr val="bg1"/>
                </a:solidFill>
              </a:rPr>
              <a:t>Outlet Profile View</a:t>
            </a:r>
          </a:p>
        </p:txBody>
      </p:sp>
      <p:sp>
        <p:nvSpPr>
          <p:cNvPr id="39" name="Rectangle 38">
            <a:extLst>
              <a:ext uri="{FF2B5EF4-FFF2-40B4-BE49-F238E27FC236}">
                <a16:creationId xmlns:a16="http://schemas.microsoft.com/office/drawing/2014/main" id="{9FFC4414-7E34-A37A-064E-7E0370AD6BAE}"/>
              </a:ext>
            </a:extLst>
          </p:cNvPr>
          <p:cNvSpPr/>
          <p:nvPr/>
        </p:nvSpPr>
        <p:spPr>
          <a:xfrm>
            <a:off x="1424091" y="5002161"/>
            <a:ext cx="3663852" cy="369332"/>
          </a:xfrm>
          <a:prstGeom prst="rect">
            <a:avLst/>
          </a:prstGeom>
        </p:spPr>
        <p:txBody>
          <a:bodyPr wrap="square">
            <a:spAutoFit/>
          </a:bodyPr>
          <a:lstStyle/>
          <a:p>
            <a:r>
              <a:rPr lang="en-US" dirty="0">
                <a:solidFill>
                  <a:schemeClr val="bg1"/>
                </a:solidFill>
              </a:rPr>
              <a:t>Outlet Change Track Excel</a:t>
            </a:r>
          </a:p>
        </p:txBody>
      </p:sp>
      <p:sp>
        <p:nvSpPr>
          <p:cNvPr id="40" name="Rectangle 39">
            <a:extLst>
              <a:ext uri="{FF2B5EF4-FFF2-40B4-BE49-F238E27FC236}">
                <a16:creationId xmlns:a16="http://schemas.microsoft.com/office/drawing/2014/main" id="{9FFC4414-7E34-A37A-064E-7E0370AD6BAE}"/>
              </a:ext>
            </a:extLst>
          </p:cNvPr>
          <p:cNvSpPr/>
          <p:nvPr/>
        </p:nvSpPr>
        <p:spPr>
          <a:xfrm>
            <a:off x="1433701" y="5379325"/>
            <a:ext cx="3663852" cy="369332"/>
          </a:xfrm>
          <a:prstGeom prst="rect">
            <a:avLst/>
          </a:prstGeom>
        </p:spPr>
        <p:txBody>
          <a:bodyPr wrap="square">
            <a:spAutoFit/>
          </a:bodyPr>
          <a:lstStyle/>
          <a:p>
            <a:pPr lvl="0"/>
            <a:r>
              <a:rPr lang="en-US" dirty="0">
                <a:solidFill>
                  <a:schemeClr val="bg1"/>
                </a:solidFill>
              </a:rPr>
              <a:t>Outlet Creation Upload</a:t>
            </a:r>
          </a:p>
        </p:txBody>
      </p:sp>
      <p:sp>
        <p:nvSpPr>
          <p:cNvPr id="32" name="Rectangle 31">
            <a:extLst>
              <a:ext uri="{FF2B5EF4-FFF2-40B4-BE49-F238E27FC236}">
                <a16:creationId xmlns:a16="http://schemas.microsoft.com/office/drawing/2014/main" id="{9FFC4414-7E34-A37A-064E-7E0370AD6BAE}"/>
              </a:ext>
            </a:extLst>
          </p:cNvPr>
          <p:cNvSpPr/>
          <p:nvPr/>
        </p:nvSpPr>
        <p:spPr>
          <a:xfrm>
            <a:off x="836331" y="1163953"/>
            <a:ext cx="5402423" cy="369332"/>
          </a:xfrm>
          <a:prstGeom prst="rect">
            <a:avLst/>
          </a:prstGeom>
        </p:spPr>
        <p:txBody>
          <a:bodyPr wrap="square">
            <a:spAutoFit/>
          </a:bodyPr>
          <a:lstStyle/>
          <a:p>
            <a:pPr lvl="0"/>
            <a:r>
              <a:rPr lang="en-US" dirty="0">
                <a:solidFill>
                  <a:schemeClr val="bg1"/>
                </a:solidFill>
              </a:rPr>
              <a:t>Below are the list of topics covered in this guide.</a:t>
            </a:r>
          </a:p>
        </p:txBody>
      </p:sp>
    </p:spTree>
    <p:extLst>
      <p:ext uri="{BB962C8B-B14F-4D97-AF65-F5344CB8AC3E}">
        <p14:creationId xmlns:p14="http://schemas.microsoft.com/office/powerpoint/2010/main" val="3099967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539733" y="4865792"/>
            <a:ext cx="2735389" cy="1078145"/>
          </a:xfrm>
          <a:prstGeom prst="roundRect">
            <a:avLst/>
          </a:prstGeom>
          <a:solidFill>
            <a:schemeClr val="bg1"/>
          </a:solidFill>
          <a:ln w="9525">
            <a:solidFill>
              <a:srgbClr val="0070C0"/>
            </a:solidFill>
            <a:prstDash val="dash"/>
          </a:ln>
          <a:effectLst>
            <a:outerShdw blurRad="317500" algn="ctr"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sz="1000" dirty="0">
              <a:latin typeface="Poppins" panose="00000500000000000000" pitchFamily="2" charset="0"/>
              <a:cs typeface="Poppins" panose="00000500000000000000" pitchFamily="2" charset="0"/>
            </a:endParaRPr>
          </a:p>
          <a:p>
            <a:pPr algn="just"/>
            <a:r>
              <a:rPr lang="en-US" sz="1000" dirty="0">
                <a:latin typeface="Poppins" panose="00000500000000000000" pitchFamily="2" charset="0"/>
                <a:cs typeface="Poppins" panose="00000500000000000000" pitchFamily="2" charset="0"/>
              </a:rPr>
              <a:t>Modify operative information of approved outlets. Users can update details related to outlet operations as needed.</a:t>
            </a:r>
          </a:p>
        </p:txBody>
      </p:sp>
      <p:sp>
        <p:nvSpPr>
          <p:cNvPr id="5" name="Rounded Rectangle 76">
            <a:extLst>
              <a:ext uri="{FF2B5EF4-FFF2-40B4-BE49-F238E27FC236}">
                <a16:creationId xmlns:a16="http://schemas.microsoft.com/office/drawing/2014/main" id="{49D79DD3-0FF4-22FA-244B-DAF09A7FFE2D}"/>
              </a:ext>
            </a:extLst>
          </p:cNvPr>
          <p:cNvSpPr/>
          <p:nvPr/>
        </p:nvSpPr>
        <p:spPr>
          <a:xfrm>
            <a:off x="4812454" y="4718345"/>
            <a:ext cx="2189001" cy="302909"/>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90000"/>
              </a:lnSpc>
              <a:spcBef>
                <a:spcPct val="0"/>
              </a:spcBef>
              <a:spcAft>
                <a:spcPct val="35000"/>
              </a:spcAft>
              <a:defRPr/>
            </a:pPr>
            <a:r>
              <a:rPr lang="en-GB" sz="1000" b="1" dirty="0">
                <a:solidFill>
                  <a:prstClr val="white"/>
                </a:solidFill>
                <a:latin typeface="Poppins" panose="00000500000000000000" pitchFamily="2" charset="0"/>
                <a:cs typeface="Poppins" panose="00000500000000000000" pitchFamily="2" charset="0"/>
              </a:rPr>
              <a:t>Change Track Outlet Operative Info</a:t>
            </a:r>
          </a:p>
        </p:txBody>
      </p:sp>
      <p:cxnSp>
        <p:nvCxnSpPr>
          <p:cNvPr id="6" name="Straight Arrow Connector 5"/>
          <p:cNvCxnSpPr>
            <a:stCxn id="12" idx="2"/>
          </p:cNvCxnSpPr>
          <p:nvPr/>
        </p:nvCxnSpPr>
        <p:spPr>
          <a:xfrm flipH="1">
            <a:off x="2485973" y="4024362"/>
            <a:ext cx="474" cy="362257"/>
          </a:xfrm>
          <a:prstGeom prst="straightConnector1">
            <a:avLst/>
          </a:prstGeom>
          <a:ln w="28575">
            <a:solidFill>
              <a:srgbClr val="0070C0"/>
            </a:solidFill>
            <a:tailEnd type="triangle" w="lg" len="med"/>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4535530" y="2946274"/>
            <a:ext cx="2735389" cy="1078145"/>
          </a:xfrm>
          <a:prstGeom prst="roundRect">
            <a:avLst/>
          </a:prstGeom>
          <a:solidFill>
            <a:schemeClr val="bg1"/>
          </a:solidFill>
          <a:ln w="9525">
            <a:solidFill>
              <a:srgbClr val="0070C0"/>
            </a:solidFill>
            <a:prstDash val="dash"/>
          </a:ln>
          <a:effectLst>
            <a:outerShdw blurRad="317500" algn="ctr"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sz="1000" dirty="0">
              <a:latin typeface="Poppins" panose="00000500000000000000" pitchFamily="2" charset="0"/>
              <a:cs typeface="Poppins" panose="00000500000000000000" pitchFamily="2" charset="0"/>
            </a:endParaRPr>
          </a:p>
          <a:p>
            <a:pPr algn="just"/>
            <a:r>
              <a:rPr lang="en-US" sz="1000" dirty="0">
                <a:latin typeface="Poppins" panose="00000500000000000000" pitchFamily="2" charset="0"/>
                <a:cs typeface="Poppins" panose="00000500000000000000" pitchFamily="2" charset="0"/>
              </a:rPr>
              <a:t>Modify specific attributes of approved outlets. Users can update outlet details to reflect the most current information.</a:t>
            </a:r>
          </a:p>
        </p:txBody>
      </p:sp>
      <p:sp>
        <p:nvSpPr>
          <p:cNvPr id="8" name="Rounded Rectangle 76">
            <a:extLst>
              <a:ext uri="{FF2B5EF4-FFF2-40B4-BE49-F238E27FC236}">
                <a16:creationId xmlns:a16="http://schemas.microsoft.com/office/drawing/2014/main" id="{49D79DD3-0FF4-22FA-244B-DAF09A7FFE2D}"/>
              </a:ext>
            </a:extLst>
          </p:cNvPr>
          <p:cNvSpPr/>
          <p:nvPr/>
        </p:nvSpPr>
        <p:spPr>
          <a:xfrm>
            <a:off x="4802488" y="2802834"/>
            <a:ext cx="2189001" cy="302909"/>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90000"/>
              </a:lnSpc>
              <a:spcBef>
                <a:spcPct val="0"/>
              </a:spcBef>
              <a:spcAft>
                <a:spcPct val="35000"/>
              </a:spcAft>
              <a:defRPr/>
            </a:pPr>
            <a:r>
              <a:rPr lang="en-GB" sz="1000" b="1" dirty="0">
                <a:solidFill>
                  <a:prstClr val="white"/>
                </a:solidFill>
                <a:latin typeface="Poppins" panose="00000500000000000000" pitchFamily="2" charset="0"/>
                <a:cs typeface="Poppins" panose="00000500000000000000" pitchFamily="2" charset="0"/>
              </a:rPr>
              <a:t>Change Track Outlet Profile</a:t>
            </a:r>
          </a:p>
        </p:txBody>
      </p:sp>
      <p:cxnSp>
        <p:nvCxnSpPr>
          <p:cNvPr id="9" name="Elbow Connector 8"/>
          <p:cNvCxnSpPr>
            <a:stCxn id="18" idx="3"/>
          </p:cNvCxnSpPr>
          <p:nvPr/>
        </p:nvCxnSpPr>
        <p:spPr>
          <a:xfrm flipV="1">
            <a:off x="3854141" y="3489736"/>
            <a:ext cx="679356" cy="1920246"/>
          </a:xfrm>
          <a:prstGeom prst="bentConnector3">
            <a:avLst>
              <a:gd name="adj1" fmla="val 50000"/>
            </a:avLst>
          </a:prstGeom>
          <a:ln w="28575">
            <a:solidFill>
              <a:srgbClr val="0070C0"/>
            </a:solidFill>
            <a:tailEnd type="triangle" w="lg" len="med"/>
          </a:ln>
        </p:spPr>
        <p:style>
          <a:lnRef idx="1">
            <a:schemeClr val="accent1"/>
          </a:lnRef>
          <a:fillRef idx="0">
            <a:schemeClr val="accent1"/>
          </a:fillRef>
          <a:effectRef idx="0">
            <a:schemeClr val="accent1"/>
          </a:effectRef>
          <a:fontRef idx="minor">
            <a:schemeClr val="tx1"/>
          </a:fontRef>
        </p:style>
      </p:cxnSp>
      <p:sp>
        <p:nvSpPr>
          <p:cNvPr id="10" name="Oval 9">
            <a:hlinkClick r:id="rId3"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5716512" y="2493089"/>
            <a:ext cx="369358" cy="372781"/>
          </a:xfrm>
          <a:prstGeom prst="ellipse">
            <a:avLst/>
          </a:prstGeom>
          <a:solidFill>
            <a:srgbClr val="18BC9C"/>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200" b="1" dirty="0">
                <a:solidFill>
                  <a:prstClr val="white"/>
                </a:solidFill>
                <a:latin typeface="Poppins" panose="00000500000000000000" pitchFamily="2" charset="0"/>
                <a:cs typeface="Poppins" panose="00000500000000000000" pitchFamily="2" charset="0"/>
              </a:rPr>
              <a:t>3</a:t>
            </a:r>
          </a:p>
        </p:txBody>
      </p:sp>
      <p:sp>
        <p:nvSpPr>
          <p:cNvPr id="11" name="Oval 10">
            <a:hlinkClick r:id="rId5"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5716512" y="4385752"/>
            <a:ext cx="369358" cy="372781"/>
          </a:xfrm>
          <a:prstGeom prst="ellipse">
            <a:avLst/>
          </a:prstGeom>
          <a:solidFill>
            <a:srgbClr val="18BC9C"/>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200" b="1" dirty="0">
                <a:solidFill>
                  <a:prstClr val="white"/>
                </a:solidFill>
                <a:latin typeface="Poppins" panose="00000500000000000000" pitchFamily="2" charset="0"/>
                <a:cs typeface="Poppins" panose="00000500000000000000" pitchFamily="2" charset="0"/>
              </a:rPr>
              <a:t>4</a:t>
            </a:r>
          </a:p>
        </p:txBody>
      </p:sp>
      <p:sp>
        <p:nvSpPr>
          <p:cNvPr id="12" name="Rounded Rectangle 11"/>
          <p:cNvSpPr/>
          <p:nvPr/>
        </p:nvSpPr>
        <p:spPr>
          <a:xfrm>
            <a:off x="1118752" y="2946217"/>
            <a:ext cx="2735389" cy="1078145"/>
          </a:xfrm>
          <a:prstGeom prst="roundRect">
            <a:avLst/>
          </a:prstGeom>
          <a:solidFill>
            <a:schemeClr val="bg1"/>
          </a:solidFill>
          <a:ln w="9525">
            <a:solidFill>
              <a:srgbClr val="0070C0"/>
            </a:solidFill>
            <a:prstDash val="dash"/>
          </a:ln>
          <a:effectLst>
            <a:outerShdw blurRad="317500" algn="ctr"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just"/>
            <a:r>
              <a:rPr lang="en-US" sz="1000" dirty="0">
                <a:latin typeface="Poppins" panose="00000500000000000000" pitchFamily="2" charset="0"/>
                <a:cs typeface="Poppins" panose="00000500000000000000" pitchFamily="2" charset="0"/>
              </a:rPr>
              <a:t>Create new outlet profiles from scratch. Input all necessary data to establish a complete outlet record.</a:t>
            </a:r>
          </a:p>
        </p:txBody>
      </p:sp>
      <p:sp>
        <p:nvSpPr>
          <p:cNvPr id="13" name="Rounded Rectangle 76">
            <a:extLst>
              <a:ext uri="{FF2B5EF4-FFF2-40B4-BE49-F238E27FC236}">
                <a16:creationId xmlns:a16="http://schemas.microsoft.com/office/drawing/2014/main" id="{49D79DD3-0FF4-22FA-244B-DAF09A7FFE2D}"/>
              </a:ext>
            </a:extLst>
          </p:cNvPr>
          <p:cNvSpPr/>
          <p:nvPr/>
        </p:nvSpPr>
        <p:spPr>
          <a:xfrm>
            <a:off x="1391473" y="2764903"/>
            <a:ext cx="2189001" cy="302909"/>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90000"/>
              </a:lnSpc>
              <a:spcBef>
                <a:spcPct val="0"/>
              </a:spcBef>
              <a:spcAft>
                <a:spcPct val="35000"/>
              </a:spcAft>
              <a:defRPr/>
            </a:pPr>
            <a:r>
              <a:rPr lang="en-GB" sz="1000" b="1" dirty="0">
                <a:solidFill>
                  <a:prstClr val="white"/>
                </a:solidFill>
                <a:latin typeface="Poppins" panose="00000500000000000000" pitchFamily="2" charset="0"/>
                <a:cs typeface="Poppins" panose="00000500000000000000" pitchFamily="2" charset="0"/>
              </a:rPr>
              <a:t>Outlet Profile Creation</a:t>
            </a:r>
          </a:p>
        </p:txBody>
      </p:sp>
      <p:cxnSp>
        <p:nvCxnSpPr>
          <p:cNvPr id="14" name="Straight Arrow Connector 13"/>
          <p:cNvCxnSpPr>
            <a:stCxn id="21" idx="2"/>
            <a:endCxn id="28" idx="0"/>
          </p:cNvCxnSpPr>
          <p:nvPr/>
        </p:nvCxnSpPr>
        <p:spPr>
          <a:xfrm>
            <a:off x="9273208" y="4025267"/>
            <a:ext cx="473" cy="378216"/>
          </a:xfrm>
          <a:prstGeom prst="straightConnector1">
            <a:avLst/>
          </a:prstGeom>
          <a:ln w="28575">
            <a:solidFill>
              <a:srgbClr val="0070C0"/>
            </a:solidFill>
            <a:tailEnd type="triangle" w="lg" len="med"/>
          </a:ln>
        </p:spPr>
        <p:style>
          <a:lnRef idx="1">
            <a:schemeClr val="accent1"/>
          </a:lnRef>
          <a:fillRef idx="0">
            <a:schemeClr val="accent1"/>
          </a:fillRef>
          <a:effectRef idx="0">
            <a:schemeClr val="accent1"/>
          </a:effectRef>
          <a:fontRef idx="minor">
            <a:schemeClr val="tx1"/>
          </a:fontRef>
        </p:style>
      </p:cxnSp>
      <p:sp>
        <p:nvSpPr>
          <p:cNvPr id="15" name="Oval 14">
            <a:hlinkClick r:id="rId6"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2301294" y="2459166"/>
            <a:ext cx="369358" cy="372781"/>
          </a:xfrm>
          <a:prstGeom prst="ellipse">
            <a:avLst/>
          </a:prstGeom>
          <a:solidFill>
            <a:srgbClr val="18BC9C"/>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200" b="1" dirty="0">
                <a:solidFill>
                  <a:prstClr val="white"/>
                </a:solidFill>
                <a:latin typeface="Poppins" panose="00000500000000000000" pitchFamily="2" charset="0"/>
                <a:cs typeface="Poppins" panose="00000500000000000000" pitchFamily="2" charset="0"/>
              </a:rPr>
              <a:t>1</a:t>
            </a:r>
          </a:p>
        </p:txBody>
      </p:sp>
      <p:cxnSp>
        <p:nvCxnSpPr>
          <p:cNvPr id="16" name="Straight Arrow Connector 15"/>
          <p:cNvCxnSpPr/>
          <p:nvPr/>
        </p:nvCxnSpPr>
        <p:spPr>
          <a:xfrm>
            <a:off x="0" y="3434428"/>
            <a:ext cx="1119286" cy="0"/>
          </a:xfrm>
          <a:prstGeom prst="straightConnector1">
            <a:avLst/>
          </a:prstGeom>
          <a:ln w="28575">
            <a:solidFill>
              <a:srgbClr val="0070C0"/>
            </a:solidFill>
            <a:tailEnd type="triangle" w="lg" len="med"/>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55425" y="3192911"/>
            <a:ext cx="608437" cy="276999"/>
          </a:xfrm>
          <a:prstGeom prst="rect">
            <a:avLst/>
          </a:prstGeom>
          <a:noFill/>
        </p:spPr>
        <p:txBody>
          <a:bodyPr wrap="square" rtlCol="0">
            <a:spAutoFit/>
          </a:bodyPr>
          <a:lstStyle/>
          <a:p>
            <a:r>
              <a:rPr lang="en-US" sz="1200" b="1" dirty="0"/>
              <a:t>Start</a:t>
            </a:r>
          </a:p>
        </p:txBody>
      </p:sp>
      <p:sp>
        <p:nvSpPr>
          <p:cNvPr id="18" name="Rounded Rectangle 17"/>
          <p:cNvSpPr/>
          <p:nvPr/>
        </p:nvSpPr>
        <p:spPr>
          <a:xfrm>
            <a:off x="1118752" y="4870909"/>
            <a:ext cx="2735389" cy="1078145"/>
          </a:xfrm>
          <a:prstGeom prst="roundRect">
            <a:avLst/>
          </a:prstGeom>
          <a:solidFill>
            <a:schemeClr val="bg1"/>
          </a:solidFill>
          <a:ln w="9525">
            <a:solidFill>
              <a:srgbClr val="0070C0"/>
            </a:solidFill>
            <a:prstDash val="dash"/>
          </a:ln>
          <a:effectLst>
            <a:outerShdw blurRad="317500" algn="ctr"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just"/>
            <a:r>
              <a:rPr lang="en-US" sz="1000" dirty="0">
                <a:latin typeface="Poppins" panose="00000500000000000000" pitchFamily="2" charset="0"/>
                <a:cs typeface="Poppins" panose="00000500000000000000" pitchFamily="2" charset="0"/>
              </a:rPr>
              <a:t>Users approve outlet profiles using the Outlet Approval II interface. </a:t>
            </a:r>
          </a:p>
        </p:txBody>
      </p:sp>
      <p:sp>
        <p:nvSpPr>
          <p:cNvPr id="19" name="Rounded Rectangle 76">
            <a:extLst>
              <a:ext uri="{FF2B5EF4-FFF2-40B4-BE49-F238E27FC236}">
                <a16:creationId xmlns:a16="http://schemas.microsoft.com/office/drawing/2014/main" id="{49D79DD3-0FF4-22FA-244B-DAF09A7FFE2D}"/>
              </a:ext>
            </a:extLst>
          </p:cNvPr>
          <p:cNvSpPr/>
          <p:nvPr/>
        </p:nvSpPr>
        <p:spPr>
          <a:xfrm>
            <a:off x="1391473" y="4689595"/>
            <a:ext cx="2189001" cy="302909"/>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90000"/>
              </a:lnSpc>
              <a:spcBef>
                <a:spcPct val="0"/>
              </a:spcBef>
              <a:spcAft>
                <a:spcPct val="35000"/>
              </a:spcAft>
              <a:defRPr/>
            </a:pPr>
            <a:r>
              <a:rPr lang="en-GB" sz="1000" b="1" dirty="0">
                <a:solidFill>
                  <a:prstClr val="white"/>
                </a:solidFill>
                <a:latin typeface="Poppins" panose="00000500000000000000" pitchFamily="2" charset="0"/>
                <a:cs typeface="Poppins" panose="00000500000000000000" pitchFamily="2" charset="0"/>
              </a:rPr>
              <a:t>Outlet Approval II</a:t>
            </a:r>
          </a:p>
        </p:txBody>
      </p:sp>
      <p:sp>
        <p:nvSpPr>
          <p:cNvPr id="20" name="Oval 19">
            <a:hlinkClick r:id="rId7"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2301294" y="4383858"/>
            <a:ext cx="369358" cy="372781"/>
          </a:xfrm>
          <a:prstGeom prst="ellipse">
            <a:avLst/>
          </a:prstGeom>
          <a:solidFill>
            <a:srgbClr val="18BC9C"/>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200" b="1" dirty="0">
                <a:solidFill>
                  <a:prstClr val="white"/>
                </a:solidFill>
                <a:latin typeface="Poppins" panose="00000500000000000000" pitchFamily="2" charset="0"/>
                <a:cs typeface="Poppins" panose="00000500000000000000" pitchFamily="2" charset="0"/>
              </a:rPr>
              <a:t>2</a:t>
            </a:r>
          </a:p>
        </p:txBody>
      </p:sp>
      <p:sp>
        <p:nvSpPr>
          <p:cNvPr id="21" name="Rounded Rectangle 20"/>
          <p:cNvSpPr/>
          <p:nvPr/>
        </p:nvSpPr>
        <p:spPr>
          <a:xfrm>
            <a:off x="7905513" y="2951129"/>
            <a:ext cx="2735389" cy="1074138"/>
          </a:xfrm>
          <a:prstGeom prst="roundRect">
            <a:avLst/>
          </a:prstGeom>
          <a:solidFill>
            <a:schemeClr val="bg1"/>
          </a:solidFill>
          <a:ln w="9525">
            <a:solidFill>
              <a:srgbClr val="0070C0"/>
            </a:solidFill>
            <a:prstDash val="dash"/>
          </a:ln>
          <a:effectLst>
            <a:outerShdw blurRad="317500" algn="ctr"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sz="900" dirty="0">
              <a:latin typeface="Poppins" panose="00000500000000000000" pitchFamily="2" charset="0"/>
              <a:cs typeface="Poppins" panose="00000500000000000000" pitchFamily="2" charset="0"/>
            </a:endParaRPr>
          </a:p>
          <a:p>
            <a:pPr algn="just"/>
            <a:r>
              <a:rPr lang="en-US" sz="1000" dirty="0">
                <a:latin typeface="Poppins" panose="00000500000000000000" pitchFamily="2" charset="0"/>
                <a:cs typeface="Poppins" panose="00000500000000000000" pitchFamily="2" charset="0"/>
              </a:rPr>
              <a:t>Modify documents of approved outlets. Users can update outlet documents as per the current requirements to ensure all relevant documents are up to date and accurate.</a:t>
            </a:r>
          </a:p>
        </p:txBody>
      </p:sp>
      <p:sp>
        <p:nvSpPr>
          <p:cNvPr id="22" name="Rounded Rectangle 76">
            <a:extLst>
              <a:ext uri="{FF2B5EF4-FFF2-40B4-BE49-F238E27FC236}">
                <a16:creationId xmlns:a16="http://schemas.microsoft.com/office/drawing/2014/main" id="{49D79DD3-0FF4-22FA-244B-DAF09A7FFE2D}"/>
              </a:ext>
            </a:extLst>
          </p:cNvPr>
          <p:cNvSpPr/>
          <p:nvPr/>
        </p:nvSpPr>
        <p:spPr>
          <a:xfrm>
            <a:off x="8178234" y="2803682"/>
            <a:ext cx="2189001" cy="302909"/>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90000"/>
              </a:lnSpc>
              <a:spcBef>
                <a:spcPct val="0"/>
              </a:spcBef>
              <a:spcAft>
                <a:spcPct val="35000"/>
              </a:spcAft>
              <a:defRPr/>
            </a:pPr>
            <a:r>
              <a:rPr lang="en-GB" sz="1000" b="1" dirty="0">
                <a:solidFill>
                  <a:prstClr val="white"/>
                </a:solidFill>
                <a:latin typeface="Poppins" panose="00000500000000000000" pitchFamily="2" charset="0"/>
                <a:cs typeface="Poppins" panose="00000500000000000000" pitchFamily="2" charset="0"/>
              </a:rPr>
              <a:t>Change Track Outlet Document</a:t>
            </a:r>
          </a:p>
        </p:txBody>
      </p:sp>
      <p:sp>
        <p:nvSpPr>
          <p:cNvPr id="23" name="Oval 22">
            <a:hlinkClick r:id="rId8"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9088055" y="2496419"/>
            <a:ext cx="369358" cy="372781"/>
          </a:xfrm>
          <a:prstGeom prst="ellipse">
            <a:avLst/>
          </a:prstGeom>
          <a:solidFill>
            <a:srgbClr val="18BC9C"/>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200" b="1" dirty="0">
                <a:solidFill>
                  <a:prstClr val="white"/>
                </a:solidFill>
                <a:latin typeface="Poppins" panose="00000500000000000000" pitchFamily="2" charset="0"/>
                <a:cs typeface="Poppins" panose="00000500000000000000" pitchFamily="2" charset="0"/>
              </a:rPr>
              <a:t>5</a:t>
            </a:r>
          </a:p>
        </p:txBody>
      </p:sp>
      <p:cxnSp>
        <p:nvCxnSpPr>
          <p:cNvPr id="24" name="Straight Arrow Connector 23"/>
          <p:cNvCxnSpPr>
            <a:stCxn id="7" idx="2"/>
            <a:endCxn id="11" idx="0"/>
          </p:cNvCxnSpPr>
          <p:nvPr/>
        </p:nvCxnSpPr>
        <p:spPr>
          <a:xfrm flipH="1">
            <a:off x="5901191" y="4024419"/>
            <a:ext cx="2034" cy="361333"/>
          </a:xfrm>
          <a:prstGeom prst="straightConnector1">
            <a:avLst/>
          </a:prstGeom>
          <a:ln w="28575">
            <a:solidFill>
              <a:srgbClr val="0070C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4" idx="3"/>
            <a:endCxn id="21" idx="1"/>
          </p:cNvCxnSpPr>
          <p:nvPr/>
        </p:nvCxnSpPr>
        <p:spPr>
          <a:xfrm flipV="1">
            <a:off x="7275122" y="3488198"/>
            <a:ext cx="630391" cy="1916667"/>
          </a:xfrm>
          <a:prstGeom prst="bentConnector3">
            <a:avLst>
              <a:gd name="adj1" fmla="val 50000"/>
            </a:avLst>
          </a:prstGeom>
          <a:ln w="28575">
            <a:solidFill>
              <a:srgbClr val="0070C0"/>
            </a:solidFill>
            <a:tailEnd type="triangle" w="lg" len="med"/>
          </a:ln>
        </p:spPr>
        <p:style>
          <a:lnRef idx="1">
            <a:schemeClr val="accent1"/>
          </a:lnRef>
          <a:fillRef idx="0">
            <a:schemeClr val="accent1"/>
          </a:fillRef>
          <a:effectRef idx="0">
            <a:schemeClr val="accent1"/>
          </a:effectRef>
          <a:fontRef idx="minor">
            <a:schemeClr val="tx1"/>
          </a:fontRef>
        </p:style>
      </p:cxnSp>
      <p:sp>
        <p:nvSpPr>
          <p:cNvPr id="26" name="Rounded Rectangle 25"/>
          <p:cNvSpPr/>
          <p:nvPr/>
        </p:nvSpPr>
        <p:spPr>
          <a:xfrm>
            <a:off x="7899750" y="4873999"/>
            <a:ext cx="2735389" cy="1078145"/>
          </a:xfrm>
          <a:prstGeom prst="roundRect">
            <a:avLst/>
          </a:prstGeom>
          <a:solidFill>
            <a:schemeClr val="bg1"/>
          </a:solidFill>
          <a:ln w="9525">
            <a:solidFill>
              <a:srgbClr val="0070C0"/>
            </a:solidFill>
            <a:prstDash val="dash"/>
          </a:ln>
          <a:effectLst>
            <a:outerShdw blurRad="317500" algn="ctr"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sz="1000" dirty="0">
              <a:latin typeface="Poppins" panose="00000500000000000000" pitchFamily="2" charset="0"/>
              <a:cs typeface="Poppins" panose="00000500000000000000" pitchFamily="2" charset="0"/>
            </a:endParaRPr>
          </a:p>
          <a:p>
            <a:pPr algn="just"/>
            <a:r>
              <a:rPr lang="en-US" sz="1000" dirty="0">
                <a:latin typeface="Poppins" panose="00000500000000000000" pitchFamily="2" charset="0"/>
                <a:cs typeface="Poppins" panose="00000500000000000000" pitchFamily="2" charset="0"/>
              </a:rPr>
              <a:t>Categorize outlets based on specific classification criteria. Provides both grouped and detailed views for better analysis.</a:t>
            </a:r>
          </a:p>
        </p:txBody>
      </p:sp>
      <p:sp>
        <p:nvSpPr>
          <p:cNvPr id="27" name="Rounded Rectangle 76">
            <a:extLst>
              <a:ext uri="{FF2B5EF4-FFF2-40B4-BE49-F238E27FC236}">
                <a16:creationId xmlns:a16="http://schemas.microsoft.com/office/drawing/2014/main" id="{49D79DD3-0FF4-22FA-244B-DAF09A7FFE2D}"/>
              </a:ext>
            </a:extLst>
          </p:cNvPr>
          <p:cNvSpPr/>
          <p:nvPr/>
        </p:nvSpPr>
        <p:spPr>
          <a:xfrm>
            <a:off x="8172471" y="4726552"/>
            <a:ext cx="2189001" cy="302909"/>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90000"/>
              </a:lnSpc>
              <a:spcBef>
                <a:spcPct val="0"/>
              </a:spcBef>
              <a:spcAft>
                <a:spcPct val="35000"/>
              </a:spcAft>
              <a:defRPr/>
            </a:pPr>
            <a:r>
              <a:rPr lang="en-GB" sz="1000" b="1" dirty="0">
                <a:solidFill>
                  <a:prstClr val="white"/>
                </a:solidFill>
                <a:latin typeface="Poppins" panose="00000500000000000000" pitchFamily="2" charset="0"/>
                <a:cs typeface="Poppins" panose="00000500000000000000" pitchFamily="2" charset="0"/>
              </a:rPr>
              <a:t>Analysis Classification - Outlets</a:t>
            </a:r>
          </a:p>
        </p:txBody>
      </p:sp>
      <p:sp>
        <p:nvSpPr>
          <p:cNvPr id="28" name="Oval 27">
            <a:hlinkClick r:id="rId9"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9089002" y="4403483"/>
            <a:ext cx="369358" cy="372781"/>
          </a:xfrm>
          <a:prstGeom prst="ellipse">
            <a:avLst/>
          </a:prstGeom>
          <a:solidFill>
            <a:srgbClr val="18BC9C"/>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200" b="1" dirty="0">
                <a:solidFill>
                  <a:prstClr val="white"/>
                </a:solidFill>
                <a:latin typeface="Poppins" panose="00000500000000000000" pitchFamily="2" charset="0"/>
                <a:cs typeface="Poppins" panose="00000500000000000000" pitchFamily="2" charset="0"/>
              </a:rPr>
              <a:t>6</a:t>
            </a:r>
          </a:p>
        </p:txBody>
      </p:sp>
      <p:sp>
        <p:nvSpPr>
          <p:cNvPr id="29" name="Rounded Rectangle 28"/>
          <p:cNvSpPr/>
          <p:nvPr/>
        </p:nvSpPr>
        <p:spPr>
          <a:xfrm>
            <a:off x="1148260" y="1166116"/>
            <a:ext cx="9512614" cy="1118960"/>
          </a:xfrm>
          <a:prstGeom prst="roundRect">
            <a:avLst/>
          </a:prstGeom>
          <a:gradFill>
            <a:gsLst>
              <a:gs pos="100000">
                <a:schemeClr val="accent4">
                  <a:lumMod val="40000"/>
                  <a:lumOff val="60000"/>
                  <a:alpha val="25000"/>
                </a:schemeClr>
              </a:gs>
              <a:gs pos="0">
                <a:schemeClr val="accent4">
                  <a:lumMod val="40000"/>
                  <a:lumOff val="60000"/>
                </a:schemeClr>
              </a:gs>
            </a:gsLst>
            <a:lin ang="5400000" scaled="1"/>
          </a:gra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a:solidFill>
                  <a:schemeClr val="tx1"/>
                </a:solidFill>
              </a:rPr>
              <a:t>Setting up outlet profiles within the Sales and Distribution Management System involves establishing detailed information about sales outlets. This process can be initiated by company/global-level users or distributors associated with specific companies and they can update or modify the information related to the outlets later on. Note that the distributors requires approval from the company users to activate outlets. Once set up will be done, these profiles provide a foundation for targeted marketing, efficient sales strategies and logistical planning.</a:t>
            </a:r>
          </a:p>
        </p:txBody>
      </p:sp>
      <p:sp>
        <p:nvSpPr>
          <p:cNvPr id="30" name="Title 17"/>
          <p:cNvSpPr txBox="1">
            <a:spLocks noChangeArrowheads="1"/>
          </p:cNvSpPr>
          <p:nvPr/>
        </p:nvSpPr>
        <p:spPr bwMode="auto">
          <a:xfrm>
            <a:off x="1442917" y="190259"/>
            <a:ext cx="6493171"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Introduction and Process Flow</a:t>
            </a:r>
          </a:p>
        </p:txBody>
      </p:sp>
      <p:cxnSp>
        <p:nvCxnSpPr>
          <p:cNvPr id="32" name="Straight Arrow Connector 31"/>
          <p:cNvCxnSpPr>
            <a:stCxn id="26" idx="3"/>
          </p:cNvCxnSpPr>
          <p:nvPr/>
        </p:nvCxnSpPr>
        <p:spPr>
          <a:xfrm flipV="1">
            <a:off x="10635139" y="5404865"/>
            <a:ext cx="1556861" cy="8207"/>
          </a:xfrm>
          <a:prstGeom prst="straightConnector1">
            <a:avLst/>
          </a:prstGeom>
          <a:ln w="28575">
            <a:solidFill>
              <a:srgbClr val="0070C0"/>
            </a:solidFill>
            <a:tailEnd type="none" w="lg" len="med"/>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233157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7"/>
          <p:cNvSpPr txBox="1">
            <a:spLocks noChangeArrowheads="1"/>
          </p:cNvSpPr>
          <p:nvPr/>
        </p:nvSpPr>
        <p:spPr bwMode="auto">
          <a:xfrm>
            <a:off x="1442917" y="190259"/>
            <a:ext cx="6493171"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Introduction and Process Flow</a:t>
            </a:r>
          </a:p>
        </p:txBody>
      </p:sp>
      <p:cxnSp>
        <p:nvCxnSpPr>
          <p:cNvPr id="33" name="Straight Arrow Connector 32"/>
          <p:cNvCxnSpPr>
            <a:stCxn id="39" idx="2"/>
            <a:endCxn id="47" idx="0"/>
          </p:cNvCxnSpPr>
          <p:nvPr/>
        </p:nvCxnSpPr>
        <p:spPr>
          <a:xfrm flipH="1">
            <a:off x="2600796" y="3741084"/>
            <a:ext cx="474" cy="411922"/>
          </a:xfrm>
          <a:prstGeom prst="straightConnector1">
            <a:avLst/>
          </a:prstGeom>
          <a:ln w="28575">
            <a:solidFill>
              <a:srgbClr val="0070C0"/>
            </a:solidFill>
            <a:tailEnd type="triangle" w="lg" len="med"/>
          </a:ln>
        </p:spPr>
        <p:style>
          <a:lnRef idx="1">
            <a:schemeClr val="accent1"/>
          </a:lnRef>
          <a:fillRef idx="0">
            <a:schemeClr val="accent1"/>
          </a:fillRef>
          <a:effectRef idx="0">
            <a:schemeClr val="accent1"/>
          </a:effectRef>
          <a:fontRef idx="minor">
            <a:schemeClr val="tx1"/>
          </a:fontRef>
        </p:style>
      </p:cxnSp>
      <p:sp>
        <p:nvSpPr>
          <p:cNvPr id="34" name="Rounded Rectangle 33"/>
          <p:cNvSpPr/>
          <p:nvPr/>
        </p:nvSpPr>
        <p:spPr>
          <a:xfrm>
            <a:off x="5118701" y="2662939"/>
            <a:ext cx="2735389" cy="1078145"/>
          </a:xfrm>
          <a:prstGeom prst="roundRect">
            <a:avLst/>
          </a:prstGeom>
          <a:solidFill>
            <a:schemeClr val="bg1"/>
          </a:solidFill>
          <a:ln w="9525">
            <a:solidFill>
              <a:srgbClr val="0070C0"/>
            </a:solidFill>
            <a:prstDash val="dash"/>
          </a:ln>
          <a:effectLst>
            <a:outerShdw blurRad="317500" algn="ctr"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sz="1000" dirty="0">
              <a:latin typeface="Poppins" panose="00000500000000000000" pitchFamily="2" charset="0"/>
              <a:cs typeface="Poppins" panose="00000500000000000000" pitchFamily="2" charset="0"/>
            </a:endParaRPr>
          </a:p>
          <a:p>
            <a:pPr algn="just"/>
            <a:r>
              <a:rPr lang="en-US" sz="1000" dirty="0">
                <a:latin typeface="Poppins" panose="00000500000000000000" pitchFamily="2" charset="0"/>
                <a:cs typeface="Poppins" panose="00000500000000000000" pitchFamily="2" charset="0"/>
              </a:rPr>
              <a:t>Modify specific attributes of approved outlets. Users can update outlet details to reflect the most current information.</a:t>
            </a:r>
          </a:p>
        </p:txBody>
      </p:sp>
      <p:sp>
        <p:nvSpPr>
          <p:cNvPr id="35" name="Rounded Rectangle 76">
            <a:extLst>
              <a:ext uri="{FF2B5EF4-FFF2-40B4-BE49-F238E27FC236}">
                <a16:creationId xmlns:a16="http://schemas.microsoft.com/office/drawing/2014/main" id="{49D79DD3-0FF4-22FA-244B-DAF09A7FFE2D}"/>
              </a:ext>
            </a:extLst>
          </p:cNvPr>
          <p:cNvSpPr/>
          <p:nvPr/>
        </p:nvSpPr>
        <p:spPr>
          <a:xfrm>
            <a:off x="5385659" y="2519499"/>
            <a:ext cx="2189001" cy="302909"/>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90000"/>
              </a:lnSpc>
              <a:spcBef>
                <a:spcPct val="0"/>
              </a:spcBef>
              <a:spcAft>
                <a:spcPct val="35000"/>
              </a:spcAft>
              <a:defRPr/>
            </a:pPr>
            <a:r>
              <a:rPr lang="en-GB" sz="1000" b="1" dirty="0">
                <a:solidFill>
                  <a:prstClr val="white"/>
                </a:solidFill>
                <a:latin typeface="Poppins" panose="00000500000000000000" pitchFamily="2" charset="0"/>
                <a:cs typeface="Poppins" panose="00000500000000000000" pitchFamily="2" charset="0"/>
              </a:rPr>
              <a:t>Outlet Change Track Excel</a:t>
            </a:r>
          </a:p>
        </p:txBody>
      </p:sp>
      <p:sp>
        <p:nvSpPr>
          <p:cNvPr id="37" name="Oval 36">
            <a:hlinkClick r:id="rId2" action="ppaction://hlinksldjump" highlightClick="1">
              <a:snd r:embed="rId3" name="arrow.wav"/>
            </a:hlinkClick>
            <a:extLst>
              <a:ext uri="{FF2B5EF4-FFF2-40B4-BE49-F238E27FC236}">
                <a16:creationId xmlns:a16="http://schemas.microsoft.com/office/drawing/2014/main" id="{1A334743-2C87-530F-0112-BDA6DFE16E75}"/>
              </a:ext>
            </a:extLst>
          </p:cNvPr>
          <p:cNvSpPr/>
          <p:nvPr/>
        </p:nvSpPr>
        <p:spPr>
          <a:xfrm>
            <a:off x="6299683" y="2209754"/>
            <a:ext cx="369358" cy="372781"/>
          </a:xfrm>
          <a:prstGeom prst="ellipse">
            <a:avLst/>
          </a:prstGeom>
          <a:solidFill>
            <a:srgbClr val="18BC9C"/>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200" b="1" dirty="0">
                <a:solidFill>
                  <a:prstClr val="white"/>
                </a:solidFill>
                <a:latin typeface="Poppins" panose="00000500000000000000" pitchFamily="2" charset="0"/>
                <a:cs typeface="Poppins" panose="00000500000000000000" pitchFamily="2" charset="0"/>
              </a:rPr>
              <a:t>9</a:t>
            </a:r>
          </a:p>
        </p:txBody>
      </p:sp>
      <p:sp>
        <p:nvSpPr>
          <p:cNvPr id="39" name="Rounded Rectangle 38"/>
          <p:cNvSpPr/>
          <p:nvPr/>
        </p:nvSpPr>
        <p:spPr>
          <a:xfrm>
            <a:off x="1233575" y="2662939"/>
            <a:ext cx="2735389" cy="1078145"/>
          </a:xfrm>
          <a:prstGeom prst="roundRect">
            <a:avLst/>
          </a:prstGeom>
          <a:solidFill>
            <a:schemeClr val="bg1"/>
          </a:solidFill>
          <a:ln w="9525">
            <a:solidFill>
              <a:srgbClr val="0070C0"/>
            </a:solidFill>
            <a:prstDash val="dash"/>
          </a:ln>
          <a:effectLst>
            <a:outerShdw blurRad="317500" algn="ctr"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just"/>
            <a:r>
              <a:rPr lang="en-US" sz="1000" dirty="0">
                <a:latin typeface="Poppins" panose="00000500000000000000" pitchFamily="2" charset="0"/>
                <a:cs typeface="Poppins" panose="00000500000000000000" pitchFamily="2" charset="0"/>
              </a:rPr>
              <a:t>Check the current status of active outlets. Users can also deactivate outlets when necessary using outlet status interface.</a:t>
            </a:r>
          </a:p>
        </p:txBody>
      </p:sp>
      <p:sp>
        <p:nvSpPr>
          <p:cNvPr id="40" name="Rounded Rectangle 76">
            <a:extLst>
              <a:ext uri="{FF2B5EF4-FFF2-40B4-BE49-F238E27FC236}">
                <a16:creationId xmlns:a16="http://schemas.microsoft.com/office/drawing/2014/main" id="{49D79DD3-0FF4-22FA-244B-DAF09A7FFE2D}"/>
              </a:ext>
            </a:extLst>
          </p:cNvPr>
          <p:cNvSpPr/>
          <p:nvPr/>
        </p:nvSpPr>
        <p:spPr>
          <a:xfrm>
            <a:off x="1506296" y="2481625"/>
            <a:ext cx="2189001" cy="302909"/>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90000"/>
              </a:lnSpc>
              <a:spcBef>
                <a:spcPct val="0"/>
              </a:spcBef>
              <a:spcAft>
                <a:spcPct val="35000"/>
              </a:spcAft>
              <a:defRPr/>
            </a:pPr>
            <a:r>
              <a:rPr lang="en-GB" sz="1000" b="1" dirty="0">
                <a:solidFill>
                  <a:prstClr val="white"/>
                </a:solidFill>
                <a:latin typeface="Poppins" panose="00000500000000000000" pitchFamily="2" charset="0"/>
                <a:cs typeface="Poppins" panose="00000500000000000000" pitchFamily="2" charset="0"/>
              </a:rPr>
              <a:t>Outlet Status</a:t>
            </a:r>
          </a:p>
        </p:txBody>
      </p:sp>
      <p:sp>
        <p:nvSpPr>
          <p:cNvPr id="42" name="Oval 41">
            <a:hlinkClick r:id="rId4" action="ppaction://hlinksldjump" highlightClick="1">
              <a:snd r:embed="rId3" name="arrow.wav"/>
            </a:hlinkClick>
            <a:extLst>
              <a:ext uri="{FF2B5EF4-FFF2-40B4-BE49-F238E27FC236}">
                <a16:creationId xmlns:a16="http://schemas.microsoft.com/office/drawing/2014/main" id="{1A334743-2C87-530F-0112-BDA6DFE16E75}"/>
              </a:ext>
            </a:extLst>
          </p:cNvPr>
          <p:cNvSpPr/>
          <p:nvPr/>
        </p:nvSpPr>
        <p:spPr>
          <a:xfrm>
            <a:off x="2416117" y="2175888"/>
            <a:ext cx="369358" cy="372781"/>
          </a:xfrm>
          <a:prstGeom prst="ellipse">
            <a:avLst/>
          </a:prstGeom>
          <a:solidFill>
            <a:srgbClr val="18BC9C"/>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200" b="1" dirty="0">
                <a:solidFill>
                  <a:prstClr val="white"/>
                </a:solidFill>
                <a:latin typeface="Poppins" panose="00000500000000000000" pitchFamily="2" charset="0"/>
                <a:cs typeface="Poppins" panose="00000500000000000000" pitchFamily="2" charset="0"/>
              </a:rPr>
              <a:t>7</a:t>
            </a:r>
          </a:p>
        </p:txBody>
      </p:sp>
      <p:cxnSp>
        <p:nvCxnSpPr>
          <p:cNvPr id="43" name="Straight Arrow Connector 42"/>
          <p:cNvCxnSpPr>
            <a:endCxn id="39" idx="1"/>
          </p:cNvCxnSpPr>
          <p:nvPr/>
        </p:nvCxnSpPr>
        <p:spPr>
          <a:xfrm>
            <a:off x="0" y="3202012"/>
            <a:ext cx="1233575" cy="0"/>
          </a:xfrm>
          <a:prstGeom prst="straightConnector1">
            <a:avLst/>
          </a:prstGeom>
          <a:ln w="28575">
            <a:solidFill>
              <a:srgbClr val="0070C0"/>
            </a:solidFill>
            <a:tailEnd type="triangle" w="lg" len="med"/>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1233575" y="4640057"/>
            <a:ext cx="2735389" cy="1078145"/>
          </a:xfrm>
          <a:prstGeom prst="roundRect">
            <a:avLst/>
          </a:prstGeom>
          <a:solidFill>
            <a:schemeClr val="bg1"/>
          </a:solidFill>
          <a:ln w="9525">
            <a:solidFill>
              <a:srgbClr val="0070C0"/>
            </a:solidFill>
            <a:prstDash val="dash"/>
          </a:ln>
          <a:effectLst>
            <a:outerShdw blurRad="317500" algn="ctr"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sz="1000" dirty="0">
              <a:latin typeface="Poppins" panose="00000500000000000000" pitchFamily="2" charset="0"/>
              <a:cs typeface="Poppins" panose="00000500000000000000" pitchFamily="2" charset="0"/>
            </a:endParaRPr>
          </a:p>
          <a:p>
            <a:pPr algn="just"/>
            <a:r>
              <a:rPr lang="en-US" sz="1000" dirty="0">
                <a:latin typeface="Poppins" panose="00000500000000000000" pitchFamily="2" charset="0"/>
                <a:cs typeface="Poppins" panose="00000500000000000000" pitchFamily="2" charset="0"/>
              </a:rPr>
              <a:t>View detailed profiles of outlets within the system. Access all relevant information and attributes of each outlet.</a:t>
            </a:r>
          </a:p>
        </p:txBody>
      </p:sp>
      <p:sp>
        <p:nvSpPr>
          <p:cNvPr id="46" name="Rounded Rectangle 76">
            <a:extLst>
              <a:ext uri="{FF2B5EF4-FFF2-40B4-BE49-F238E27FC236}">
                <a16:creationId xmlns:a16="http://schemas.microsoft.com/office/drawing/2014/main" id="{49D79DD3-0FF4-22FA-244B-DAF09A7FFE2D}"/>
              </a:ext>
            </a:extLst>
          </p:cNvPr>
          <p:cNvSpPr/>
          <p:nvPr/>
        </p:nvSpPr>
        <p:spPr>
          <a:xfrm>
            <a:off x="1506296" y="4458743"/>
            <a:ext cx="2189001" cy="302909"/>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90000"/>
              </a:lnSpc>
              <a:spcBef>
                <a:spcPct val="0"/>
              </a:spcBef>
              <a:spcAft>
                <a:spcPct val="35000"/>
              </a:spcAft>
              <a:defRPr/>
            </a:pPr>
            <a:r>
              <a:rPr lang="en-GB" sz="1000" b="1" dirty="0">
                <a:solidFill>
                  <a:prstClr val="white"/>
                </a:solidFill>
                <a:latin typeface="Poppins" panose="00000500000000000000" pitchFamily="2" charset="0"/>
                <a:cs typeface="Poppins" panose="00000500000000000000" pitchFamily="2" charset="0"/>
              </a:rPr>
              <a:t>Outlet Profile View</a:t>
            </a:r>
          </a:p>
        </p:txBody>
      </p:sp>
      <p:sp>
        <p:nvSpPr>
          <p:cNvPr id="47" name="Oval 46">
            <a:hlinkClick r:id="rId5" action="ppaction://hlinksldjump" highlightClick="1">
              <a:snd r:embed="rId3" name="arrow.wav"/>
            </a:hlinkClick>
            <a:extLst>
              <a:ext uri="{FF2B5EF4-FFF2-40B4-BE49-F238E27FC236}">
                <a16:creationId xmlns:a16="http://schemas.microsoft.com/office/drawing/2014/main" id="{1A334743-2C87-530F-0112-BDA6DFE16E75}"/>
              </a:ext>
            </a:extLst>
          </p:cNvPr>
          <p:cNvSpPr/>
          <p:nvPr/>
        </p:nvSpPr>
        <p:spPr>
          <a:xfrm>
            <a:off x="2416117" y="4153006"/>
            <a:ext cx="369358" cy="372781"/>
          </a:xfrm>
          <a:prstGeom prst="ellipse">
            <a:avLst/>
          </a:prstGeom>
          <a:solidFill>
            <a:srgbClr val="18BC9C"/>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200" b="1" dirty="0">
                <a:solidFill>
                  <a:prstClr val="white"/>
                </a:solidFill>
                <a:latin typeface="Poppins" panose="00000500000000000000" pitchFamily="2" charset="0"/>
                <a:cs typeface="Poppins" panose="00000500000000000000" pitchFamily="2" charset="0"/>
              </a:rPr>
              <a:t>8</a:t>
            </a:r>
          </a:p>
        </p:txBody>
      </p:sp>
      <p:cxnSp>
        <p:nvCxnSpPr>
          <p:cNvPr id="58" name="Straight Arrow Connector 57"/>
          <p:cNvCxnSpPr>
            <a:stCxn id="34" idx="2"/>
            <a:endCxn id="18" idx="0"/>
          </p:cNvCxnSpPr>
          <p:nvPr/>
        </p:nvCxnSpPr>
        <p:spPr>
          <a:xfrm flipH="1">
            <a:off x="6480159" y="3741084"/>
            <a:ext cx="6237" cy="411922"/>
          </a:xfrm>
          <a:prstGeom prst="straightConnector1">
            <a:avLst/>
          </a:prstGeom>
          <a:ln w="28575">
            <a:solidFill>
              <a:srgbClr val="0070C0"/>
            </a:solidFill>
            <a:tailEnd type="triangle" w="lg" len="med"/>
          </a:ln>
        </p:spPr>
        <p:style>
          <a:lnRef idx="1">
            <a:schemeClr val="accent1"/>
          </a:lnRef>
          <a:fillRef idx="0">
            <a:schemeClr val="accent1"/>
          </a:fillRef>
          <a:effectRef idx="0">
            <a:schemeClr val="accent1"/>
          </a:effectRef>
          <a:fontRef idx="minor">
            <a:schemeClr val="tx1"/>
          </a:fontRef>
        </p:style>
      </p:cxnSp>
      <p:sp>
        <p:nvSpPr>
          <p:cNvPr id="16" name="Rounded Rectangle 15"/>
          <p:cNvSpPr/>
          <p:nvPr/>
        </p:nvSpPr>
        <p:spPr>
          <a:xfrm>
            <a:off x="5112938" y="4640057"/>
            <a:ext cx="2735389" cy="1078145"/>
          </a:xfrm>
          <a:prstGeom prst="roundRect">
            <a:avLst/>
          </a:prstGeom>
          <a:solidFill>
            <a:schemeClr val="bg1"/>
          </a:solidFill>
          <a:ln w="9525">
            <a:solidFill>
              <a:srgbClr val="0070C0"/>
            </a:solidFill>
            <a:prstDash val="dash"/>
          </a:ln>
          <a:effectLst>
            <a:outerShdw blurRad="317500" algn="ctr"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sz="1000" dirty="0">
              <a:latin typeface="Poppins" panose="00000500000000000000" pitchFamily="2" charset="0"/>
              <a:cs typeface="Poppins" panose="00000500000000000000" pitchFamily="2" charset="0"/>
            </a:endParaRPr>
          </a:p>
          <a:p>
            <a:pPr algn="just"/>
            <a:r>
              <a:rPr lang="en-US" sz="1000" dirty="0">
                <a:latin typeface="Poppins" panose="00000500000000000000" pitchFamily="2" charset="0"/>
                <a:cs typeface="Poppins" panose="00000500000000000000" pitchFamily="2" charset="0"/>
              </a:rPr>
              <a:t>The user can create new outlets in bulk using the provided excel template.</a:t>
            </a:r>
          </a:p>
        </p:txBody>
      </p:sp>
      <p:sp>
        <p:nvSpPr>
          <p:cNvPr id="17" name="Rounded Rectangle 76">
            <a:extLst>
              <a:ext uri="{FF2B5EF4-FFF2-40B4-BE49-F238E27FC236}">
                <a16:creationId xmlns:a16="http://schemas.microsoft.com/office/drawing/2014/main" id="{49D79DD3-0FF4-22FA-244B-DAF09A7FFE2D}"/>
              </a:ext>
            </a:extLst>
          </p:cNvPr>
          <p:cNvSpPr/>
          <p:nvPr/>
        </p:nvSpPr>
        <p:spPr>
          <a:xfrm>
            <a:off x="5385659" y="4458743"/>
            <a:ext cx="2189001" cy="302909"/>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90000"/>
              </a:lnSpc>
              <a:spcBef>
                <a:spcPct val="0"/>
              </a:spcBef>
              <a:spcAft>
                <a:spcPct val="35000"/>
              </a:spcAft>
              <a:defRPr/>
            </a:pPr>
            <a:r>
              <a:rPr lang="en-GB" sz="1000" b="1" dirty="0">
                <a:solidFill>
                  <a:prstClr val="white"/>
                </a:solidFill>
                <a:latin typeface="Poppins" panose="00000500000000000000" pitchFamily="2" charset="0"/>
                <a:cs typeface="Poppins" panose="00000500000000000000" pitchFamily="2" charset="0"/>
              </a:rPr>
              <a:t>Outlet Creation Upload</a:t>
            </a:r>
          </a:p>
        </p:txBody>
      </p:sp>
      <p:sp>
        <p:nvSpPr>
          <p:cNvPr id="18" name="Oval 17">
            <a:hlinkClick r:id="rId6" action="ppaction://hlinksldjump" highlightClick="1">
              <a:snd r:embed="rId3" name="arrow.wav"/>
            </a:hlinkClick>
            <a:extLst>
              <a:ext uri="{FF2B5EF4-FFF2-40B4-BE49-F238E27FC236}">
                <a16:creationId xmlns:a16="http://schemas.microsoft.com/office/drawing/2014/main" id="{1A334743-2C87-530F-0112-BDA6DFE16E75}"/>
              </a:ext>
            </a:extLst>
          </p:cNvPr>
          <p:cNvSpPr/>
          <p:nvPr/>
        </p:nvSpPr>
        <p:spPr>
          <a:xfrm>
            <a:off x="6295480" y="4153006"/>
            <a:ext cx="369358" cy="372781"/>
          </a:xfrm>
          <a:prstGeom prst="ellipse">
            <a:avLst/>
          </a:prstGeom>
          <a:solidFill>
            <a:srgbClr val="18BC9C"/>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200" b="1" dirty="0">
                <a:solidFill>
                  <a:prstClr val="white"/>
                </a:solidFill>
                <a:latin typeface="Poppins" panose="00000500000000000000" pitchFamily="2" charset="0"/>
                <a:cs typeface="Poppins" panose="00000500000000000000" pitchFamily="2" charset="0"/>
              </a:rPr>
              <a:t>10</a:t>
            </a:r>
          </a:p>
        </p:txBody>
      </p:sp>
      <p:sp>
        <p:nvSpPr>
          <p:cNvPr id="22" name="Rounded Rectangle 21"/>
          <p:cNvSpPr/>
          <p:nvPr/>
        </p:nvSpPr>
        <p:spPr>
          <a:xfrm>
            <a:off x="8721602" y="3447642"/>
            <a:ext cx="2735389" cy="1078145"/>
          </a:xfrm>
          <a:prstGeom prst="roundRect">
            <a:avLst/>
          </a:prstGeom>
          <a:solidFill>
            <a:schemeClr val="bg1"/>
          </a:solidFill>
          <a:ln w="9525">
            <a:solidFill>
              <a:srgbClr val="0070C0"/>
            </a:solidFill>
            <a:prstDash val="dash"/>
          </a:ln>
          <a:effectLst>
            <a:outerShdw blurRad="317500" algn="ctr"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just"/>
            <a:r>
              <a:rPr lang="en-US" sz="1000" dirty="0">
                <a:latin typeface="Poppins" panose="00000500000000000000" pitchFamily="2" charset="0"/>
                <a:cs typeface="Poppins" panose="00000500000000000000" pitchFamily="2" charset="0"/>
              </a:rPr>
              <a:t>The user can add prices regarding the products of the outlets.</a:t>
            </a:r>
          </a:p>
        </p:txBody>
      </p:sp>
      <p:sp>
        <p:nvSpPr>
          <p:cNvPr id="23" name="Rounded Rectangle 76">
            <a:extLst>
              <a:ext uri="{FF2B5EF4-FFF2-40B4-BE49-F238E27FC236}">
                <a16:creationId xmlns:a16="http://schemas.microsoft.com/office/drawing/2014/main" id="{49D79DD3-0FF4-22FA-244B-DAF09A7FFE2D}"/>
              </a:ext>
            </a:extLst>
          </p:cNvPr>
          <p:cNvSpPr/>
          <p:nvPr/>
        </p:nvSpPr>
        <p:spPr>
          <a:xfrm>
            <a:off x="8994323" y="3266328"/>
            <a:ext cx="2189001" cy="302909"/>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90000"/>
              </a:lnSpc>
              <a:spcBef>
                <a:spcPct val="0"/>
              </a:spcBef>
              <a:spcAft>
                <a:spcPct val="35000"/>
              </a:spcAft>
              <a:defRPr/>
            </a:pPr>
            <a:r>
              <a:rPr lang="en-GB" sz="1000" b="1" dirty="0">
                <a:solidFill>
                  <a:prstClr val="white"/>
                </a:solidFill>
                <a:latin typeface="Poppins" panose="00000500000000000000" pitchFamily="2" charset="0"/>
                <a:cs typeface="Poppins" panose="00000500000000000000" pitchFamily="2" charset="0"/>
              </a:rPr>
              <a:t>Outlet Price</a:t>
            </a:r>
          </a:p>
        </p:txBody>
      </p:sp>
      <p:sp>
        <p:nvSpPr>
          <p:cNvPr id="24" name="Oval 23">
            <a:hlinkClick r:id="rId7" action="ppaction://hlinksldjump" highlightClick="1">
              <a:snd r:embed="rId3" name="arrow.wav"/>
            </a:hlinkClick>
            <a:extLst>
              <a:ext uri="{FF2B5EF4-FFF2-40B4-BE49-F238E27FC236}">
                <a16:creationId xmlns:a16="http://schemas.microsoft.com/office/drawing/2014/main" id="{1A334743-2C87-530F-0112-BDA6DFE16E75}"/>
              </a:ext>
            </a:extLst>
          </p:cNvPr>
          <p:cNvSpPr/>
          <p:nvPr/>
        </p:nvSpPr>
        <p:spPr>
          <a:xfrm>
            <a:off x="9904144" y="2960591"/>
            <a:ext cx="369358" cy="372781"/>
          </a:xfrm>
          <a:prstGeom prst="ellipse">
            <a:avLst/>
          </a:prstGeom>
          <a:solidFill>
            <a:srgbClr val="18BC9C"/>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200" b="1" dirty="0">
                <a:solidFill>
                  <a:prstClr val="white"/>
                </a:solidFill>
                <a:latin typeface="Poppins" panose="00000500000000000000" pitchFamily="2" charset="0"/>
                <a:cs typeface="Poppins" panose="00000500000000000000" pitchFamily="2" charset="0"/>
              </a:rPr>
              <a:t>11</a:t>
            </a:r>
          </a:p>
        </p:txBody>
      </p:sp>
      <p:cxnSp>
        <p:nvCxnSpPr>
          <p:cNvPr id="25" name="Elbow Connector 24"/>
          <p:cNvCxnSpPr>
            <a:stCxn id="45" idx="3"/>
            <a:endCxn id="34" idx="1"/>
          </p:cNvCxnSpPr>
          <p:nvPr/>
        </p:nvCxnSpPr>
        <p:spPr>
          <a:xfrm flipV="1">
            <a:off x="3968964" y="3202012"/>
            <a:ext cx="1149737" cy="1977118"/>
          </a:xfrm>
          <a:prstGeom prst="bentConnector3">
            <a:avLst>
              <a:gd name="adj1" fmla="val 50000"/>
            </a:avLst>
          </a:prstGeom>
          <a:ln w="28575">
            <a:solidFill>
              <a:srgbClr val="0070C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1" name="Elbow Connector 30"/>
          <p:cNvCxnSpPr>
            <a:stCxn id="16" idx="3"/>
            <a:endCxn id="22" idx="1"/>
          </p:cNvCxnSpPr>
          <p:nvPr/>
        </p:nvCxnSpPr>
        <p:spPr>
          <a:xfrm flipV="1">
            <a:off x="7848327" y="3986715"/>
            <a:ext cx="873275" cy="1192415"/>
          </a:xfrm>
          <a:prstGeom prst="bentConnector3">
            <a:avLst>
              <a:gd name="adj1" fmla="val 50000"/>
            </a:avLst>
          </a:prstGeom>
          <a:ln w="28575">
            <a:solidFill>
              <a:srgbClr val="0070C0"/>
            </a:solidFill>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081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Profile Creation</a:t>
            </a:r>
          </a:p>
        </p:txBody>
      </p:sp>
      <p:sp>
        <p:nvSpPr>
          <p:cNvPr id="16" name="Rectangle 15">
            <a:extLst>
              <a:ext uri="{FF2B5EF4-FFF2-40B4-BE49-F238E27FC236}">
                <a16:creationId xmlns:a16="http://schemas.microsoft.com/office/drawing/2014/main" id="{8B748B0B-64E6-CE46-D322-278F93E27F0E}"/>
              </a:ext>
            </a:extLst>
          </p:cNvPr>
          <p:cNvSpPr/>
          <p:nvPr/>
        </p:nvSpPr>
        <p:spPr>
          <a:xfrm>
            <a:off x="71317" y="1161541"/>
            <a:ext cx="4326144" cy="32035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The user will utilize this screen for the new outlets profile creation.</a:t>
            </a:r>
          </a:p>
        </p:txBody>
      </p:sp>
      <p:grpSp>
        <p:nvGrpSpPr>
          <p:cNvPr id="2" name="Group 1"/>
          <p:cNvGrpSpPr/>
          <p:nvPr/>
        </p:nvGrpSpPr>
        <p:grpSpPr>
          <a:xfrm>
            <a:off x="71317" y="1604455"/>
            <a:ext cx="1672590" cy="1047750"/>
            <a:chOff x="71318" y="1504951"/>
            <a:chExt cx="1672590" cy="1047750"/>
          </a:xfrm>
        </p:grpSpPr>
        <p:pic>
          <p:nvPicPr>
            <p:cNvPr id="9" name="Picture 8"/>
            <p:cNvPicPr/>
            <p:nvPr/>
          </p:nvPicPr>
          <p:blipFill rotWithShape="1">
            <a:blip r:embed="rId3"/>
            <a:srcRect b="26764"/>
            <a:stretch/>
          </p:blipFill>
          <p:spPr>
            <a:xfrm>
              <a:off x="71318" y="1504951"/>
              <a:ext cx="1672590" cy="1047750"/>
            </a:xfrm>
            <a:prstGeom prst="rect">
              <a:avLst/>
            </a:prstGeom>
          </p:spPr>
        </p:pic>
        <p:pic>
          <p:nvPicPr>
            <p:cNvPr id="11" name="Picture 10"/>
            <p:cNvPicPr/>
            <p:nvPr/>
          </p:nvPicPr>
          <p:blipFill rotWithShape="1">
            <a:blip r:embed="rId3"/>
            <a:srcRect t="67178" b="-1"/>
            <a:stretch/>
          </p:blipFill>
          <p:spPr>
            <a:xfrm>
              <a:off x="71318" y="2083119"/>
              <a:ext cx="1672590" cy="469582"/>
            </a:xfrm>
            <a:prstGeom prst="rect">
              <a:avLst/>
            </a:prstGeom>
          </p:spPr>
        </p:pic>
      </p:grpSp>
      <p:sp>
        <p:nvSpPr>
          <p:cNvPr id="13" name="Rectangle 12"/>
          <p:cNvSpPr/>
          <p:nvPr/>
        </p:nvSpPr>
        <p:spPr>
          <a:xfrm>
            <a:off x="71317" y="1712354"/>
            <a:ext cx="1672590" cy="8869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14" name="Rectangle 13">
            <a:extLst>
              <a:ext uri="{FF2B5EF4-FFF2-40B4-BE49-F238E27FC236}">
                <a16:creationId xmlns:a16="http://schemas.microsoft.com/office/drawing/2014/main" id="{8B748B0B-64E6-CE46-D322-278F93E27F0E}"/>
              </a:ext>
            </a:extLst>
          </p:cNvPr>
          <p:cNvSpPr/>
          <p:nvPr/>
        </p:nvSpPr>
        <p:spPr>
          <a:xfrm>
            <a:off x="1985842" y="1840520"/>
            <a:ext cx="2411619" cy="576894"/>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Search the outlet profile from the search bar. Click on the appeared option.</a:t>
            </a:r>
          </a:p>
        </p:txBody>
      </p:sp>
      <p:sp>
        <p:nvSpPr>
          <p:cNvPr id="15" name="Down Arrow 14"/>
          <p:cNvSpPr/>
          <p:nvPr/>
        </p:nvSpPr>
        <p:spPr>
          <a:xfrm rot="5400000">
            <a:off x="1677431" y="1943048"/>
            <a:ext cx="246258" cy="370564"/>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7" name="Rectangle 16"/>
          <p:cNvSpPr/>
          <p:nvPr/>
        </p:nvSpPr>
        <p:spPr>
          <a:xfrm>
            <a:off x="59285" y="2926563"/>
            <a:ext cx="8434507" cy="1835680"/>
          </a:xfrm>
          <a:prstGeom prst="rect">
            <a:avLst/>
          </a:prstGeom>
          <a:noFill/>
          <a:ln w="28575">
            <a:solidFill>
              <a:srgbClr val="F9F9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0" name="Rectangle 19">
            <a:extLst>
              <a:ext uri="{FF2B5EF4-FFF2-40B4-BE49-F238E27FC236}">
                <a16:creationId xmlns:a16="http://schemas.microsoft.com/office/drawing/2014/main" id="{8B748B0B-64E6-CE46-D322-278F93E27F0E}"/>
              </a:ext>
            </a:extLst>
          </p:cNvPr>
          <p:cNvSpPr/>
          <p:nvPr/>
        </p:nvSpPr>
        <p:spPr>
          <a:xfrm>
            <a:off x="8724901" y="4256239"/>
            <a:ext cx="3333750" cy="821088"/>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000" dirty="0">
              <a:solidFill>
                <a:schemeClr val="tx1"/>
              </a:solidFill>
              <a:latin typeface="Poppins" panose="00000500000000000000" pitchFamily="2" charset="0"/>
              <a:cs typeface="Poppins" panose="00000500000000000000" pitchFamily="2" charset="0"/>
            </a:endParaRPr>
          </a:p>
          <a:p>
            <a:pPr algn="just"/>
            <a:r>
              <a:rPr lang="en-US" sz="1000" dirty="0">
                <a:solidFill>
                  <a:schemeClr val="tx1"/>
                </a:solidFill>
                <a:latin typeface="Poppins" panose="00000500000000000000" pitchFamily="2" charset="0"/>
                <a:cs typeface="Poppins" panose="00000500000000000000" pitchFamily="2" charset="0"/>
              </a:rPr>
              <a:t>The grid displays all previously created outlets, along with details such as Outlet Code, Outlet Name, Active Status, and other relevant information.</a:t>
            </a:r>
          </a:p>
          <a:p>
            <a:pPr algn="just"/>
            <a:endParaRPr lang="en-US" sz="1000" b="1" dirty="0">
              <a:solidFill>
                <a:schemeClr val="tx1"/>
              </a:solidFill>
              <a:latin typeface="Poppins" panose="00000500000000000000" pitchFamily="2" charset="0"/>
              <a:cs typeface="Poppins" panose="00000500000000000000" pitchFamily="2" charset="0"/>
            </a:endParaRPr>
          </a:p>
        </p:txBody>
      </p:sp>
      <p:sp>
        <p:nvSpPr>
          <p:cNvPr id="23" name="Oval 22">
            <a:hlinkClick r:id="rId4" action="ppaction://hlinksldjump" highlightClick="1">
              <a:snd r:embed="rId5" name="arrow.wav"/>
            </a:hlinkClick>
            <a:extLst>
              <a:ext uri="{FF2B5EF4-FFF2-40B4-BE49-F238E27FC236}">
                <a16:creationId xmlns:a16="http://schemas.microsoft.com/office/drawing/2014/main" id="{1A334743-2C87-530F-0112-BDA6DFE16E75}"/>
              </a:ext>
            </a:extLst>
          </p:cNvPr>
          <p:cNvSpPr/>
          <p:nvPr/>
        </p:nvSpPr>
        <p:spPr>
          <a:xfrm>
            <a:off x="3082564" y="1642427"/>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24" name="Oval 23">
            <a:hlinkClick r:id="rId4" action="ppaction://hlinksldjump" highlightClick="1">
              <a:snd r:embed="rId5" name="arrow.wav"/>
            </a:hlinkClick>
            <a:extLst>
              <a:ext uri="{FF2B5EF4-FFF2-40B4-BE49-F238E27FC236}">
                <a16:creationId xmlns:a16="http://schemas.microsoft.com/office/drawing/2014/main" id="{1A334743-2C87-530F-0112-BDA6DFE16E75}"/>
              </a:ext>
            </a:extLst>
          </p:cNvPr>
          <p:cNvSpPr/>
          <p:nvPr/>
        </p:nvSpPr>
        <p:spPr>
          <a:xfrm>
            <a:off x="10282689" y="4088991"/>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25" name="Rectangle 24">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Previous Records</a:t>
            </a:r>
          </a:p>
        </p:txBody>
      </p:sp>
      <p:pic>
        <p:nvPicPr>
          <p:cNvPr id="4" name="Picture 3">
            <a:extLst>
              <a:ext uri="{FF2B5EF4-FFF2-40B4-BE49-F238E27FC236}">
                <a16:creationId xmlns:a16="http://schemas.microsoft.com/office/drawing/2014/main" id="{F9B9FE82-2B54-9753-450D-F064B7B58955}"/>
              </a:ext>
            </a:extLst>
          </p:cNvPr>
          <p:cNvPicPr>
            <a:picLocks noChangeAspect="1"/>
          </p:cNvPicPr>
          <p:nvPr/>
        </p:nvPicPr>
        <p:blipFill>
          <a:blip r:embed="rId6"/>
          <a:stretch>
            <a:fillRect/>
          </a:stretch>
        </p:blipFill>
        <p:spPr>
          <a:xfrm>
            <a:off x="71316" y="2935941"/>
            <a:ext cx="8410444" cy="1802238"/>
          </a:xfrm>
          <a:prstGeom prst="rect">
            <a:avLst/>
          </a:prstGeom>
        </p:spPr>
      </p:pic>
      <p:sp>
        <p:nvSpPr>
          <p:cNvPr id="22" name="Down Arrow 21"/>
          <p:cNvSpPr/>
          <p:nvPr/>
        </p:nvSpPr>
        <p:spPr>
          <a:xfrm rot="5400000">
            <a:off x="8416489" y="4363477"/>
            <a:ext cx="246258" cy="370564"/>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Tree>
    <p:custDataLst>
      <p:tags r:id="rId1"/>
    </p:custDataLst>
    <p:extLst>
      <p:ext uri="{BB962C8B-B14F-4D97-AF65-F5344CB8AC3E}">
        <p14:creationId xmlns:p14="http://schemas.microsoft.com/office/powerpoint/2010/main" val="283722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E3D23-E0C7-0517-2DEB-67B77E2E433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A5C9FCC-3EE4-89C8-AEC8-ACB2798EC893}"/>
              </a:ext>
            </a:extLst>
          </p:cNvPr>
          <p:cNvPicPr>
            <a:picLocks noChangeAspect="1"/>
          </p:cNvPicPr>
          <p:nvPr/>
        </p:nvPicPr>
        <p:blipFill>
          <a:blip r:embed="rId3"/>
          <a:stretch>
            <a:fillRect/>
          </a:stretch>
        </p:blipFill>
        <p:spPr>
          <a:xfrm>
            <a:off x="31921" y="1329386"/>
            <a:ext cx="6441227" cy="3207338"/>
          </a:xfrm>
          <a:prstGeom prst="rect">
            <a:avLst/>
          </a:prstGeom>
        </p:spPr>
      </p:pic>
      <p:sp>
        <p:nvSpPr>
          <p:cNvPr id="26" name="Rectangle 25">
            <a:extLst>
              <a:ext uri="{FF2B5EF4-FFF2-40B4-BE49-F238E27FC236}">
                <a16:creationId xmlns:a16="http://schemas.microsoft.com/office/drawing/2014/main" id="{81E092ED-6995-AECA-C772-6D1845E068B1}"/>
              </a:ext>
            </a:extLst>
          </p:cNvPr>
          <p:cNvSpPr/>
          <p:nvPr/>
        </p:nvSpPr>
        <p:spPr>
          <a:xfrm>
            <a:off x="0" y="4368053"/>
            <a:ext cx="7170085" cy="2489947"/>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300"/>
              </a:spcBef>
            </a:pPr>
            <a:r>
              <a:rPr lang="en-US" sz="900" b="1" u="sng" dirty="0">
                <a:solidFill>
                  <a:srgbClr val="0070C0"/>
                </a:solidFill>
                <a:latin typeface="Poppins" panose="00000500000000000000" pitchFamily="2" charset="0"/>
                <a:cs typeface="Poppins" panose="00000500000000000000" pitchFamily="2" charset="0"/>
              </a:rPr>
              <a:t>Fields Description</a:t>
            </a:r>
          </a:p>
          <a:p>
            <a:pPr marL="171450" indent="-171450">
              <a:spcBef>
                <a:spcPts val="300"/>
              </a:spcBef>
              <a:buFont typeface="Wingdings" panose="05000000000000000000" pitchFamily="2" charset="2"/>
              <a:buChar char="q"/>
            </a:pPr>
            <a:r>
              <a:rPr lang="en-US" sz="900" b="1" dirty="0">
                <a:solidFill>
                  <a:schemeClr val="tx1"/>
                </a:solidFill>
                <a:latin typeface="Poppins" panose="00000500000000000000" pitchFamily="2" charset="0"/>
                <a:cs typeface="Poppins" panose="00000500000000000000" pitchFamily="2" charset="0"/>
              </a:rPr>
              <a:t>Outlet Code:</a:t>
            </a:r>
            <a:r>
              <a:rPr lang="en-US" sz="900" dirty="0">
                <a:solidFill>
                  <a:schemeClr val="tx1"/>
                </a:solidFill>
                <a:latin typeface="Poppins" panose="00000500000000000000" pitchFamily="2" charset="0"/>
                <a:cs typeface="Poppins" panose="00000500000000000000" pitchFamily="2" charset="0"/>
              </a:rPr>
              <a:t> The Outlet Code field is auto-generated and disabled in the system.</a:t>
            </a:r>
          </a:p>
          <a:p>
            <a:pPr marL="171450" indent="-171450">
              <a:spcBef>
                <a:spcPts val="300"/>
              </a:spcBef>
              <a:buFont typeface="Wingdings" panose="05000000000000000000" pitchFamily="2" charset="2"/>
              <a:buChar char="q"/>
            </a:pPr>
            <a:r>
              <a:rPr lang="en-US" sz="900" b="1" dirty="0">
                <a:solidFill>
                  <a:schemeClr val="tx1"/>
                </a:solidFill>
                <a:latin typeface="Poppins" panose="00000500000000000000" pitchFamily="2" charset="0"/>
                <a:cs typeface="Poppins" panose="00000500000000000000" pitchFamily="2" charset="0"/>
              </a:rPr>
              <a:t>Outlet Long Name: </a:t>
            </a:r>
            <a:r>
              <a:rPr lang="en-US" sz="900" dirty="0">
                <a:solidFill>
                  <a:schemeClr val="tx1"/>
                </a:solidFill>
                <a:latin typeface="Poppins" panose="00000500000000000000" pitchFamily="2" charset="0"/>
                <a:cs typeface="Poppins" panose="00000500000000000000" pitchFamily="2" charset="0"/>
              </a:rPr>
              <a:t>In this field, the user enters the long name of the outlet.</a:t>
            </a:r>
          </a:p>
          <a:p>
            <a:pPr marL="171450" indent="-171450">
              <a:spcBef>
                <a:spcPts val="300"/>
              </a:spcBef>
              <a:buFont typeface="Wingdings" panose="05000000000000000000" pitchFamily="2" charset="2"/>
              <a:buChar char="q"/>
            </a:pPr>
            <a:r>
              <a:rPr lang="en-US" sz="900" b="1" dirty="0">
                <a:solidFill>
                  <a:schemeClr val="tx1"/>
                </a:solidFill>
                <a:latin typeface="Poppins" panose="00000500000000000000" pitchFamily="2" charset="0"/>
                <a:cs typeface="Poppins" panose="00000500000000000000" pitchFamily="2" charset="0"/>
              </a:rPr>
              <a:t>Previous Outlet Code: </a:t>
            </a:r>
            <a:r>
              <a:rPr lang="en-US" sz="900" dirty="0">
                <a:solidFill>
                  <a:schemeClr val="tx1"/>
                </a:solidFill>
                <a:latin typeface="Poppins" panose="00000500000000000000" pitchFamily="2" charset="0"/>
                <a:cs typeface="Poppins" panose="00000500000000000000" pitchFamily="2" charset="0"/>
              </a:rPr>
              <a:t>Displays the outlet code previously assigned to the outlet, if applicable.</a:t>
            </a:r>
          </a:p>
          <a:p>
            <a:pPr marL="171450" indent="-171450">
              <a:spcBef>
                <a:spcPts val="300"/>
              </a:spcBef>
              <a:buFont typeface="Wingdings" panose="05000000000000000000" pitchFamily="2" charset="2"/>
              <a:buChar char="q"/>
            </a:pPr>
            <a:r>
              <a:rPr lang="en-US" sz="900" b="1" dirty="0">
                <a:solidFill>
                  <a:schemeClr val="tx1"/>
                </a:solidFill>
                <a:latin typeface="Poppins" panose="00000500000000000000" pitchFamily="2" charset="0"/>
                <a:cs typeface="Poppins" panose="00000500000000000000" pitchFamily="2" charset="0"/>
              </a:rPr>
              <a:t>Channel Hierarchy: </a:t>
            </a:r>
            <a:r>
              <a:rPr lang="en-GB" sz="900" dirty="0">
                <a:solidFill>
                  <a:schemeClr val="tx1"/>
                </a:solidFill>
                <a:latin typeface="Poppins" panose="00000500000000000000" pitchFamily="2" charset="0"/>
                <a:cs typeface="Poppins" panose="00000500000000000000" pitchFamily="2" charset="0"/>
              </a:rPr>
              <a:t>This field is mandatory, and the last level of the Channel hierarchy will be associated with the outlet. </a:t>
            </a:r>
            <a:r>
              <a:rPr lang="en-US" sz="900" b="1" dirty="0">
                <a:solidFill>
                  <a:schemeClr val="tx1"/>
                </a:solidFill>
                <a:latin typeface="Poppins" panose="00000500000000000000" pitchFamily="2" charset="0"/>
                <a:cs typeface="Poppins" panose="00000500000000000000" pitchFamily="2" charset="0"/>
              </a:rPr>
              <a:t>Example: </a:t>
            </a:r>
            <a:r>
              <a:rPr lang="en-US" sz="900" dirty="0">
                <a:solidFill>
                  <a:schemeClr val="tx1"/>
                </a:solidFill>
                <a:latin typeface="Poppins" panose="00000500000000000000" pitchFamily="2" charset="0"/>
                <a:cs typeface="Poppins" panose="00000500000000000000" pitchFamily="2" charset="0"/>
              </a:rPr>
              <a:t>Bakery, Restaurants, Hospitals etc.</a:t>
            </a:r>
          </a:p>
          <a:p>
            <a:pPr marL="171450" indent="-171450">
              <a:spcBef>
                <a:spcPts val="300"/>
              </a:spcBef>
              <a:buFont typeface="Wingdings" panose="05000000000000000000" pitchFamily="2" charset="2"/>
              <a:buChar char="q"/>
            </a:pPr>
            <a:r>
              <a:rPr lang="en-US" sz="900" b="1" dirty="0">
                <a:solidFill>
                  <a:schemeClr val="tx1"/>
                </a:solidFill>
                <a:latin typeface="Poppins" panose="00000500000000000000" pitchFamily="2" charset="0"/>
                <a:cs typeface="Poppins" panose="00000500000000000000" pitchFamily="2" charset="0"/>
              </a:rPr>
              <a:t>Outlet Rank: </a:t>
            </a:r>
            <a:r>
              <a:rPr lang="en-US" sz="900" dirty="0">
                <a:solidFill>
                  <a:schemeClr val="tx1"/>
                </a:solidFill>
                <a:latin typeface="Poppins" panose="00000500000000000000" pitchFamily="2" charset="0"/>
                <a:cs typeface="Poppins" panose="00000500000000000000" pitchFamily="2" charset="0"/>
              </a:rPr>
              <a:t>Select the rank assigned to the outlet based on its business importance or classification.</a:t>
            </a:r>
          </a:p>
          <a:p>
            <a:pPr marL="171450" indent="-171450">
              <a:spcBef>
                <a:spcPts val="300"/>
              </a:spcBef>
              <a:buFont typeface="Wingdings" panose="05000000000000000000" pitchFamily="2" charset="2"/>
              <a:buChar char="q"/>
            </a:pPr>
            <a:r>
              <a:rPr lang="en-US" sz="900" b="1" dirty="0">
                <a:solidFill>
                  <a:schemeClr val="tx1"/>
                </a:solidFill>
                <a:latin typeface="Poppins" panose="00000500000000000000" pitchFamily="2" charset="0"/>
                <a:cs typeface="Poppins" panose="00000500000000000000" pitchFamily="2" charset="0"/>
              </a:rPr>
              <a:t>Coordinates Latitude: </a:t>
            </a:r>
            <a:r>
              <a:rPr lang="en-US" sz="900" dirty="0">
                <a:solidFill>
                  <a:schemeClr val="tx1"/>
                </a:solidFill>
                <a:latin typeface="Poppins" panose="00000500000000000000" pitchFamily="2" charset="0"/>
                <a:cs typeface="Poppins" panose="00000500000000000000" pitchFamily="2" charset="0"/>
              </a:rPr>
              <a:t>Add the coordinate latitude for the outlet location.</a:t>
            </a:r>
          </a:p>
          <a:p>
            <a:pPr marL="171450" indent="-171450">
              <a:spcBef>
                <a:spcPts val="300"/>
              </a:spcBef>
              <a:buFont typeface="Wingdings" panose="05000000000000000000" pitchFamily="2" charset="2"/>
              <a:buChar char="q"/>
            </a:pPr>
            <a:r>
              <a:rPr lang="en-US" sz="900" b="1" dirty="0">
                <a:solidFill>
                  <a:schemeClr val="tx1"/>
                </a:solidFill>
                <a:latin typeface="Poppins" panose="00000500000000000000" pitchFamily="2" charset="0"/>
                <a:cs typeface="Poppins" panose="00000500000000000000" pitchFamily="2" charset="0"/>
              </a:rPr>
              <a:t>Area Type: </a:t>
            </a:r>
            <a:r>
              <a:rPr lang="en-US" sz="900" dirty="0">
                <a:solidFill>
                  <a:schemeClr val="tx1"/>
                </a:solidFill>
                <a:latin typeface="Poppins" panose="00000500000000000000" pitchFamily="2" charset="0"/>
                <a:cs typeface="Poppins" panose="00000500000000000000" pitchFamily="2" charset="0"/>
              </a:rPr>
              <a:t>Select the area type where the outlet is located.</a:t>
            </a:r>
          </a:p>
          <a:p>
            <a:pPr marL="171450" indent="-171450">
              <a:spcBef>
                <a:spcPts val="300"/>
              </a:spcBef>
              <a:buFont typeface="Wingdings" panose="05000000000000000000" pitchFamily="2" charset="2"/>
              <a:buChar char="q"/>
            </a:pPr>
            <a:r>
              <a:rPr lang="en-US" sz="900" b="1" dirty="0">
                <a:solidFill>
                  <a:schemeClr val="tx1"/>
                </a:solidFill>
                <a:latin typeface="Poppins" panose="00000500000000000000" pitchFamily="2" charset="0"/>
                <a:cs typeface="Poppins" panose="00000500000000000000" pitchFamily="2" charset="0"/>
              </a:rPr>
              <a:t>Identified By: </a:t>
            </a:r>
            <a:r>
              <a:rPr lang="en-US" sz="900" dirty="0">
                <a:solidFill>
                  <a:schemeClr val="tx1"/>
                </a:solidFill>
                <a:latin typeface="Poppins" panose="00000500000000000000" pitchFamily="2" charset="0"/>
                <a:cs typeface="Poppins" panose="00000500000000000000" pitchFamily="2" charset="0"/>
              </a:rPr>
              <a:t>Indicate any specific identification criteria for outlets.</a:t>
            </a:r>
          </a:p>
          <a:p>
            <a:pPr marL="171450" indent="-171450">
              <a:spcBef>
                <a:spcPts val="300"/>
              </a:spcBef>
              <a:buFont typeface="Wingdings" panose="05000000000000000000" pitchFamily="2" charset="2"/>
              <a:buChar char="q"/>
            </a:pPr>
            <a:r>
              <a:rPr lang="en-US" sz="900" b="1" dirty="0">
                <a:solidFill>
                  <a:schemeClr val="tx1"/>
                </a:solidFill>
                <a:latin typeface="Poppins" panose="00000500000000000000" pitchFamily="2" charset="0"/>
                <a:cs typeface="Poppins" panose="00000500000000000000" pitchFamily="2" charset="0"/>
              </a:rPr>
              <a:t>Status: </a:t>
            </a:r>
            <a:r>
              <a:rPr lang="en-US" sz="900" dirty="0">
                <a:solidFill>
                  <a:schemeClr val="tx1"/>
                </a:solidFill>
                <a:latin typeface="Poppins" panose="00000500000000000000" pitchFamily="2" charset="0"/>
                <a:cs typeface="Poppins" panose="00000500000000000000" pitchFamily="2" charset="0"/>
              </a:rPr>
              <a:t>Displays the current status of the outlet.</a:t>
            </a:r>
          </a:p>
          <a:p>
            <a:pPr marL="171450" indent="-171450">
              <a:spcBef>
                <a:spcPts val="300"/>
              </a:spcBef>
              <a:buFont typeface="Wingdings" panose="05000000000000000000" pitchFamily="2" charset="2"/>
              <a:buChar char="q"/>
            </a:pPr>
            <a:r>
              <a:rPr lang="en-US" sz="900" b="1" dirty="0">
                <a:solidFill>
                  <a:schemeClr val="tx1"/>
                </a:solidFill>
                <a:latin typeface="Poppins" panose="00000500000000000000" pitchFamily="2" charset="0"/>
                <a:cs typeface="Poppins" panose="00000500000000000000" pitchFamily="2" charset="0"/>
              </a:rPr>
              <a:t>Ship To Code: </a:t>
            </a:r>
            <a:r>
              <a:rPr lang="en-US" sz="900" dirty="0">
                <a:solidFill>
                  <a:schemeClr val="tx1"/>
                </a:solidFill>
                <a:latin typeface="Poppins" panose="00000500000000000000" pitchFamily="2" charset="0"/>
                <a:cs typeface="Poppins" panose="00000500000000000000" pitchFamily="2" charset="0"/>
              </a:rPr>
              <a:t>Enter the code used to identify the outlet as a shipping destination.</a:t>
            </a:r>
          </a:p>
          <a:p>
            <a:pPr marL="171450" indent="-171450">
              <a:spcBef>
                <a:spcPts val="300"/>
              </a:spcBef>
              <a:buFont typeface="Wingdings" panose="05000000000000000000" pitchFamily="2" charset="2"/>
              <a:buChar char="q"/>
            </a:pPr>
            <a:r>
              <a:rPr lang="en-US" sz="900" b="1" dirty="0">
                <a:solidFill>
                  <a:schemeClr val="tx1"/>
                </a:solidFill>
                <a:latin typeface="Poppins" panose="00000500000000000000" pitchFamily="2" charset="0"/>
                <a:cs typeface="Poppins" panose="00000500000000000000" pitchFamily="2" charset="0"/>
              </a:rPr>
              <a:t>Analysis 1: </a:t>
            </a:r>
            <a:r>
              <a:rPr lang="en-US" sz="900" dirty="0">
                <a:solidFill>
                  <a:schemeClr val="tx1"/>
                </a:solidFill>
                <a:latin typeface="Poppins" panose="00000500000000000000" pitchFamily="2" charset="0"/>
                <a:cs typeface="Poppins" panose="00000500000000000000" pitchFamily="2" charset="0"/>
              </a:rPr>
              <a:t>Select the first analysis parameter for the outlet.</a:t>
            </a:r>
          </a:p>
          <a:p>
            <a:pPr marL="171450" indent="-171450">
              <a:spcBef>
                <a:spcPts val="300"/>
              </a:spcBef>
              <a:buFont typeface="Wingdings" panose="05000000000000000000" pitchFamily="2" charset="2"/>
              <a:buChar char="q"/>
            </a:pPr>
            <a:r>
              <a:rPr lang="en-US" sz="900" b="1" dirty="0">
                <a:solidFill>
                  <a:schemeClr val="tx1"/>
                </a:solidFill>
                <a:latin typeface="Poppins" panose="00000500000000000000" pitchFamily="2" charset="0"/>
                <a:cs typeface="Poppins" panose="00000500000000000000" pitchFamily="2" charset="0"/>
              </a:rPr>
              <a:t>Analysis 3: </a:t>
            </a:r>
            <a:r>
              <a:rPr lang="en-US" sz="900" dirty="0">
                <a:solidFill>
                  <a:schemeClr val="tx1"/>
                </a:solidFill>
                <a:latin typeface="Poppins" panose="00000500000000000000" pitchFamily="2" charset="0"/>
                <a:cs typeface="Poppins" panose="00000500000000000000" pitchFamily="2" charset="0"/>
              </a:rPr>
              <a:t>Select the third analysis parameter for the outlet.</a:t>
            </a:r>
          </a:p>
        </p:txBody>
      </p:sp>
      <p:sp>
        <p:nvSpPr>
          <p:cNvPr id="27" name="Rectangle 26">
            <a:extLst>
              <a:ext uri="{FF2B5EF4-FFF2-40B4-BE49-F238E27FC236}">
                <a16:creationId xmlns:a16="http://schemas.microsoft.com/office/drawing/2014/main" id="{2CF57424-B46A-94D1-EBB1-EB55E3165368}"/>
              </a:ext>
            </a:extLst>
          </p:cNvPr>
          <p:cNvSpPr/>
          <p:nvPr/>
        </p:nvSpPr>
        <p:spPr>
          <a:xfrm>
            <a:off x="7198170" y="1475293"/>
            <a:ext cx="4511342" cy="4467499"/>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300"/>
              </a:spcBef>
            </a:pPr>
            <a:r>
              <a:rPr lang="en-US" sz="1000" b="1" u="sng" dirty="0">
                <a:solidFill>
                  <a:srgbClr val="0070C0"/>
                </a:solidFill>
                <a:latin typeface="Poppins" panose="00000500000000000000" pitchFamily="2" charset="0"/>
                <a:cs typeface="Poppins" panose="00000500000000000000" pitchFamily="2" charset="0"/>
              </a:rPr>
              <a:t>Fields Description</a:t>
            </a:r>
          </a:p>
          <a:p>
            <a:pPr marL="171450" indent="-171450" algn="just">
              <a:spcBef>
                <a:spcPts val="300"/>
              </a:spcBef>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Outlet Short Name:</a:t>
            </a:r>
            <a:r>
              <a:rPr lang="en-US" sz="1000" dirty="0">
                <a:solidFill>
                  <a:schemeClr val="tx1"/>
                </a:solidFill>
                <a:latin typeface="Poppins" panose="00000500000000000000" pitchFamily="2" charset="0"/>
                <a:cs typeface="Poppins" panose="00000500000000000000" pitchFamily="2" charset="0"/>
              </a:rPr>
              <a:t> In this field, the user is required to enter the brief name of the outlet.</a:t>
            </a:r>
          </a:p>
          <a:p>
            <a:pPr marL="171450" indent="-171450" algn="just">
              <a:spcBef>
                <a:spcPts val="300"/>
              </a:spcBef>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Outlet Type: </a:t>
            </a:r>
            <a:r>
              <a:rPr lang="en-US" sz="1000" dirty="0">
                <a:solidFill>
                  <a:schemeClr val="tx1"/>
                </a:solidFill>
                <a:latin typeface="Poppins" panose="00000500000000000000" pitchFamily="2" charset="0"/>
                <a:cs typeface="Poppins" panose="00000500000000000000" pitchFamily="2" charset="0"/>
              </a:rPr>
              <a:t>The "</a:t>
            </a:r>
            <a:r>
              <a:rPr lang="en-US" sz="1000" b="1" dirty="0">
                <a:solidFill>
                  <a:schemeClr val="tx1"/>
                </a:solidFill>
                <a:latin typeface="Poppins" panose="00000500000000000000" pitchFamily="2" charset="0"/>
                <a:cs typeface="Poppins" panose="00000500000000000000" pitchFamily="2" charset="0"/>
              </a:rPr>
              <a:t>Outlet Type</a:t>
            </a:r>
            <a:r>
              <a:rPr lang="en-US" sz="1000" dirty="0">
                <a:solidFill>
                  <a:schemeClr val="tx1"/>
                </a:solidFill>
                <a:latin typeface="Poppins" panose="00000500000000000000" pitchFamily="2" charset="0"/>
                <a:cs typeface="Poppins" panose="00000500000000000000" pitchFamily="2" charset="0"/>
              </a:rPr>
              <a:t>" field is a mandatory selection. Users must choose the outlet type from the dropdown menu, which includes options such as Local Modern Trade, Modern Trade, General Trade, and others.</a:t>
            </a:r>
          </a:p>
          <a:p>
            <a:pPr marL="171450" indent="-171450" algn="just">
              <a:spcBef>
                <a:spcPts val="300"/>
              </a:spcBef>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Currency: </a:t>
            </a:r>
            <a:r>
              <a:rPr lang="en-US" sz="1000" dirty="0">
                <a:solidFill>
                  <a:schemeClr val="tx1"/>
                </a:solidFill>
                <a:latin typeface="Poppins" panose="00000500000000000000" pitchFamily="2" charset="0"/>
                <a:cs typeface="Poppins" panose="00000500000000000000" pitchFamily="2" charset="0"/>
              </a:rPr>
              <a:t>Select the currency used for transactions with the outlet.</a:t>
            </a:r>
          </a:p>
          <a:p>
            <a:pPr marL="171450" indent="-171450" algn="just">
              <a:spcBef>
                <a:spcPts val="300"/>
              </a:spcBef>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Geographical Hierarchy: </a:t>
            </a:r>
            <a:r>
              <a:rPr lang="en-US" sz="1000" dirty="0">
                <a:solidFill>
                  <a:schemeClr val="tx1"/>
                </a:solidFill>
                <a:latin typeface="Poppins" panose="00000500000000000000" pitchFamily="2" charset="0"/>
                <a:cs typeface="Poppins" panose="00000500000000000000" pitchFamily="2" charset="0"/>
              </a:rPr>
              <a:t>Select the Geographical Hierarchy as per the requirements.</a:t>
            </a:r>
          </a:p>
          <a:p>
            <a:pPr marL="171450" indent="-171450" algn="just">
              <a:spcBef>
                <a:spcPts val="300"/>
              </a:spcBef>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Company Rank/ Outlet Rank: </a:t>
            </a:r>
            <a:r>
              <a:rPr lang="en-GB" sz="1000" dirty="0">
                <a:solidFill>
                  <a:schemeClr val="tx1"/>
                </a:solidFill>
                <a:latin typeface="Poppins" panose="00000500000000000000" pitchFamily="2" charset="0"/>
                <a:cs typeface="Poppins" panose="00000500000000000000" pitchFamily="2" charset="0"/>
              </a:rPr>
              <a:t>These are the parameters associated with Ranking in the system. These ranks are user defined parameters which the user can create and update. For example Outlet Rank A, Company Rank B etc.</a:t>
            </a:r>
            <a:endParaRPr lang="en-US" sz="1000" dirty="0">
              <a:solidFill>
                <a:schemeClr val="tx1"/>
              </a:solidFill>
              <a:latin typeface="Poppins" panose="00000500000000000000" pitchFamily="2" charset="0"/>
              <a:cs typeface="Poppins" panose="00000500000000000000" pitchFamily="2" charset="0"/>
            </a:endParaRPr>
          </a:p>
          <a:p>
            <a:pPr marL="171450" indent="-171450" algn="just">
              <a:spcBef>
                <a:spcPts val="300"/>
              </a:spcBef>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Coordinates Longitude: </a:t>
            </a:r>
            <a:r>
              <a:rPr lang="en-US" sz="1000" dirty="0">
                <a:solidFill>
                  <a:schemeClr val="tx1"/>
                </a:solidFill>
                <a:latin typeface="Poppins" panose="00000500000000000000" pitchFamily="2" charset="0"/>
                <a:cs typeface="Poppins" panose="00000500000000000000" pitchFamily="2" charset="0"/>
              </a:rPr>
              <a:t>Add the coordinate longitude for the outlet location.</a:t>
            </a:r>
          </a:p>
          <a:p>
            <a:pPr marL="171450" indent="-171450" algn="just">
              <a:spcBef>
                <a:spcPts val="300"/>
              </a:spcBef>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Identified On: </a:t>
            </a:r>
            <a:r>
              <a:rPr lang="en-US" sz="1000" dirty="0">
                <a:solidFill>
                  <a:schemeClr val="tx1"/>
                </a:solidFill>
                <a:latin typeface="Poppins" panose="00000500000000000000" pitchFamily="2" charset="0"/>
                <a:cs typeface="Poppins" panose="00000500000000000000" pitchFamily="2" charset="0"/>
              </a:rPr>
              <a:t>Select the date of the identification for outlets.</a:t>
            </a:r>
          </a:p>
          <a:p>
            <a:pPr marL="171450" indent="-171450" algn="just">
              <a:spcBef>
                <a:spcPts val="300"/>
              </a:spcBef>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Status: </a:t>
            </a:r>
            <a:r>
              <a:rPr lang="en-US" sz="1000" dirty="0">
                <a:solidFill>
                  <a:schemeClr val="tx1"/>
                </a:solidFill>
                <a:latin typeface="Poppins" panose="00000500000000000000" pitchFamily="2" charset="0"/>
                <a:cs typeface="Poppins" panose="00000500000000000000" pitchFamily="2" charset="0"/>
              </a:rPr>
              <a:t>This field is auto-generated and shows the status of the outlet as </a:t>
            </a:r>
            <a:r>
              <a:rPr lang="en-US" sz="1000" b="1" dirty="0">
                <a:solidFill>
                  <a:schemeClr val="tx1"/>
                </a:solidFill>
                <a:latin typeface="Poppins" panose="00000500000000000000" pitchFamily="2" charset="0"/>
                <a:cs typeface="Poppins" panose="00000500000000000000" pitchFamily="2" charset="0"/>
              </a:rPr>
              <a:t>Active</a:t>
            </a:r>
            <a:r>
              <a:rPr lang="en-US" sz="1000" dirty="0">
                <a:solidFill>
                  <a:schemeClr val="tx1"/>
                </a:solidFill>
                <a:latin typeface="Poppins" panose="00000500000000000000" pitchFamily="2" charset="0"/>
                <a:cs typeface="Poppins" panose="00000500000000000000" pitchFamily="2" charset="0"/>
              </a:rPr>
              <a:t> or </a:t>
            </a:r>
            <a:r>
              <a:rPr lang="en-US" sz="1000" b="1" dirty="0">
                <a:solidFill>
                  <a:schemeClr val="tx1"/>
                </a:solidFill>
                <a:latin typeface="Poppins" panose="00000500000000000000" pitchFamily="2" charset="0"/>
                <a:cs typeface="Poppins" panose="00000500000000000000" pitchFamily="2" charset="0"/>
              </a:rPr>
              <a:t>Inactive</a:t>
            </a:r>
            <a:r>
              <a:rPr lang="en-US" sz="1000" dirty="0">
                <a:solidFill>
                  <a:schemeClr val="tx1"/>
                </a:solidFill>
                <a:latin typeface="Poppins" panose="00000500000000000000" pitchFamily="2" charset="0"/>
                <a:cs typeface="Poppins" panose="00000500000000000000" pitchFamily="2" charset="0"/>
              </a:rPr>
              <a:t>.</a:t>
            </a:r>
          </a:p>
          <a:p>
            <a:pPr marL="171450" indent="-171450" algn="just">
              <a:spcBef>
                <a:spcPts val="300"/>
              </a:spcBef>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Bill to Code: </a:t>
            </a:r>
            <a:r>
              <a:rPr lang="en-US" sz="1000" dirty="0">
                <a:solidFill>
                  <a:schemeClr val="tx1"/>
                </a:solidFill>
                <a:latin typeface="Poppins" panose="00000500000000000000" pitchFamily="2" charset="0"/>
                <a:cs typeface="Poppins" panose="00000500000000000000" pitchFamily="2" charset="0"/>
              </a:rPr>
              <a:t>Billing will be processed at the head office of the outlet. Please choose the designated outlet from the dropdown menu for billing purpose.</a:t>
            </a:r>
          </a:p>
          <a:p>
            <a:pPr marL="171450" indent="-171450" algn="just">
              <a:spcBef>
                <a:spcPts val="300"/>
              </a:spcBef>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Analysis 2: </a:t>
            </a:r>
            <a:r>
              <a:rPr lang="en-US" sz="1000" dirty="0">
                <a:solidFill>
                  <a:schemeClr val="tx1"/>
                </a:solidFill>
                <a:latin typeface="Poppins" panose="00000500000000000000" pitchFamily="2" charset="0"/>
                <a:cs typeface="Poppins" panose="00000500000000000000" pitchFamily="2" charset="0"/>
              </a:rPr>
              <a:t>Select the second analysis parameter for the outlet.</a:t>
            </a:r>
          </a:p>
        </p:txBody>
      </p:sp>
      <p:sp>
        <p:nvSpPr>
          <p:cNvPr id="30" name="Rectangle 29">
            <a:extLst>
              <a:ext uri="{FF2B5EF4-FFF2-40B4-BE49-F238E27FC236}">
                <a16:creationId xmlns:a16="http://schemas.microsoft.com/office/drawing/2014/main" id="{D8A620AC-533C-F693-48F5-694340E77231}"/>
              </a:ext>
            </a:extLst>
          </p:cNvPr>
          <p:cNvSpPr/>
          <p:nvPr/>
        </p:nvSpPr>
        <p:spPr>
          <a:xfrm>
            <a:off x="31921" y="1090628"/>
            <a:ext cx="4191000" cy="307650"/>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900" dirty="0">
                <a:solidFill>
                  <a:schemeClr val="tx1"/>
                </a:solidFill>
                <a:latin typeface="Poppins" panose="00000500000000000000" pitchFamily="2" charset="0"/>
                <a:cs typeface="Poppins" panose="00000500000000000000" pitchFamily="2" charset="0"/>
              </a:rPr>
              <a:t>The user can create new outlet by inputting the required fields.</a:t>
            </a:r>
          </a:p>
        </p:txBody>
      </p:sp>
      <p:sp>
        <p:nvSpPr>
          <p:cNvPr id="32" name="Down Arrow 31">
            <a:extLst>
              <a:ext uri="{FF2B5EF4-FFF2-40B4-BE49-F238E27FC236}">
                <a16:creationId xmlns:a16="http://schemas.microsoft.com/office/drawing/2014/main" id="{C1F40BE9-62BC-B8BC-ADD2-BE8B17EA75C8}"/>
              </a:ext>
            </a:extLst>
          </p:cNvPr>
          <p:cNvSpPr/>
          <p:nvPr/>
        </p:nvSpPr>
        <p:spPr>
          <a:xfrm>
            <a:off x="2756868" y="1314745"/>
            <a:ext cx="246258" cy="321096"/>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33" name="Down Arrow 32">
            <a:extLst>
              <a:ext uri="{FF2B5EF4-FFF2-40B4-BE49-F238E27FC236}">
                <a16:creationId xmlns:a16="http://schemas.microsoft.com/office/drawing/2014/main" id="{044ADC65-3DC8-6F59-6D77-CC13EA8FA273}"/>
              </a:ext>
            </a:extLst>
          </p:cNvPr>
          <p:cNvSpPr/>
          <p:nvPr/>
        </p:nvSpPr>
        <p:spPr>
          <a:xfrm rot="10800000">
            <a:off x="3805683" y="4055625"/>
            <a:ext cx="246258" cy="312428"/>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34" name="Down Arrow 33">
            <a:extLst>
              <a:ext uri="{FF2B5EF4-FFF2-40B4-BE49-F238E27FC236}">
                <a16:creationId xmlns:a16="http://schemas.microsoft.com/office/drawing/2014/main" id="{548986A0-858D-6D35-7210-107036B5232C}"/>
              </a:ext>
            </a:extLst>
          </p:cNvPr>
          <p:cNvSpPr/>
          <p:nvPr/>
        </p:nvSpPr>
        <p:spPr>
          <a:xfrm rot="5400000">
            <a:off x="6671397" y="2584751"/>
            <a:ext cx="225840" cy="839829"/>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37" name="Oval 36">
            <a:hlinkClick r:id="rId4" action="ppaction://hlinksldjump" highlightClick="1">
              <a:snd r:embed="rId5" name="arrow.wav"/>
            </a:hlinkClick>
            <a:extLst>
              <a:ext uri="{FF2B5EF4-FFF2-40B4-BE49-F238E27FC236}">
                <a16:creationId xmlns:a16="http://schemas.microsoft.com/office/drawing/2014/main" id="{B8221B8A-6159-40F0-48A4-B03B94B66D6F}"/>
              </a:ext>
            </a:extLst>
          </p:cNvPr>
          <p:cNvSpPr/>
          <p:nvPr/>
        </p:nvSpPr>
        <p:spPr>
          <a:xfrm>
            <a:off x="1972371" y="931601"/>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38" name="Oval 37">
            <a:hlinkClick r:id="rId4" action="ppaction://hlinksldjump" highlightClick="1">
              <a:snd r:embed="rId5" name="arrow.wav"/>
            </a:hlinkClick>
            <a:extLst>
              <a:ext uri="{FF2B5EF4-FFF2-40B4-BE49-F238E27FC236}">
                <a16:creationId xmlns:a16="http://schemas.microsoft.com/office/drawing/2014/main" id="{830E9BE3-568E-4B7C-CDAC-6B694E0FCE49}"/>
              </a:ext>
            </a:extLst>
          </p:cNvPr>
          <p:cNvSpPr/>
          <p:nvPr/>
        </p:nvSpPr>
        <p:spPr>
          <a:xfrm>
            <a:off x="8520283" y="1314745"/>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39" name="Oval 38">
            <a:hlinkClick r:id="rId4" action="ppaction://hlinksldjump" highlightClick="1">
              <a:snd r:embed="rId5" name="arrow.wav"/>
            </a:hlinkClick>
            <a:extLst>
              <a:ext uri="{FF2B5EF4-FFF2-40B4-BE49-F238E27FC236}">
                <a16:creationId xmlns:a16="http://schemas.microsoft.com/office/drawing/2014/main" id="{7A445549-1ADC-2C8E-57BC-F27347571DDD}"/>
              </a:ext>
            </a:extLst>
          </p:cNvPr>
          <p:cNvSpPr/>
          <p:nvPr/>
        </p:nvSpPr>
        <p:spPr>
          <a:xfrm>
            <a:off x="3833767" y="4252853"/>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40" name="Title 17">
            <a:extLst>
              <a:ext uri="{FF2B5EF4-FFF2-40B4-BE49-F238E27FC236}">
                <a16:creationId xmlns:a16="http://schemas.microsoft.com/office/drawing/2014/main" id="{6B4F4399-97BF-340B-B659-699E9DED3754}"/>
              </a:ext>
            </a:extLst>
          </p:cNvPr>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Profile Creation</a:t>
            </a:r>
          </a:p>
        </p:txBody>
      </p:sp>
      <p:sp>
        <p:nvSpPr>
          <p:cNvPr id="41" name="Rectangle 40">
            <a:extLst>
              <a:ext uri="{FF2B5EF4-FFF2-40B4-BE49-F238E27FC236}">
                <a16:creationId xmlns:a16="http://schemas.microsoft.com/office/drawing/2014/main" id="{14713424-41BC-0DB4-8A6B-B6D525354C35}"/>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Demographics</a:t>
            </a:r>
          </a:p>
        </p:txBody>
      </p:sp>
      <p:sp>
        <p:nvSpPr>
          <p:cNvPr id="9" name="Rectangle 8">
            <a:extLst>
              <a:ext uri="{FF2B5EF4-FFF2-40B4-BE49-F238E27FC236}">
                <a16:creationId xmlns:a16="http://schemas.microsoft.com/office/drawing/2014/main" id="{719E58BC-A2EA-EF24-171B-997C79EF77E9}"/>
              </a:ext>
            </a:extLst>
          </p:cNvPr>
          <p:cNvSpPr/>
          <p:nvPr/>
        </p:nvSpPr>
        <p:spPr>
          <a:xfrm>
            <a:off x="76703" y="1412919"/>
            <a:ext cx="837699" cy="2737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10" name="Rectangle 9">
            <a:extLst>
              <a:ext uri="{FF2B5EF4-FFF2-40B4-BE49-F238E27FC236}">
                <a16:creationId xmlns:a16="http://schemas.microsoft.com/office/drawing/2014/main" id="{2B109006-7E49-7B46-7FAC-CFB36BE694A2}"/>
              </a:ext>
            </a:extLst>
          </p:cNvPr>
          <p:cNvSpPr/>
          <p:nvPr/>
        </p:nvSpPr>
        <p:spPr>
          <a:xfrm>
            <a:off x="31921" y="1349025"/>
            <a:ext cx="6441227" cy="2991340"/>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custDataLst>
      <p:tags r:id="rId1"/>
    </p:custDataLst>
    <p:extLst>
      <p:ext uri="{BB962C8B-B14F-4D97-AF65-F5344CB8AC3E}">
        <p14:creationId xmlns:p14="http://schemas.microsoft.com/office/powerpoint/2010/main" val="181562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776464-6D1C-92BF-4D96-861004247980}"/>
              </a:ext>
            </a:extLst>
          </p:cNvPr>
          <p:cNvPicPr>
            <a:picLocks noChangeAspect="1"/>
          </p:cNvPicPr>
          <p:nvPr/>
        </p:nvPicPr>
        <p:blipFill>
          <a:blip r:embed="rId3"/>
          <a:stretch>
            <a:fillRect/>
          </a:stretch>
        </p:blipFill>
        <p:spPr>
          <a:xfrm>
            <a:off x="373982" y="1163645"/>
            <a:ext cx="10096500" cy="3086100"/>
          </a:xfrm>
          <a:prstGeom prst="rect">
            <a:avLst/>
          </a:prstGeom>
        </p:spPr>
      </p:pic>
      <p:sp>
        <p:nvSpPr>
          <p:cNvPr id="12" name="Rectangle 11">
            <a:extLst>
              <a:ext uri="{FF2B5EF4-FFF2-40B4-BE49-F238E27FC236}">
                <a16:creationId xmlns:a16="http://schemas.microsoft.com/office/drawing/2014/main" id="{8B748B0B-64E6-CE46-D322-278F93E27F0E}"/>
              </a:ext>
            </a:extLst>
          </p:cNvPr>
          <p:cNvSpPr/>
          <p:nvPr/>
        </p:nvSpPr>
        <p:spPr>
          <a:xfrm>
            <a:off x="648924" y="4524376"/>
            <a:ext cx="3627802" cy="409574"/>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300"/>
              </a:spcBef>
            </a:pPr>
            <a:r>
              <a:rPr lang="en-US" sz="1000" dirty="0">
                <a:solidFill>
                  <a:schemeClr val="tx1"/>
                </a:solidFill>
                <a:latin typeface="Poppins" panose="00000500000000000000" pitchFamily="2" charset="0"/>
                <a:cs typeface="Poppins" panose="00000500000000000000" pitchFamily="2" charset="0"/>
              </a:rPr>
              <a:t>Click on the </a:t>
            </a:r>
            <a:r>
              <a:rPr lang="en-US" sz="1000" b="1" dirty="0">
                <a:solidFill>
                  <a:schemeClr val="tx1"/>
                </a:solidFill>
                <a:latin typeface="Poppins" panose="00000500000000000000" pitchFamily="2" charset="0"/>
                <a:cs typeface="Poppins" panose="00000500000000000000" pitchFamily="2" charset="0"/>
              </a:rPr>
              <a:t>ADD</a:t>
            </a:r>
            <a:r>
              <a:rPr lang="en-US" sz="1000" dirty="0">
                <a:solidFill>
                  <a:schemeClr val="tx1"/>
                </a:solidFill>
                <a:latin typeface="Poppins" panose="00000500000000000000" pitchFamily="2" charset="0"/>
                <a:cs typeface="Poppins" panose="00000500000000000000" pitchFamily="2" charset="0"/>
              </a:rPr>
              <a:t> button for the new outlet profile creation. </a:t>
            </a:r>
          </a:p>
        </p:txBody>
      </p:sp>
      <p:sp>
        <p:nvSpPr>
          <p:cNvPr id="13" name="Down Arrow 12"/>
          <p:cNvSpPr/>
          <p:nvPr/>
        </p:nvSpPr>
        <p:spPr>
          <a:xfrm rot="10800000">
            <a:off x="1309554" y="4023347"/>
            <a:ext cx="273875" cy="501029"/>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4" name="Down Arrow 13"/>
          <p:cNvSpPr/>
          <p:nvPr/>
        </p:nvSpPr>
        <p:spPr>
          <a:xfrm rot="10800000">
            <a:off x="8425018" y="4225676"/>
            <a:ext cx="238876" cy="312428"/>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5" name="Rectangle 14">
            <a:extLst>
              <a:ext uri="{FF2B5EF4-FFF2-40B4-BE49-F238E27FC236}">
                <a16:creationId xmlns:a16="http://schemas.microsoft.com/office/drawing/2014/main" id="{8B748B0B-64E6-CE46-D322-278F93E27F0E}"/>
              </a:ext>
            </a:extLst>
          </p:cNvPr>
          <p:cNvSpPr/>
          <p:nvPr/>
        </p:nvSpPr>
        <p:spPr>
          <a:xfrm>
            <a:off x="4355206" y="4524376"/>
            <a:ext cx="6752167" cy="2333624"/>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b="1" u="sng" dirty="0">
                <a:solidFill>
                  <a:srgbClr val="0070C0"/>
                </a:solidFill>
                <a:latin typeface="Poppins" panose="00000500000000000000" pitchFamily="2" charset="0"/>
                <a:cs typeface="Poppins" panose="00000500000000000000" pitchFamily="2" charset="0"/>
              </a:rPr>
              <a:t>Fields Description</a:t>
            </a:r>
            <a:endParaRPr lang="en-US" sz="1000" b="1" dirty="0">
              <a:solidFill>
                <a:schemeClr val="tx1"/>
              </a:solidFill>
              <a:latin typeface="Poppins" panose="00000500000000000000" pitchFamily="2" charset="0"/>
              <a:cs typeface="Poppins" panose="00000500000000000000" pitchFamily="2" charset="0"/>
            </a:endParaRPr>
          </a:p>
          <a:p>
            <a:pPr marL="17145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Is B2B: </a:t>
            </a:r>
            <a:r>
              <a:rPr lang="en-US" sz="1000" dirty="0">
                <a:solidFill>
                  <a:schemeClr val="tx1"/>
                </a:solidFill>
                <a:latin typeface="Poppins" panose="00000500000000000000" pitchFamily="2" charset="0"/>
                <a:cs typeface="Poppins" panose="00000500000000000000" pitchFamily="2" charset="0"/>
              </a:rPr>
              <a:t>Indicates whether the outlet operates on a business-to-business (B2B) model.</a:t>
            </a:r>
          </a:p>
          <a:p>
            <a:pPr marL="17145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Activation Date: </a:t>
            </a:r>
            <a:r>
              <a:rPr lang="en-US" sz="1000" dirty="0">
                <a:solidFill>
                  <a:schemeClr val="tx1"/>
                </a:solidFill>
                <a:latin typeface="Poppins" panose="00000500000000000000" pitchFamily="2" charset="0"/>
                <a:cs typeface="Poppins" panose="00000500000000000000" pitchFamily="2" charset="0"/>
              </a:rPr>
              <a:t>Specifies the date on which the outlet profile was activated. This is a mandatory field.</a:t>
            </a:r>
          </a:p>
          <a:p>
            <a:pPr marL="17145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Sub Distributor: </a:t>
            </a:r>
            <a:r>
              <a:rPr lang="en-US" sz="1000" dirty="0">
                <a:solidFill>
                  <a:schemeClr val="tx1"/>
                </a:solidFill>
                <a:latin typeface="Poppins" panose="00000500000000000000" pitchFamily="2" charset="0"/>
                <a:cs typeface="Poppins" panose="00000500000000000000" pitchFamily="2" charset="0"/>
              </a:rPr>
              <a:t>Identifies the sub distributor associated with the outlet.</a:t>
            </a:r>
          </a:p>
          <a:p>
            <a:pPr marL="17145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Sub Distributor Code: </a:t>
            </a:r>
            <a:r>
              <a:rPr lang="en-US" sz="1000" dirty="0">
                <a:solidFill>
                  <a:schemeClr val="tx1"/>
                </a:solidFill>
                <a:latin typeface="Poppins" panose="00000500000000000000" pitchFamily="2" charset="0"/>
                <a:cs typeface="Poppins" panose="00000500000000000000" pitchFamily="2" charset="0"/>
              </a:rPr>
              <a:t>A unique identifier assigned to the sub distributor. This is a mandatory field.</a:t>
            </a:r>
          </a:p>
          <a:p>
            <a:pPr marL="17145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Manual Order Creation: </a:t>
            </a:r>
            <a:r>
              <a:rPr lang="en-US" sz="1000" dirty="0">
                <a:solidFill>
                  <a:schemeClr val="tx1"/>
                </a:solidFill>
                <a:latin typeface="Poppins" panose="00000500000000000000" pitchFamily="2" charset="0"/>
                <a:cs typeface="Poppins" panose="00000500000000000000" pitchFamily="2" charset="0"/>
              </a:rPr>
              <a:t>Denotes the capability for the outlet to create orders manually within the system.</a:t>
            </a:r>
          </a:p>
          <a:p>
            <a:pPr marL="17145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Completion Date: </a:t>
            </a:r>
            <a:r>
              <a:rPr lang="en-US" sz="1000" dirty="0">
                <a:solidFill>
                  <a:schemeClr val="tx1"/>
                </a:solidFill>
                <a:latin typeface="Poppins" panose="00000500000000000000" pitchFamily="2" charset="0"/>
                <a:cs typeface="Poppins" panose="00000500000000000000" pitchFamily="2" charset="0"/>
              </a:rPr>
              <a:t>Select the date on which the outlet setup or onboarding was completed.</a:t>
            </a:r>
          </a:p>
          <a:p>
            <a:pPr marL="17145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Requested Section</a:t>
            </a:r>
            <a:r>
              <a:rPr lang="en-US" sz="1000" dirty="0">
                <a:solidFill>
                  <a:schemeClr val="tx1"/>
                </a:solidFill>
                <a:latin typeface="Poppins" panose="00000500000000000000" pitchFamily="2" charset="0"/>
                <a:cs typeface="Poppins" panose="00000500000000000000" pitchFamily="2" charset="0"/>
              </a:rPr>
              <a:t>: Indicates if the user wishes to map the outlet to any section.</a:t>
            </a:r>
          </a:p>
          <a:p>
            <a:pPr marL="17145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Approval Status: </a:t>
            </a:r>
            <a:r>
              <a:rPr lang="en-US" sz="1000" dirty="0">
                <a:solidFill>
                  <a:schemeClr val="tx1"/>
                </a:solidFill>
                <a:latin typeface="Poppins" panose="00000500000000000000" pitchFamily="2" charset="0"/>
                <a:cs typeface="Poppins" panose="00000500000000000000" pitchFamily="2" charset="0"/>
              </a:rPr>
              <a:t>Displays the current approval status of the outlet</a:t>
            </a:r>
            <a:r>
              <a:rPr lang="en-US" dirty="0"/>
              <a:t>.</a:t>
            </a:r>
            <a:endParaRPr lang="en-US" sz="1000" dirty="0">
              <a:solidFill>
                <a:schemeClr val="tx1"/>
              </a:solidFill>
              <a:latin typeface="Poppins" panose="00000500000000000000" pitchFamily="2" charset="0"/>
              <a:cs typeface="Poppins" panose="00000500000000000000" pitchFamily="2" charset="0"/>
            </a:endParaRPr>
          </a:p>
          <a:p>
            <a:pPr marL="17145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Prospect ID: </a:t>
            </a:r>
            <a:r>
              <a:rPr lang="en-US" sz="1000" dirty="0">
                <a:solidFill>
                  <a:schemeClr val="tx1"/>
                </a:solidFill>
                <a:latin typeface="Poppins" panose="00000500000000000000" pitchFamily="2" charset="0"/>
                <a:cs typeface="Poppins" panose="00000500000000000000" pitchFamily="2" charset="0"/>
              </a:rPr>
              <a:t>A unique identifier assigned to a potential customer or business prospect associated with the outlet.</a:t>
            </a:r>
          </a:p>
        </p:txBody>
      </p:sp>
      <p:sp>
        <p:nvSpPr>
          <p:cNvPr id="16" name="Oval 15">
            <a:hlinkClick r:id="rId4" action="ppaction://hlinksldjump" highlightClick="1">
              <a:snd r:embed="rId5" name="arrow.wav"/>
            </a:hlinkClick>
            <a:extLst>
              <a:ext uri="{FF2B5EF4-FFF2-40B4-BE49-F238E27FC236}">
                <a16:creationId xmlns:a16="http://schemas.microsoft.com/office/drawing/2014/main" id="{1A334743-2C87-530F-0112-BDA6DFE16E75}"/>
              </a:ext>
            </a:extLst>
          </p:cNvPr>
          <p:cNvSpPr/>
          <p:nvPr/>
        </p:nvSpPr>
        <p:spPr>
          <a:xfrm>
            <a:off x="2353738" y="4368163"/>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17" name="Oval 16">
            <a:hlinkClick r:id="rId4" action="ppaction://hlinksldjump" highlightClick="1">
              <a:snd r:embed="rId5" name="arrow.wav"/>
            </a:hlinkClick>
            <a:extLst>
              <a:ext uri="{FF2B5EF4-FFF2-40B4-BE49-F238E27FC236}">
                <a16:creationId xmlns:a16="http://schemas.microsoft.com/office/drawing/2014/main" id="{1A334743-2C87-530F-0112-BDA6DFE16E75}"/>
              </a:ext>
            </a:extLst>
          </p:cNvPr>
          <p:cNvSpPr/>
          <p:nvPr/>
        </p:nvSpPr>
        <p:spPr>
          <a:xfrm>
            <a:off x="7809595" y="4414278"/>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18"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Profile Creation</a:t>
            </a:r>
          </a:p>
        </p:txBody>
      </p:sp>
      <p:sp>
        <p:nvSpPr>
          <p:cNvPr id="20" name="Rectangle 19">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Demographics</a:t>
            </a:r>
          </a:p>
        </p:txBody>
      </p:sp>
      <p:sp>
        <p:nvSpPr>
          <p:cNvPr id="5" name="Rectangle 4">
            <a:extLst>
              <a:ext uri="{FF2B5EF4-FFF2-40B4-BE49-F238E27FC236}">
                <a16:creationId xmlns:a16="http://schemas.microsoft.com/office/drawing/2014/main" id="{E76C17F7-19BD-5606-9A4C-7F0972435258}"/>
              </a:ext>
            </a:extLst>
          </p:cNvPr>
          <p:cNvSpPr/>
          <p:nvPr/>
        </p:nvSpPr>
        <p:spPr>
          <a:xfrm>
            <a:off x="373982" y="1139576"/>
            <a:ext cx="10096500" cy="3086100"/>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custDataLst>
      <p:tags r:id="rId1"/>
    </p:custDataLst>
    <p:extLst>
      <p:ext uri="{BB962C8B-B14F-4D97-AF65-F5344CB8AC3E}">
        <p14:creationId xmlns:p14="http://schemas.microsoft.com/office/powerpoint/2010/main" val="1608036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116108" y="1130745"/>
            <a:ext cx="8577766" cy="3887526"/>
          </a:xfrm>
          <a:prstGeom prst="rect">
            <a:avLst/>
          </a:prstGeom>
        </p:spPr>
      </p:pic>
      <p:sp>
        <p:nvSpPr>
          <p:cNvPr id="10" name="Rectangle 9">
            <a:extLst>
              <a:ext uri="{FF2B5EF4-FFF2-40B4-BE49-F238E27FC236}">
                <a16:creationId xmlns:a16="http://schemas.microsoft.com/office/drawing/2014/main" id="{54C59EDC-66D9-563B-2028-C02A9809FDF9}"/>
              </a:ext>
            </a:extLst>
          </p:cNvPr>
          <p:cNvSpPr/>
          <p:nvPr/>
        </p:nvSpPr>
        <p:spPr>
          <a:xfrm>
            <a:off x="312793" y="5338666"/>
            <a:ext cx="3267075" cy="1024033"/>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300"/>
              </a:spcBef>
            </a:pPr>
            <a:r>
              <a:rPr lang="en-US" sz="1000" b="1" u="sng" dirty="0">
                <a:solidFill>
                  <a:srgbClr val="0070C0"/>
                </a:solidFill>
                <a:latin typeface="Poppins" panose="00000500000000000000" pitchFamily="2" charset="0"/>
                <a:cs typeface="Poppins" panose="00000500000000000000" pitchFamily="2" charset="0"/>
              </a:rPr>
              <a:t>Operative Info</a:t>
            </a:r>
          </a:p>
          <a:p>
            <a:pPr algn="just">
              <a:spcBef>
                <a:spcPts val="300"/>
              </a:spcBef>
            </a:pPr>
            <a:r>
              <a:rPr lang="en-US" sz="1000" dirty="0">
                <a:solidFill>
                  <a:prstClr val="black"/>
                </a:solidFill>
                <a:latin typeface="Poppins" panose="00000500000000000000" pitchFamily="2" charset="0"/>
                <a:cs typeface="Poppins" panose="00000500000000000000" pitchFamily="2" charset="0"/>
              </a:rPr>
              <a:t>The Operative Info tab provides comprehensive details regarding tax-related information pertinent to the outlet, encompassing </a:t>
            </a:r>
            <a:r>
              <a:rPr lang="en-US" sz="1000" b="1" dirty="0">
                <a:solidFill>
                  <a:prstClr val="black"/>
                </a:solidFill>
                <a:latin typeface="Poppins" panose="00000500000000000000" pitchFamily="2" charset="0"/>
                <a:cs typeface="Poppins" panose="00000500000000000000" pitchFamily="2" charset="0"/>
              </a:rPr>
              <a:t>Tax Registration, Tax Exemption, and Auto Tax Invoice.</a:t>
            </a:r>
          </a:p>
        </p:txBody>
      </p:sp>
      <p:sp>
        <p:nvSpPr>
          <p:cNvPr id="16" name="Rectangle 15">
            <a:extLst>
              <a:ext uri="{FF2B5EF4-FFF2-40B4-BE49-F238E27FC236}">
                <a16:creationId xmlns:a16="http://schemas.microsoft.com/office/drawing/2014/main" id="{54C59EDC-66D9-563B-2028-C02A9809FDF9}"/>
              </a:ext>
            </a:extLst>
          </p:cNvPr>
          <p:cNvSpPr/>
          <p:nvPr/>
        </p:nvSpPr>
        <p:spPr>
          <a:xfrm>
            <a:off x="9051570" y="1130745"/>
            <a:ext cx="2925941" cy="5242365"/>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300"/>
              </a:spcBef>
            </a:pPr>
            <a:r>
              <a:rPr lang="en-US" sz="1000" b="1" u="sng" dirty="0">
                <a:solidFill>
                  <a:srgbClr val="0070C0"/>
                </a:solidFill>
                <a:latin typeface="Poppins" panose="020B0604020202020204" charset="0"/>
                <a:cs typeface="Poppins" panose="020B0604020202020204" charset="0"/>
              </a:rPr>
              <a:t>Operative Info (Fields Description)</a:t>
            </a:r>
          </a:p>
          <a:p>
            <a:pPr marL="171450" indent="-171450">
              <a:spcBef>
                <a:spcPts val="300"/>
              </a:spcBef>
              <a:buFont typeface="Wingdings" panose="05000000000000000000" pitchFamily="2" charset="2"/>
              <a:buChar char="q"/>
            </a:pPr>
            <a:r>
              <a:rPr lang="en-US" sz="1000" b="1" dirty="0">
                <a:solidFill>
                  <a:prstClr val="black"/>
                </a:solidFill>
                <a:latin typeface="Poppins" panose="020B0604020202020204" charset="0"/>
                <a:cs typeface="Poppins" panose="020B0604020202020204" charset="0"/>
              </a:rPr>
              <a:t>Perfect Store: </a:t>
            </a:r>
            <a:r>
              <a:rPr lang="en-US" sz="1000" dirty="0">
                <a:solidFill>
                  <a:prstClr val="black"/>
                </a:solidFill>
                <a:latin typeface="Poppins" panose="020B0604020202020204" charset="0"/>
                <a:cs typeface="Poppins" panose="020B0604020202020204" charset="0"/>
              </a:rPr>
              <a:t>Indicates whether the outlet is classified as a "Perfect Store".</a:t>
            </a:r>
          </a:p>
          <a:p>
            <a:pPr marL="171450" indent="-171450">
              <a:spcBef>
                <a:spcPts val="300"/>
              </a:spcBef>
              <a:buFont typeface="Wingdings" panose="05000000000000000000" pitchFamily="2" charset="2"/>
              <a:buChar char="q"/>
            </a:pPr>
            <a:r>
              <a:rPr lang="en-US" sz="1000" b="1" dirty="0">
                <a:solidFill>
                  <a:prstClr val="black"/>
                </a:solidFill>
                <a:latin typeface="Poppins" panose="020B0604020202020204" charset="0"/>
                <a:cs typeface="Poppins" panose="020B0604020202020204" charset="0"/>
              </a:rPr>
              <a:t>Perfect store Creation Date: </a:t>
            </a:r>
            <a:r>
              <a:rPr lang="en-US" sz="1000" dirty="0">
                <a:solidFill>
                  <a:prstClr val="black"/>
                </a:solidFill>
                <a:latin typeface="Poppins" panose="020B0604020202020204" charset="0"/>
                <a:cs typeface="Poppins" panose="020B0604020202020204" charset="0"/>
              </a:rPr>
              <a:t>Date on which the store was declared as perfect store</a:t>
            </a:r>
          </a:p>
          <a:p>
            <a:pPr marL="171450" lvl="0" indent="-171450">
              <a:spcBef>
                <a:spcPts val="300"/>
              </a:spcBef>
              <a:buFont typeface="Wingdings" panose="05000000000000000000" pitchFamily="2" charset="2"/>
              <a:buChar char="q"/>
            </a:pPr>
            <a:r>
              <a:rPr lang="en-US" sz="1000" b="1" dirty="0">
                <a:solidFill>
                  <a:prstClr val="black"/>
                </a:solidFill>
                <a:latin typeface="Poppins" panose="020B0604020202020204" charset="0"/>
                <a:cs typeface="Poppins" panose="020B0604020202020204" charset="0"/>
              </a:rPr>
              <a:t>SMS Notification</a:t>
            </a:r>
            <a:r>
              <a:rPr lang="en-US" sz="1000" b="1" dirty="0">
                <a:solidFill>
                  <a:schemeClr val="tx1"/>
                </a:solidFill>
                <a:latin typeface="Poppins" panose="020B0604020202020204" charset="0"/>
                <a:cs typeface="Poppins" panose="020B0604020202020204" charset="0"/>
              </a:rPr>
              <a:t>:</a:t>
            </a:r>
            <a:r>
              <a:rPr lang="en-US" sz="1000" dirty="0">
                <a:solidFill>
                  <a:schemeClr val="tx1"/>
                </a:solidFill>
                <a:latin typeface="Poppins" panose="020B0604020202020204" charset="0"/>
                <a:cs typeface="Poppins" panose="020B0604020202020204" charset="0"/>
              </a:rPr>
              <a:t> </a:t>
            </a:r>
            <a:r>
              <a:rPr lang="en-US" sz="1000" dirty="0">
                <a:solidFill>
                  <a:prstClr val="black"/>
                </a:solidFill>
                <a:latin typeface="Poppins" panose="020B0604020202020204" charset="0"/>
                <a:cs typeface="Poppins" panose="020B0604020202020204" charset="0"/>
              </a:rPr>
              <a:t>Determines if SMS notifications are enabled for the outlet</a:t>
            </a:r>
          </a:p>
          <a:p>
            <a:pPr marL="171450" lvl="0" indent="-171450">
              <a:spcBef>
                <a:spcPts val="300"/>
              </a:spcBef>
              <a:buFont typeface="Wingdings" panose="05000000000000000000" pitchFamily="2" charset="2"/>
              <a:buChar char="q"/>
            </a:pPr>
            <a:r>
              <a:rPr lang="en-US" sz="1000" b="1" dirty="0">
                <a:solidFill>
                  <a:prstClr val="black"/>
                </a:solidFill>
                <a:latin typeface="Poppins" panose="020B0604020202020204" charset="0"/>
                <a:cs typeface="Poppins" panose="020B0604020202020204" charset="0"/>
              </a:rPr>
              <a:t>WHT FLAG: </a:t>
            </a:r>
            <a:r>
              <a:rPr lang="en-US" sz="1000" dirty="0">
                <a:solidFill>
                  <a:prstClr val="black"/>
                </a:solidFill>
                <a:latin typeface="Poppins" panose="020B0604020202020204" charset="0"/>
                <a:cs typeface="Poppins" panose="020B0604020202020204" charset="0"/>
              </a:rPr>
              <a:t>Indicates whether Withholding Tax (WHT) is applicable </a:t>
            </a:r>
            <a:r>
              <a:rPr lang="en-US" sz="1000" dirty="0">
                <a:latin typeface="Poppins" panose="020B0604020202020204" charset="0"/>
                <a:cs typeface="Poppins" panose="020B0604020202020204" charset="0"/>
              </a:rPr>
              <a:t>to </a:t>
            </a:r>
            <a:r>
              <a:rPr lang="en-US" sz="1000" dirty="0">
                <a:solidFill>
                  <a:prstClr val="black"/>
                </a:solidFill>
                <a:latin typeface="Poppins" panose="020B0604020202020204" charset="0"/>
                <a:cs typeface="Poppins" panose="020B0604020202020204" charset="0"/>
              </a:rPr>
              <a:t>the outlet.</a:t>
            </a:r>
          </a:p>
          <a:p>
            <a:pPr marL="171450" lvl="0" indent="-171450">
              <a:buFont typeface="Wingdings" panose="05000000000000000000" pitchFamily="2" charset="2"/>
              <a:buChar char="q"/>
            </a:pPr>
            <a:r>
              <a:rPr lang="en-US" sz="1000" b="1" dirty="0">
                <a:solidFill>
                  <a:schemeClr val="tx1"/>
                </a:solidFill>
                <a:latin typeface="Poppins" panose="020B0604020202020204" charset="0"/>
                <a:cs typeface="Poppins" panose="020B0604020202020204" charset="0"/>
              </a:rPr>
              <a:t>Post-dated Cheque: </a:t>
            </a:r>
            <a:r>
              <a:rPr lang="en-US" sz="1000" dirty="0">
                <a:solidFill>
                  <a:schemeClr val="tx1"/>
                </a:solidFill>
                <a:latin typeface="Poppins" panose="020B0604020202020204" charset="0"/>
                <a:cs typeface="Poppins" panose="020B0604020202020204" charset="0"/>
              </a:rPr>
              <a:t>Specifies if the outlet is allowed to issue post-dated cheques.</a:t>
            </a:r>
          </a:p>
          <a:p>
            <a:pPr marL="171450" lvl="0" indent="-171450">
              <a:buFont typeface="Wingdings" panose="05000000000000000000" pitchFamily="2" charset="2"/>
              <a:buChar char="q"/>
            </a:pPr>
            <a:r>
              <a:rPr lang="en-US" sz="1000" b="1" dirty="0">
                <a:solidFill>
                  <a:schemeClr val="tx1"/>
                </a:solidFill>
                <a:latin typeface="Poppins" panose="020B0604020202020204" charset="0"/>
                <a:cs typeface="Poppins" panose="020B0604020202020204" charset="0"/>
              </a:rPr>
              <a:t>B2B Phone: </a:t>
            </a:r>
            <a:r>
              <a:rPr lang="en-US" sz="1000" dirty="0">
                <a:solidFill>
                  <a:schemeClr val="tx1"/>
                </a:solidFill>
                <a:latin typeface="Poppins" panose="020B0604020202020204" charset="0"/>
                <a:cs typeface="Poppins" panose="020B0604020202020204" charset="0"/>
              </a:rPr>
              <a:t>The contact phone number for business-to-business (B2B) communications with the outlet.</a:t>
            </a:r>
          </a:p>
          <a:p>
            <a:pPr marL="171450" lvl="0" indent="-171450">
              <a:buFont typeface="Wingdings" panose="05000000000000000000" pitchFamily="2" charset="2"/>
              <a:buChar char="q"/>
            </a:pPr>
            <a:r>
              <a:rPr lang="en-US" sz="1000" b="1" dirty="0">
                <a:solidFill>
                  <a:schemeClr val="tx1"/>
                </a:solidFill>
                <a:latin typeface="Poppins" panose="020B0604020202020204" charset="0"/>
                <a:cs typeface="Poppins" panose="020B0604020202020204" charset="0"/>
              </a:rPr>
              <a:t>B2B Email: </a:t>
            </a:r>
            <a:r>
              <a:rPr lang="en-US" sz="1000" dirty="0">
                <a:solidFill>
                  <a:schemeClr val="tx1"/>
                </a:solidFill>
                <a:latin typeface="Poppins" panose="020B0604020202020204" charset="0"/>
                <a:cs typeface="Poppins" panose="020B0604020202020204" charset="0"/>
              </a:rPr>
              <a:t>The contact email address for business-to-business (B2B) communications with the outlet.</a:t>
            </a:r>
          </a:p>
          <a:p>
            <a:pPr marL="171450" indent="-171450">
              <a:buFont typeface="Wingdings" panose="05000000000000000000" pitchFamily="2" charset="2"/>
              <a:buChar char="q"/>
            </a:pPr>
            <a:r>
              <a:rPr lang="en-US" sz="1000" b="1" dirty="0">
                <a:solidFill>
                  <a:schemeClr val="tx1"/>
                </a:solidFill>
                <a:latin typeface="Poppins" panose="020B0604020202020204" charset="0"/>
                <a:cs typeface="Poppins" panose="020B0604020202020204" charset="0"/>
              </a:rPr>
              <a:t>Barcode: </a:t>
            </a:r>
            <a:r>
              <a:rPr lang="en-US" sz="1000" dirty="0">
                <a:solidFill>
                  <a:schemeClr val="tx1"/>
                </a:solidFill>
                <a:latin typeface="Poppins" panose="020B0604020202020204" charset="0"/>
                <a:cs typeface="Poppins" panose="020B0604020202020204" charset="0"/>
              </a:rPr>
              <a:t>A unique barcode assigned to the outlet for identification purposes.</a:t>
            </a:r>
          </a:p>
          <a:p>
            <a:pPr marL="171450" lvl="0" indent="-171450">
              <a:buFont typeface="Wingdings" panose="05000000000000000000" pitchFamily="2" charset="2"/>
              <a:buChar char="q"/>
            </a:pPr>
            <a:r>
              <a:rPr lang="en-US" sz="1000" b="1" dirty="0">
                <a:solidFill>
                  <a:schemeClr val="tx1"/>
                </a:solidFill>
                <a:latin typeface="Poppins" panose="020B0604020202020204" charset="0"/>
                <a:cs typeface="Poppins" panose="020B0604020202020204" charset="0"/>
              </a:rPr>
              <a:t>Barcode Scanning: </a:t>
            </a:r>
            <a:r>
              <a:rPr lang="en-US" sz="1000" dirty="0">
                <a:solidFill>
                  <a:schemeClr val="tx1"/>
                </a:solidFill>
                <a:latin typeface="Poppins" panose="020B0604020202020204" charset="0"/>
                <a:cs typeface="Poppins" panose="020B0604020202020204" charset="0"/>
              </a:rPr>
              <a:t>Indicates if barcode scanning is enabled for the outlet.</a:t>
            </a:r>
          </a:p>
          <a:p>
            <a:pPr marL="171450" indent="-171450">
              <a:spcBef>
                <a:spcPts val="300"/>
              </a:spcBef>
              <a:buFont typeface="Wingdings" panose="05000000000000000000" pitchFamily="2" charset="2"/>
              <a:buChar char="q"/>
            </a:pPr>
            <a:r>
              <a:rPr lang="en-US" sz="1000" b="1" dirty="0">
                <a:solidFill>
                  <a:prstClr val="black"/>
                </a:solidFill>
                <a:latin typeface="Poppins" panose="020B0604020202020204" charset="0"/>
                <a:cs typeface="Poppins" panose="020B0604020202020204" charset="0"/>
              </a:rPr>
              <a:t>Auto Tax Invoice: </a:t>
            </a:r>
            <a:r>
              <a:rPr lang="en-US" sz="1000" dirty="0">
                <a:solidFill>
                  <a:prstClr val="black"/>
                </a:solidFill>
                <a:latin typeface="Poppins" panose="020B0604020202020204" charset="0"/>
                <a:cs typeface="Poppins" panose="020B0604020202020204" charset="0"/>
              </a:rPr>
              <a:t>Select auto tax invoice based on the requirements </a:t>
            </a:r>
          </a:p>
          <a:p>
            <a:pPr marL="171450" indent="-171450">
              <a:spcBef>
                <a:spcPts val="300"/>
              </a:spcBef>
              <a:buFont typeface="Wingdings" panose="05000000000000000000" pitchFamily="2" charset="2"/>
              <a:buChar char="q"/>
            </a:pPr>
            <a:r>
              <a:rPr lang="en-US" sz="1000" b="1" dirty="0">
                <a:solidFill>
                  <a:prstClr val="black"/>
                </a:solidFill>
                <a:latin typeface="Poppins" panose="020B0604020202020204" charset="0"/>
                <a:cs typeface="Poppins" panose="020B0604020202020204" charset="0"/>
              </a:rPr>
              <a:t>Tax Registration: </a:t>
            </a:r>
            <a:r>
              <a:rPr lang="en-US" sz="1000" dirty="0">
                <a:solidFill>
                  <a:prstClr val="black"/>
                </a:solidFill>
                <a:latin typeface="Poppins" panose="020B0604020202020204" charset="0"/>
                <a:cs typeface="Poppins" panose="020B0604020202020204" charset="0"/>
              </a:rPr>
              <a:t>Select tax registration based on the requirements</a:t>
            </a:r>
          </a:p>
          <a:p>
            <a:pPr marL="171450" indent="-171450">
              <a:spcBef>
                <a:spcPts val="300"/>
              </a:spcBef>
              <a:buFont typeface="Wingdings" panose="05000000000000000000" pitchFamily="2" charset="2"/>
              <a:buChar char="q"/>
            </a:pPr>
            <a:r>
              <a:rPr lang="en-US" sz="1000" b="1" dirty="0">
                <a:solidFill>
                  <a:prstClr val="black"/>
                </a:solidFill>
                <a:latin typeface="Poppins" panose="020B0604020202020204" charset="0"/>
                <a:cs typeface="Poppins" panose="020B0604020202020204" charset="0"/>
              </a:rPr>
              <a:t>Preferred Order Time From &amp; To : </a:t>
            </a:r>
            <a:r>
              <a:rPr lang="en-US" sz="1000" dirty="0">
                <a:solidFill>
                  <a:prstClr val="black"/>
                </a:solidFill>
                <a:latin typeface="Poppins" panose="020B0604020202020204" charset="0"/>
                <a:cs typeface="Poppins" panose="020B0604020202020204" charset="0"/>
              </a:rPr>
              <a:t>Preferred time to take order form and to</a:t>
            </a:r>
          </a:p>
          <a:p>
            <a:pPr marL="171450" indent="-171450">
              <a:spcBef>
                <a:spcPts val="300"/>
              </a:spcBef>
              <a:buFont typeface="Wingdings" panose="05000000000000000000" pitchFamily="2" charset="2"/>
              <a:buChar char="q"/>
            </a:pPr>
            <a:r>
              <a:rPr lang="en-US" sz="1000" b="1" dirty="0">
                <a:solidFill>
                  <a:prstClr val="black"/>
                </a:solidFill>
                <a:latin typeface="Poppins" panose="020B0604020202020204" charset="0"/>
                <a:cs typeface="Poppins" panose="020B0604020202020204" charset="0"/>
              </a:rPr>
              <a:t>Preferred Delivery Time From &amp; To : </a:t>
            </a:r>
            <a:r>
              <a:rPr lang="en-US" sz="1000" dirty="0">
                <a:solidFill>
                  <a:prstClr val="black"/>
                </a:solidFill>
                <a:latin typeface="Poppins" panose="020B0604020202020204" charset="0"/>
                <a:cs typeface="Poppins" panose="020B0604020202020204" charset="0"/>
              </a:rPr>
              <a:t>Preferred time for delivery of orders.</a:t>
            </a:r>
          </a:p>
        </p:txBody>
      </p:sp>
      <p:sp>
        <p:nvSpPr>
          <p:cNvPr id="17" name="Down Arrow 16"/>
          <p:cNvSpPr/>
          <p:nvPr/>
        </p:nvSpPr>
        <p:spPr>
          <a:xfrm rot="5400000">
            <a:off x="8713132" y="2873582"/>
            <a:ext cx="275023" cy="401852"/>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8" name="Down Arrow 17"/>
          <p:cNvSpPr/>
          <p:nvPr/>
        </p:nvSpPr>
        <p:spPr>
          <a:xfrm rot="10800000">
            <a:off x="6067425" y="4866763"/>
            <a:ext cx="250835" cy="336307"/>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20" name="Down Arrow 19"/>
          <p:cNvSpPr/>
          <p:nvPr/>
        </p:nvSpPr>
        <p:spPr>
          <a:xfrm rot="10800000">
            <a:off x="1803319" y="4937934"/>
            <a:ext cx="286022" cy="400733"/>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21" name="Rectangle 20">
            <a:extLst>
              <a:ext uri="{FF2B5EF4-FFF2-40B4-BE49-F238E27FC236}">
                <a16:creationId xmlns:a16="http://schemas.microsoft.com/office/drawing/2014/main" id="{54C59EDC-66D9-563B-2028-C02A9809FDF9}"/>
              </a:ext>
            </a:extLst>
          </p:cNvPr>
          <p:cNvSpPr/>
          <p:nvPr/>
        </p:nvSpPr>
        <p:spPr>
          <a:xfrm>
            <a:off x="3763798" y="5203071"/>
            <a:ext cx="4930076" cy="1488986"/>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b="1" u="sng" dirty="0">
                <a:solidFill>
                  <a:srgbClr val="0070C0"/>
                </a:solidFill>
                <a:latin typeface="Poppins" panose="00000500000000000000" pitchFamily="2" charset="0"/>
                <a:cs typeface="Poppins" panose="00000500000000000000" pitchFamily="2" charset="0"/>
              </a:rPr>
              <a:t>Validation Controls</a:t>
            </a:r>
          </a:p>
          <a:p>
            <a:pPr marL="171450" indent="-171450">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Tax Exemption: </a:t>
            </a:r>
            <a:r>
              <a:rPr lang="en-US" sz="1000" dirty="0">
                <a:solidFill>
                  <a:prstClr val="black"/>
                </a:solidFill>
                <a:latin typeface="Poppins" panose="00000500000000000000" pitchFamily="2" charset="0"/>
                <a:cs typeface="Poppins" panose="00000500000000000000" pitchFamily="2" charset="0"/>
              </a:rPr>
              <a:t>Indicates whether the outlet is exempt from taxes.</a:t>
            </a:r>
          </a:p>
          <a:p>
            <a:pPr marL="171450" indent="-171450">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Auto Cheque Realization: </a:t>
            </a:r>
            <a:r>
              <a:rPr lang="en-US" sz="1000" dirty="0">
                <a:solidFill>
                  <a:prstClr val="black"/>
                </a:solidFill>
                <a:latin typeface="Poppins" panose="00000500000000000000" pitchFamily="2" charset="0"/>
                <a:cs typeface="Poppins" panose="00000500000000000000" pitchFamily="2" charset="0"/>
              </a:rPr>
              <a:t>Specifies if the system automatically realizes cheques.</a:t>
            </a:r>
          </a:p>
          <a:p>
            <a:pPr marL="171450" indent="-171450">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Restrict Un-Mapped Bank: </a:t>
            </a:r>
            <a:r>
              <a:rPr lang="en-US" sz="1000" dirty="0">
                <a:solidFill>
                  <a:prstClr val="black"/>
                </a:solidFill>
                <a:latin typeface="Poppins" panose="00000500000000000000" pitchFamily="2" charset="0"/>
                <a:cs typeface="Poppins" panose="00000500000000000000" pitchFamily="2" charset="0"/>
              </a:rPr>
              <a:t>Indicates whether transactions are restricted to mapped banks only.</a:t>
            </a:r>
          </a:p>
          <a:p>
            <a:pPr marL="171450" indent="-171450">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Tax Registered</a:t>
            </a:r>
            <a:r>
              <a:rPr lang="en-US" sz="1000" dirty="0">
                <a:solidFill>
                  <a:prstClr val="black"/>
                </a:solidFill>
                <a:latin typeface="Poppins" panose="00000500000000000000" pitchFamily="2" charset="0"/>
                <a:cs typeface="Poppins" panose="00000500000000000000" pitchFamily="2" charset="0"/>
              </a:rPr>
              <a:t>: Indicates whether the outlet is registered for tax purposes. This is a mandatory field.</a:t>
            </a:r>
          </a:p>
          <a:p>
            <a:pPr marL="171450" indent="-171450">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Tax Payer: </a:t>
            </a:r>
            <a:r>
              <a:rPr lang="en-US" sz="1000" dirty="0">
                <a:solidFill>
                  <a:prstClr val="black"/>
                </a:solidFill>
                <a:latin typeface="Poppins" panose="00000500000000000000" pitchFamily="2" charset="0"/>
                <a:cs typeface="Poppins" panose="00000500000000000000" pitchFamily="2" charset="0"/>
              </a:rPr>
              <a:t>Identifies if the outlet is recognized as a taxpayer.</a:t>
            </a:r>
          </a:p>
        </p:txBody>
      </p:sp>
      <p:sp>
        <p:nvSpPr>
          <p:cNvPr id="22" name="Rectangle 21"/>
          <p:cNvSpPr/>
          <p:nvPr/>
        </p:nvSpPr>
        <p:spPr>
          <a:xfrm>
            <a:off x="116108" y="1130745"/>
            <a:ext cx="969742" cy="2980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4" name="Oval 23">
            <a:hlinkClick r:id="rId3"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1619389" y="5228569"/>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25" name="Oval 24">
            <a:hlinkClick r:id="rId3"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10405453" y="982547"/>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26" name="Oval 25">
            <a:hlinkClick r:id="rId3"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5958337" y="5092973"/>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3</a:t>
            </a:r>
          </a:p>
        </p:txBody>
      </p:sp>
      <p:sp>
        <p:nvSpPr>
          <p:cNvPr id="27"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Profile Creation</a:t>
            </a:r>
          </a:p>
        </p:txBody>
      </p:sp>
      <p:sp>
        <p:nvSpPr>
          <p:cNvPr id="28" name="Rectangle 27">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Operative Info</a:t>
            </a:r>
          </a:p>
        </p:txBody>
      </p:sp>
    </p:spTree>
    <p:extLst>
      <p:ext uri="{BB962C8B-B14F-4D97-AF65-F5344CB8AC3E}">
        <p14:creationId xmlns:p14="http://schemas.microsoft.com/office/powerpoint/2010/main" val="3025771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112226" y="1897539"/>
            <a:ext cx="10063535" cy="2422989"/>
          </a:xfrm>
          <a:prstGeom prst="rect">
            <a:avLst/>
          </a:prstGeom>
        </p:spPr>
      </p:pic>
      <p:sp>
        <p:nvSpPr>
          <p:cNvPr id="15" name="Down Arrow 14"/>
          <p:cNvSpPr/>
          <p:nvPr/>
        </p:nvSpPr>
        <p:spPr>
          <a:xfrm rot="10800000">
            <a:off x="5006094" y="3992885"/>
            <a:ext cx="275793" cy="619081"/>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23" name="Rectangle 22">
            <a:extLst>
              <a:ext uri="{FF2B5EF4-FFF2-40B4-BE49-F238E27FC236}">
                <a16:creationId xmlns:a16="http://schemas.microsoft.com/office/drawing/2014/main" id="{54C59EDC-66D9-563B-2028-C02A9809FDF9}"/>
              </a:ext>
            </a:extLst>
          </p:cNvPr>
          <p:cNvSpPr/>
          <p:nvPr/>
        </p:nvSpPr>
        <p:spPr>
          <a:xfrm>
            <a:off x="1867752" y="4571570"/>
            <a:ext cx="7003722" cy="1967883"/>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spcBef>
                <a:spcPts val="300"/>
              </a:spcBef>
            </a:pPr>
            <a:r>
              <a:rPr lang="en-US" sz="1000" b="1" u="sng" dirty="0">
                <a:solidFill>
                  <a:srgbClr val="0070C0"/>
                </a:solidFill>
                <a:latin typeface="Poppins" panose="00000500000000000000" pitchFamily="2" charset="0"/>
                <a:cs typeface="Poppins" panose="00000500000000000000" pitchFamily="2" charset="0"/>
              </a:rPr>
              <a:t>Classification</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Tiers: </a:t>
            </a:r>
            <a:r>
              <a:rPr lang="en-US" sz="1000" dirty="0">
                <a:solidFill>
                  <a:prstClr val="black"/>
                </a:solidFill>
                <a:latin typeface="Poppins" panose="00000500000000000000" pitchFamily="2" charset="0"/>
                <a:cs typeface="Poppins" panose="00000500000000000000" pitchFamily="2" charset="0"/>
              </a:rPr>
              <a:t>Specifies the tier level of the outlet. </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Perfect Village: </a:t>
            </a:r>
            <a:r>
              <a:rPr lang="en-US" sz="1000" dirty="0">
                <a:solidFill>
                  <a:prstClr val="black"/>
                </a:solidFill>
                <a:latin typeface="Poppins" panose="00000500000000000000" pitchFamily="2" charset="0"/>
                <a:cs typeface="Poppins" panose="00000500000000000000" pitchFamily="2" charset="0"/>
              </a:rPr>
              <a:t>Indicates if the outlet is located in a "Perfect Village". </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Channel TTS: </a:t>
            </a:r>
            <a:r>
              <a:rPr lang="en-US" sz="1000" dirty="0">
                <a:solidFill>
                  <a:prstClr val="black"/>
                </a:solidFill>
                <a:latin typeface="Poppins" panose="00000500000000000000" pitchFamily="2" charset="0"/>
                <a:cs typeface="Poppins" panose="00000500000000000000" pitchFamily="2" charset="0"/>
              </a:rPr>
              <a:t>Denotes the channel's total trade spending (TTS) classification. </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Perfect Store Compliance</a:t>
            </a:r>
            <a:r>
              <a:rPr lang="en-US" sz="1000" dirty="0">
                <a:solidFill>
                  <a:prstClr val="black"/>
                </a:solidFill>
                <a:latin typeface="Poppins" panose="00000500000000000000" pitchFamily="2" charset="0"/>
                <a:cs typeface="Poppins" panose="00000500000000000000" pitchFamily="2" charset="0"/>
              </a:rPr>
              <a:t>: Measures the compliance of the outlet with "Perfect Store" standards.</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Point of Consumption: </a:t>
            </a:r>
            <a:r>
              <a:rPr lang="en-US" sz="1000" dirty="0">
                <a:solidFill>
                  <a:prstClr val="black"/>
                </a:solidFill>
                <a:latin typeface="Poppins" panose="00000500000000000000" pitchFamily="2" charset="0"/>
                <a:cs typeface="Poppins" panose="00000500000000000000" pitchFamily="2" charset="0"/>
              </a:rPr>
              <a:t>Indicates the point at which products are consumed by the end customer.</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Loyalty Programs: </a:t>
            </a:r>
            <a:r>
              <a:rPr lang="en-US" sz="1000" dirty="0">
                <a:solidFill>
                  <a:prstClr val="black"/>
                </a:solidFill>
                <a:latin typeface="Poppins" panose="00000500000000000000" pitchFamily="2" charset="0"/>
                <a:cs typeface="Poppins" panose="00000500000000000000" pitchFamily="2" charset="0"/>
              </a:rPr>
              <a:t>Lists any loyalty programs in which the outlet participates.</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Chain Outlets: </a:t>
            </a:r>
            <a:r>
              <a:rPr lang="en-US" sz="1000" dirty="0">
                <a:solidFill>
                  <a:prstClr val="black"/>
                </a:solidFill>
                <a:latin typeface="Poppins" panose="00000500000000000000" pitchFamily="2" charset="0"/>
                <a:cs typeface="Poppins" panose="00000500000000000000" pitchFamily="2" charset="0"/>
              </a:rPr>
              <a:t>Specifies if the outlet is part of a chain.</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Customer Attribute 12: </a:t>
            </a:r>
            <a:r>
              <a:rPr lang="en-US" sz="1000" dirty="0">
                <a:solidFill>
                  <a:prstClr val="black"/>
                </a:solidFill>
                <a:latin typeface="Poppins" panose="00000500000000000000" pitchFamily="2" charset="0"/>
                <a:cs typeface="Poppins" panose="00000500000000000000" pitchFamily="2" charset="0"/>
              </a:rPr>
              <a:t>An additional attribute for further classification of the outlet.</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Outlet Programs: </a:t>
            </a:r>
            <a:r>
              <a:rPr lang="en-US" sz="1000" dirty="0">
                <a:solidFill>
                  <a:prstClr val="black"/>
                </a:solidFill>
                <a:latin typeface="Poppins" panose="00000500000000000000" pitchFamily="2" charset="0"/>
                <a:cs typeface="Poppins" panose="00000500000000000000" pitchFamily="2" charset="0"/>
              </a:rPr>
              <a:t>Lists the programs in which the outlet is enrolled.</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GPS Restriction: </a:t>
            </a:r>
            <a:r>
              <a:rPr lang="en-US" sz="1000" dirty="0">
                <a:solidFill>
                  <a:prstClr val="black"/>
                </a:solidFill>
                <a:latin typeface="Poppins" panose="00000500000000000000" pitchFamily="2" charset="0"/>
                <a:cs typeface="Poppins" panose="00000500000000000000" pitchFamily="2" charset="0"/>
              </a:rPr>
              <a:t>Indicates whether the outlet has GPS-based restrictions.</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GPS Radius: </a:t>
            </a:r>
            <a:r>
              <a:rPr lang="en-US" sz="1000" dirty="0">
                <a:solidFill>
                  <a:prstClr val="black"/>
                </a:solidFill>
                <a:latin typeface="Poppins" panose="00000500000000000000" pitchFamily="2" charset="0"/>
                <a:cs typeface="Poppins" panose="00000500000000000000" pitchFamily="2" charset="0"/>
              </a:rPr>
              <a:t>Defines the allowable GPS radius for the outlet's operations.</a:t>
            </a:r>
          </a:p>
        </p:txBody>
      </p:sp>
      <p:sp>
        <p:nvSpPr>
          <p:cNvPr id="27"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Profile Creation</a:t>
            </a:r>
          </a:p>
        </p:txBody>
      </p:sp>
      <p:sp>
        <p:nvSpPr>
          <p:cNvPr id="28" name="Rectangle 27">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Operative Info</a:t>
            </a:r>
          </a:p>
        </p:txBody>
      </p:sp>
      <p:sp>
        <p:nvSpPr>
          <p:cNvPr id="7" name="Rectangle 6">
            <a:extLst>
              <a:ext uri="{FF2B5EF4-FFF2-40B4-BE49-F238E27FC236}">
                <a16:creationId xmlns:a16="http://schemas.microsoft.com/office/drawing/2014/main" id="{54C59EDC-66D9-563B-2028-C02A9809FDF9}"/>
              </a:ext>
            </a:extLst>
          </p:cNvPr>
          <p:cNvSpPr/>
          <p:nvPr/>
        </p:nvSpPr>
        <p:spPr>
          <a:xfrm>
            <a:off x="112226" y="1174987"/>
            <a:ext cx="6410495" cy="482947"/>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b="1" u="sng" dirty="0">
                <a:solidFill>
                  <a:srgbClr val="0070C0"/>
                </a:solidFill>
                <a:latin typeface="Poppins" panose="00000500000000000000" pitchFamily="2" charset="0"/>
                <a:cs typeface="Poppins" panose="00000500000000000000" pitchFamily="2" charset="0"/>
              </a:rPr>
              <a:t>Pre Requisite</a:t>
            </a:r>
          </a:p>
          <a:p>
            <a:pPr algn="just"/>
            <a:r>
              <a:rPr lang="en-US" sz="1000" dirty="0">
                <a:solidFill>
                  <a:prstClr val="black"/>
                </a:solidFill>
                <a:latin typeface="Poppins" panose="00000500000000000000" pitchFamily="2" charset="0"/>
                <a:cs typeface="Poppins" panose="00000500000000000000" pitchFamily="2" charset="0"/>
              </a:rPr>
              <a:t>The Analysis </a:t>
            </a:r>
            <a:r>
              <a:rPr lang="en-US" sz="1000" b="1" dirty="0">
                <a:solidFill>
                  <a:prstClr val="black"/>
                </a:solidFill>
                <a:latin typeface="Poppins" panose="00000500000000000000" pitchFamily="2" charset="0"/>
                <a:cs typeface="Poppins" panose="00000500000000000000" pitchFamily="2" charset="0"/>
              </a:rPr>
              <a:t>Classification-Outlet</a:t>
            </a:r>
            <a:r>
              <a:rPr lang="en-US" sz="1000" dirty="0">
                <a:solidFill>
                  <a:prstClr val="black"/>
                </a:solidFill>
                <a:latin typeface="Poppins" panose="00000500000000000000" pitchFamily="2" charset="0"/>
                <a:cs typeface="Poppins" panose="00000500000000000000" pitchFamily="2" charset="0"/>
              </a:rPr>
              <a:t> will be the pre requisite for these attributes. Once classifications are defined, they will appear as options in a dropdown menu in these fields.</a:t>
            </a:r>
          </a:p>
        </p:txBody>
      </p:sp>
      <p:sp>
        <p:nvSpPr>
          <p:cNvPr id="8" name="Oval 7">
            <a:hlinkClick r:id="rId3"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3099299" y="1081011"/>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9" name="Oval 8">
            <a:hlinkClick r:id="rId3"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5369613" y="4461472"/>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Tree>
    <p:extLst>
      <p:ext uri="{BB962C8B-B14F-4D97-AF65-F5344CB8AC3E}">
        <p14:creationId xmlns:p14="http://schemas.microsoft.com/office/powerpoint/2010/main" val="2743477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07949" y="1607961"/>
            <a:ext cx="6278985" cy="4252031"/>
          </a:xfrm>
          <a:prstGeom prst="rect">
            <a:avLst/>
          </a:prstGeom>
        </p:spPr>
      </p:pic>
      <p:sp>
        <p:nvSpPr>
          <p:cNvPr id="8" name="Down Arrow 7"/>
          <p:cNvSpPr/>
          <p:nvPr/>
        </p:nvSpPr>
        <p:spPr>
          <a:xfrm rot="5400000" flipH="1">
            <a:off x="6048957" y="2836315"/>
            <a:ext cx="259643" cy="674052"/>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9" name="Rectangle 8"/>
          <p:cNvSpPr/>
          <p:nvPr/>
        </p:nvSpPr>
        <p:spPr>
          <a:xfrm>
            <a:off x="107949" y="1728258"/>
            <a:ext cx="969742" cy="2980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10"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Profile Creation</a:t>
            </a:r>
          </a:p>
        </p:txBody>
      </p:sp>
      <p:sp>
        <p:nvSpPr>
          <p:cNvPr id="11" name="Rectangle 10">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Other Info</a:t>
            </a:r>
          </a:p>
        </p:txBody>
      </p:sp>
      <p:sp>
        <p:nvSpPr>
          <p:cNvPr id="12" name="Rectangle 11">
            <a:extLst>
              <a:ext uri="{FF2B5EF4-FFF2-40B4-BE49-F238E27FC236}">
                <a16:creationId xmlns:a16="http://schemas.microsoft.com/office/drawing/2014/main" id="{54C59EDC-66D9-563B-2028-C02A9809FDF9}"/>
              </a:ext>
            </a:extLst>
          </p:cNvPr>
          <p:cNvSpPr/>
          <p:nvPr/>
        </p:nvSpPr>
        <p:spPr>
          <a:xfrm>
            <a:off x="6515805" y="1728258"/>
            <a:ext cx="5533320" cy="210079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300"/>
              </a:spcBef>
            </a:pPr>
            <a:r>
              <a:rPr lang="en-US" sz="1000" b="1" u="sng" dirty="0">
                <a:solidFill>
                  <a:srgbClr val="0070C0"/>
                </a:solidFill>
                <a:latin typeface="Poppins" panose="00000500000000000000" pitchFamily="2" charset="0"/>
                <a:cs typeface="Poppins" panose="00000500000000000000" pitchFamily="2" charset="0"/>
              </a:rPr>
              <a:t>Other Info Fields Description</a:t>
            </a:r>
          </a:p>
          <a:p>
            <a:pPr marL="17145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Previous Outlet Code: </a:t>
            </a:r>
            <a:r>
              <a:rPr lang="en-US" sz="1000" dirty="0">
                <a:solidFill>
                  <a:prstClr val="black"/>
                </a:solidFill>
                <a:latin typeface="Poppins" panose="00000500000000000000" pitchFamily="2" charset="0"/>
                <a:cs typeface="Poppins" panose="00000500000000000000" pitchFamily="2" charset="0"/>
              </a:rPr>
              <a:t>The unique identifier assigned to the outlet in a previous system or prior configuration.</a:t>
            </a:r>
          </a:p>
          <a:p>
            <a:pPr marL="17145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Shopper Type: </a:t>
            </a:r>
            <a:r>
              <a:rPr lang="en-US" sz="1000" dirty="0">
                <a:solidFill>
                  <a:prstClr val="black"/>
                </a:solidFill>
                <a:latin typeface="Poppins" panose="00000500000000000000" pitchFamily="2" charset="0"/>
                <a:cs typeface="Poppins" panose="00000500000000000000" pitchFamily="2" charset="0"/>
              </a:rPr>
              <a:t>Categorizes the type of shoppers the outlet serves, such as retail customers, wholesale buyers, etc.</a:t>
            </a:r>
          </a:p>
          <a:p>
            <a:pPr marL="17145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Company Turnover: </a:t>
            </a:r>
            <a:r>
              <a:rPr lang="en-US" sz="1000" dirty="0">
                <a:solidFill>
                  <a:prstClr val="black"/>
                </a:solidFill>
                <a:latin typeface="Poppins" panose="00000500000000000000" pitchFamily="2" charset="0"/>
                <a:cs typeface="Poppins" panose="00000500000000000000" pitchFamily="2" charset="0"/>
              </a:rPr>
              <a:t>Specifies the total sales revenue generated by the company associated with the outlet. This is a mandatory field.</a:t>
            </a:r>
          </a:p>
          <a:p>
            <a:pPr marL="17145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Overall Total Turnover: </a:t>
            </a:r>
            <a:r>
              <a:rPr lang="en-US" sz="1000" dirty="0">
                <a:solidFill>
                  <a:prstClr val="black"/>
                </a:solidFill>
                <a:latin typeface="Poppins" panose="00000500000000000000" pitchFamily="2" charset="0"/>
                <a:cs typeface="Poppins" panose="00000500000000000000" pitchFamily="2" charset="0"/>
              </a:rPr>
              <a:t>Indicates the cumulative total sales revenue of the outlet, including all business activities. This is a mandatory field.</a:t>
            </a:r>
          </a:p>
          <a:p>
            <a:pPr marL="17145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Stock Selling Capacity: </a:t>
            </a:r>
            <a:r>
              <a:rPr lang="en-US" sz="1000" dirty="0">
                <a:solidFill>
                  <a:prstClr val="black"/>
                </a:solidFill>
                <a:latin typeface="Poppins" panose="00000500000000000000" pitchFamily="2" charset="0"/>
                <a:cs typeface="Poppins" panose="00000500000000000000" pitchFamily="2" charset="0"/>
              </a:rPr>
              <a:t>The maximum volume of stock the outlet can sell within a given period.</a:t>
            </a:r>
          </a:p>
          <a:p>
            <a:pPr marL="17145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Stock Holding Capacity: </a:t>
            </a:r>
            <a:r>
              <a:rPr lang="en-US" sz="1000" dirty="0">
                <a:solidFill>
                  <a:prstClr val="black"/>
                </a:solidFill>
                <a:latin typeface="Poppins" panose="00000500000000000000" pitchFamily="2" charset="0"/>
                <a:cs typeface="Poppins" panose="00000500000000000000" pitchFamily="2" charset="0"/>
              </a:rPr>
              <a:t>The maximum volume of stock the outlet can hold or store at any given time.</a:t>
            </a:r>
          </a:p>
        </p:txBody>
      </p:sp>
      <p:sp>
        <p:nvSpPr>
          <p:cNvPr id="13" name="Oval 12">
            <a:hlinkClick r:id="rId3"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9282465" y="1607961"/>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Tree>
    <p:extLst>
      <p:ext uri="{BB962C8B-B14F-4D97-AF65-F5344CB8AC3E}">
        <p14:creationId xmlns:p14="http://schemas.microsoft.com/office/powerpoint/2010/main" val="3113795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89142" y="1369251"/>
            <a:ext cx="8867947" cy="1861432"/>
          </a:xfrm>
          <a:prstGeom prst="rect">
            <a:avLst/>
          </a:prstGeom>
        </p:spPr>
      </p:pic>
      <p:sp>
        <p:nvSpPr>
          <p:cNvPr id="10" name="Rectangle 9">
            <a:extLst>
              <a:ext uri="{FF2B5EF4-FFF2-40B4-BE49-F238E27FC236}">
                <a16:creationId xmlns:a16="http://schemas.microsoft.com/office/drawing/2014/main" id="{54C59EDC-66D9-563B-2028-C02A9809FDF9}"/>
              </a:ext>
            </a:extLst>
          </p:cNvPr>
          <p:cNvSpPr/>
          <p:nvPr/>
        </p:nvSpPr>
        <p:spPr>
          <a:xfrm>
            <a:off x="9287532" y="1374371"/>
            <a:ext cx="2466318" cy="2092881"/>
          </a:xfrm>
          <a:prstGeom prst="rect">
            <a:avLst/>
          </a:prstGeom>
          <a:solidFill>
            <a:srgbClr val="F2F2F2"/>
          </a:solidFill>
          <a:ln>
            <a:solidFill>
              <a:srgbClr val="667D9E"/>
            </a:solidFill>
          </a:ln>
          <a:effectLst/>
        </p:spPr>
        <p:txBody>
          <a:bodyPr wrap="square" anchor="ctr">
            <a:spAutoFit/>
          </a:bodyPr>
          <a:lstStyle/>
          <a:p>
            <a:r>
              <a:rPr lang="en-US" sz="1000" b="1" u="sng" dirty="0">
                <a:solidFill>
                  <a:srgbClr val="0070C0"/>
                </a:solidFill>
                <a:latin typeface="Poppins" panose="00000500000000000000" pitchFamily="2" charset="0"/>
                <a:cs typeface="Poppins" panose="00000500000000000000" pitchFamily="2" charset="0"/>
              </a:rPr>
              <a:t>Document (Fields Description)</a:t>
            </a:r>
          </a:p>
          <a:p>
            <a:pPr marL="17145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Document Number:</a:t>
            </a:r>
            <a:r>
              <a:rPr lang="en-US" sz="1000" dirty="0">
                <a:solidFill>
                  <a:prstClr val="black"/>
                </a:solidFill>
                <a:latin typeface="Poppins" panose="00000500000000000000" pitchFamily="2" charset="0"/>
                <a:cs typeface="Poppins" panose="00000500000000000000" pitchFamily="2" charset="0"/>
              </a:rPr>
              <a:t> Input the required document number.</a:t>
            </a:r>
          </a:p>
          <a:p>
            <a:pPr marL="17145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Issue Date:</a:t>
            </a:r>
            <a:r>
              <a:rPr lang="en-US" sz="1000" dirty="0">
                <a:solidFill>
                  <a:prstClr val="black"/>
                </a:solidFill>
                <a:latin typeface="Poppins" panose="00000500000000000000" pitchFamily="2" charset="0"/>
                <a:cs typeface="Poppins" panose="00000500000000000000" pitchFamily="2" charset="0"/>
              </a:rPr>
              <a:t> Include the date when the document was issued.</a:t>
            </a:r>
            <a:endParaRPr lang="en-US" sz="1000" b="1" dirty="0">
              <a:solidFill>
                <a:prstClr val="black"/>
              </a:solidFill>
              <a:latin typeface="Poppins" panose="00000500000000000000" pitchFamily="2" charset="0"/>
              <a:cs typeface="Poppins" panose="00000500000000000000" pitchFamily="2" charset="0"/>
            </a:endParaRPr>
          </a:p>
          <a:p>
            <a:pPr marL="17145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Expiry Date:</a:t>
            </a:r>
            <a:r>
              <a:rPr lang="en-US" sz="1000" dirty="0">
                <a:solidFill>
                  <a:prstClr val="black"/>
                </a:solidFill>
                <a:latin typeface="Poppins" panose="00000500000000000000" pitchFamily="2" charset="0"/>
                <a:cs typeface="Poppins" panose="00000500000000000000" pitchFamily="2" charset="0"/>
              </a:rPr>
              <a:t>  Specify the expiration date of the document.</a:t>
            </a:r>
          </a:p>
          <a:p>
            <a:pPr marL="17145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Status:</a:t>
            </a:r>
            <a:r>
              <a:rPr lang="en-US" sz="1000" dirty="0">
                <a:solidFill>
                  <a:prstClr val="black"/>
                </a:solidFill>
                <a:latin typeface="Poppins" panose="00000500000000000000" pitchFamily="2" charset="0"/>
                <a:cs typeface="Poppins" panose="00000500000000000000" pitchFamily="2" charset="0"/>
              </a:rPr>
              <a:t> Indicate the current status of the document as </a:t>
            </a:r>
            <a:r>
              <a:rPr lang="en-US" sz="1000" b="1" dirty="0">
                <a:solidFill>
                  <a:prstClr val="black"/>
                </a:solidFill>
                <a:latin typeface="Poppins" panose="00000500000000000000" pitchFamily="2" charset="0"/>
                <a:cs typeface="Poppins" panose="00000500000000000000" pitchFamily="2" charset="0"/>
              </a:rPr>
              <a:t>Active </a:t>
            </a:r>
            <a:r>
              <a:rPr lang="en-US" sz="1000" dirty="0">
                <a:solidFill>
                  <a:prstClr val="black"/>
                </a:solidFill>
                <a:latin typeface="Poppins" panose="00000500000000000000" pitchFamily="2" charset="0"/>
                <a:cs typeface="Poppins" panose="00000500000000000000" pitchFamily="2" charset="0"/>
              </a:rPr>
              <a:t>or</a:t>
            </a:r>
            <a:r>
              <a:rPr lang="en-US" sz="1000" b="1" dirty="0">
                <a:solidFill>
                  <a:prstClr val="black"/>
                </a:solidFill>
                <a:latin typeface="Poppins" panose="00000500000000000000" pitchFamily="2" charset="0"/>
                <a:cs typeface="Poppins" panose="00000500000000000000" pitchFamily="2" charset="0"/>
              </a:rPr>
              <a:t> Inactive</a:t>
            </a:r>
            <a:r>
              <a:rPr lang="en-US" sz="1000" dirty="0">
                <a:solidFill>
                  <a:prstClr val="black"/>
                </a:solidFill>
                <a:latin typeface="Poppins" panose="00000500000000000000" pitchFamily="2" charset="0"/>
                <a:cs typeface="Poppins" panose="00000500000000000000" pitchFamily="2" charset="0"/>
              </a:rPr>
              <a:t>.</a:t>
            </a:r>
          </a:p>
          <a:p>
            <a:pPr marL="17145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Reference Number: </a:t>
            </a:r>
            <a:r>
              <a:rPr lang="en-US" sz="1000" dirty="0">
                <a:solidFill>
                  <a:prstClr val="black"/>
                </a:solidFill>
                <a:latin typeface="Poppins" panose="00000500000000000000" pitchFamily="2" charset="0"/>
                <a:cs typeface="Poppins" panose="00000500000000000000" pitchFamily="2" charset="0"/>
              </a:rPr>
              <a:t>Incorporate the reference number as applicable.</a:t>
            </a:r>
            <a:endParaRPr lang="en-US" sz="1000" b="1" dirty="0">
              <a:solidFill>
                <a:prstClr val="black"/>
              </a:solidFill>
              <a:latin typeface="Poppins" panose="00000500000000000000" pitchFamily="2" charset="0"/>
              <a:cs typeface="Poppins" panose="00000500000000000000" pitchFamily="2" charset="0"/>
            </a:endParaRPr>
          </a:p>
        </p:txBody>
      </p:sp>
      <p:pic>
        <p:nvPicPr>
          <p:cNvPr id="11" name="Picture 10"/>
          <p:cNvPicPr>
            <a:picLocks noChangeAspect="1"/>
          </p:cNvPicPr>
          <p:nvPr/>
        </p:nvPicPr>
        <p:blipFill>
          <a:blip r:embed="rId3"/>
          <a:stretch>
            <a:fillRect/>
          </a:stretch>
        </p:blipFill>
        <p:spPr>
          <a:xfrm>
            <a:off x="89142" y="3472371"/>
            <a:ext cx="9109247" cy="1237237"/>
          </a:xfrm>
          <a:prstGeom prst="rect">
            <a:avLst/>
          </a:prstGeom>
        </p:spPr>
      </p:pic>
      <p:sp>
        <p:nvSpPr>
          <p:cNvPr id="12" name="Rectangle 11">
            <a:extLst>
              <a:ext uri="{FF2B5EF4-FFF2-40B4-BE49-F238E27FC236}">
                <a16:creationId xmlns:a16="http://schemas.microsoft.com/office/drawing/2014/main" id="{54C59EDC-66D9-563B-2028-C02A9809FDF9}"/>
              </a:ext>
            </a:extLst>
          </p:cNvPr>
          <p:cNvSpPr/>
          <p:nvPr/>
        </p:nvSpPr>
        <p:spPr>
          <a:xfrm>
            <a:off x="89142" y="4959505"/>
            <a:ext cx="4022695" cy="1169551"/>
          </a:xfrm>
          <a:prstGeom prst="rect">
            <a:avLst/>
          </a:prstGeom>
          <a:solidFill>
            <a:srgbClr val="F2F2F2"/>
          </a:solidFill>
          <a:ln>
            <a:solidFill>
              <a:srgbClr val="667D9E"/>
            </a:solidFill>
          </a:ln>
          <a:effectLst/>
        </p:spPr>
        <p:txBody>
          <a:bodyPr wrap="square" anchor="ctr">
            <a:spAutoFit/>
          </a:bodyPr>
          <a:lstStyle/>
          <a:p>
            <a:pPr algn="just"/>
            <a:r>
              <a:rPr lang="en-US" sz="1000" b="1" u="sng" dirty="0">
                <a:solidFill>
                  <a:srgbClr val="0070C0"/>
                </a:solidFill>
                <a:latin typeface="Poppins" panose="00000500000000000000" pitchFamily="2" charset="0"/>
                <a:cs typeface="Poppins" panose="00000500000000000000" pitchFamily="2" charset="0"/>
              </a:rPr>
              <a:t>Bank (Fields Description)</a:t>
            </a:r>
            <a:endParaRPr lang="en-US" sz="1000" b="1" dirty="0">
              <a:solidFill>
                <a:prstClr val="black"/>
              </a:solidFill>
              <a:latin typeface="Poppins" panose="00000500000000000000" pitchFamily="2" charset="0"/>
              <a:cs typeface="Poppins" panose="00000500000000000000" pitchFamily="2" charset="0"/>
            </a:endParaRP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Bank: </a:t>
            </a:r>
            <a:r>
              <a:rPr lang="en-US" sz="1000" dirty="0">
                <a:solidFill>
                  <a:prstClr val="black"/>
                </a:solidFill>
                <a:latin typeface="Poppins" panose="00000500000000000000" pitchFamily="2" charset="0"/>
                <a:cs typeface="Poppins" panose="00000500000000000000" pitchFamily="2" charset="0"/>
              </a:rPr>
              <a:t>The name of the bank associated with the outlet's financial transactions.</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Branch: </a:t>
            </a:r>
            <a:r>
              <a:rPr lang="en-US" sz="1000" dirty="0">
                <a:solidFill>
                  <a:prstClr val="black"/>
                </a:solidFill>
                <a:latin typeface="Poppins" panose="00000500000000000000" pitchFamily="2" charset="0"/>
                <a:cs typeface="Poppins" panose="00000500000000000000" pitchFamily="2" charset="0"/>
              </a:rPr>
              <a:t>The specific branch of the bank where the outlet holds its account.</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Details</a:t>
            </a:r>
            <a:r>
              <a:rPr lang="en-US" sz="1000" dirty="0">
                <a:solidFill>
                  <a:prstClr val="black"/>
                </a:solidFill>
                <a:latin typeface="Poppins" panose="00000500000000000000" pitchFamily="2" charset="0"/>
                <a:cs typeface="Poppins" panose="00000500000000000000" pitchFamily="2" charset="0"/>
              </a:rPr>
              <a:t>: Additional details or notes regarding the bank or branch.</a:t>
            </a:r>
          </a:p>
        </p:txBody>
      </p:sp>
      <p:sp>
        <p:nvSpPr>
          <p:cNvPr id="13" name="Down Arrow 12"/>
          <p:cNvSpPr/>
          <p:nvPr/>
        </p:nvSpPr>
        <p:spPr>
          <a:xfrm rot="5400000" flipH="1">
            <a:off x="8866869" y="2138947"/>
            <a:ext cx="259643" cy="581682"/>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4" name="Down Arrow 13"/>
          <p:cNvSpPr/>
          <p:nvPr/>
        </p:nvSpPr>
        <p:spPr>
          <a:xfrm rot="10800000" flipH="1">
            <a:off x="1502744" y="4594578"/>
            <a:ext cx="269612" cy="418788"/>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5" name="Rectangle 14"/>
          <p:cNvSpPr/>
          <p:nvPr/>
        </p:nvSpPr>
        <p:spPr>
          <a:xfrm>
            <a:off x="879474" y="1595334"/>
            <a:ext cx="969742" cy="2980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16" name="Rectangle 15"/>
          <p:cNvSpPr/>
          <p:nvPr/>
        </p:nvSpPr>
        <p:spPr>
          <a:xfrm>
            <a:off x="1849215" y="3552825"/>
            <a:ext cx="732059" cy="381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17"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Profile Creation</a:t>
            </a:r>
          </a:p>
        </p:txBody>
      </p:sp>
      <p:sp>
        <p:nvSpPr>
          <p:cNvPr id="18" name="Rectangle 17">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Documents &amp; Bank Tabs</a:t>
            </a:r>
          </a:p>
        </p:txBody>
      </p:sp>
      <p:sp>
        <p:nvSpPr>
          <p:cNvPr id="19" name="Oval 18">
            <a:hlinkClick r:id="rId4" action="ppaction://hlinksldjump" highlightClick="1">
              <a:snd r:embed="rId5" name="arrow.wav"/>
            </a:hlinkClick>
            <a:extLst>
              <a:ext uri="{FF2B5EF4-FFF2-40B4-BE49-F238E27FC236}">
                <a16:creationId xmlns:a16="http://schemas.microsoft.com/office/drawing/2014/main" id="{1A334743-2C87-530F-0112-BDA6DFE16E75}"/>
              </a:ext>
            </a:extLst>
          </p:cNvPr>
          <p:cNvSpPr/>
          <p:nvPr/>
        </p:nvSpPr>
        <p:spPr>
          <a:xfrm>
            <a:off x="10411604" y="1216121"/>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20" name="Oval 19">
            <a:hlinkClick r:id="rId4" action="ppaction://hlinksldjump" highlightClick="1">
              <a:snd r:embed="rId5" name="arrow.wav"/>
            </a:hlinkClick>
            <a:extLst>
              <a:ext uri="{FF2B5EF4-FFF2-40B4-BE49-F238E27FC236}">
                <a16:creationId xmlns:a16="http://schemas.microsoft.com/office/drawing/2014/main" id="{1A334743-2C87-530F-0112-BDA6DFE16E75}"/>
              </a:ext>
            </a:extLst>
          </p:cNvPr>
          <p:cNvSpPr/>
          <p:nvPr/>
        </p:nvSpPr>
        <p:spPr>
          <a:xfrm>
            <a:off x="2069439" y="4841198"/>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Tree>
    <p:extLst>
      <p:ext uri="{BB962C8B-B14F-4D97-AF65-F5344CB8AC3E}">
        <p14:creationId xmlns:p14="http://schemas.microsoft.com/office/powerpoint/2010/main" val="1797182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44283" y="1090323"/>
            <a:ext cx="10050463" cy="1375242"/>
          </a:xfrm>
          <a:prstGeom prst="rect">
            <a:avLst/>
          </a:prstGeom>
        </p:spPr>
      </p:pic>
      <p:sp>
        <p:nvSpPr>
          <p:cNvPr id="16" name="Rectangle 15">
            <a:extLst>
              <a:ext uri="{FF2B5EF4-FFF2-40B4-BE49-F238E27FC236}">
                <a16:creationId xmlns:a16="http://schemas.microsoft.com/office/drawing/2014/main" id="{54C59EDC-66D9-563B-2028-C02A9809FDF9}"/>
              </a:ext>
            </a:extLst>
          </p:cNvPr>
          <p:cNvSpPr/>
          <p:nvPr/>
        </p:nvSpPr>
        <p:spPr>
          <a:xfrm>
            <a:off x="44283" y="2661099"/>
            <a:ext cx="7213600" cy="1785104"/>
          </a:xfrm>
          <a:prstGeom prst="rect">
            <a:avLst/>
          </a:prstGeom>
          <a:solidFill>
            <a:srgbClr val="F2F2F2"/>
          </a:solidFill>
          <a:ln>
            <a:solidFill>
              <a:srgbClr val="667D9E"/>
            </a:solidFill>
          </a:ln>
          <a:effectLst/>
        </p:spPr>
        <p:txBody>
          <a:bodyPr wrap="square" anchor="ctr">
            <a:spAutoFit/>
          </a:bodyPr>
          <a:lstStyle/>
          <a:p>
            <a:pPr algn="just">
              <a:spcBef>
                <a:spcPts val="300"/>
              </a:spcBef>
            </a:pPr>
            <a:r>
              <a:rPr lang="en-US" sz="1000" b="1" u="sng" dirty="0">
                <a:solidFill>
                  <a:srgbClr val="0070C0"/>
                </a:solidFill>
                <a:latin typeface="Poppins" panose="00000500000000000000" pitchFamily="2" charset="0"/>
                <a:cs typeface="Poppins" panose="00000500000000000000" pitchFamily="2" charset="0"/>
              </a:rPr>
              <a:t>Contact Person Details Fields Description</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Name: </a:t>
            </a:r>
            <a:r>
              <a:rPr lang="en-US" sz="1000" dirty="0">
                <a:solidFill>
                  <a:prstClr val="black"/>
                </a:solidFill>
                <a:latin typeface="Poppins" panose="00000500000000000000" pitchFamily="2" charset="0"/>
                <a:cs typeface="Poppins" panose="00000500000000000000" pitchFamily="2" charset="0"/>
              </a:rPr>
              <a:t>The full name of the contact person associated with the outlet.</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Identification Type: </a:t>
            </a:r>
            <a:r>
              <a:rPr lang="en-US" sz="1000" dirty="0">
                <a:solidFill>
                  <a:prstClr val="black"/>
                </a:solidFill>
                <a:latin typeface="Poppins" panose="00000500000000000000" pitchFamily="2" charset="0"/>
                <a:cs typeface="Poppins" panose="00000500000000000000" pitchFamily="2" charset="0"/>
              </a:rPr>
              <a:t>The type of identification provided by the contact person (e.g., passport, driver's license).</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ID No: </a:t>
            </a:r>
            <a:r>
              <a:rPr lang="en-US" sz="1000" dirty="0">
                <a:solidFill>
                  <a:prstClr val="black"/>
                </a:solidFill>
                <a:latin typeface="Poppins" panose="00000500000000000000" pitchFamily="2" charset="0"/>
                <a:cs typeface="Poppins" panose="00000500000000000000" pitchFamily="2" charset="0"/>
              </a:rPr>
              <a:t>The identification number corresponding to the identification type.</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Designation: </a:t>
            </a:r>
            <a:r>
              <a:rPr lang="en-US" sz="1000" dirty="0">
                <a:solidFill>
                  <a:prstClr val="black"/>
                </a:solidFill>
                <a:latin typeface="Poppins" panose="00000500000000000000" pitchFamily="2" charset="0"/>
                <a:cs typeface="Poppins" panose="00000500000000000000" pitchFamily="2" charset="0"/>
              </a:rPr>
              <a:t>The job title or role of the contact person within the organization.</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Gender: </a:t>
            </a:r>
            <a:r>
              <a:rPr lang="en-US" sz="1000" dirty="0">
                <a:solidFill>
                  <a:prstClr val="black"/>
                </a:solidFill>
                <a:latin typeface="Poppins" panose="00000500000000000000" pitchFamily="2" charset="0"/>
                <a:cs typeface="Poppins" panose="00000500000000000000" pitchFamily="2" charset="0"/>
              </a:rPr>
              <a:t>The gender of the contact person.</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Qualification: </a:t>
            </a:r>
            <a:r>
              <a:rPr lang="en-US" sz="1000" dirty="0">
                <a:solidFill>
                  <a:prstClr val="black"/>
                </a:solidFill>
                <a:latin typeface="Poppins" panose="00000500000000000000" pitchFamily="2" charset="0"/>
                <a:cs typeface="Poppins" panose="00000500000000000000" pitchFamily="2" charset="0"/>
              </a:rPr>
              <a:t>The educational qualifications or professional certifications of the contact person.</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Land Line #: </a:t>
            </a:r>
            <a:r>
              <a:rPr lang="en-US" sz="1000" dirty="0">
                <a:solidFill>
                  <a:prstClr val="black"/>
                </a:solidFill>
                <a:latin typeface="Poppins" panose="00000500000000000000" pitchFamily="2" charset="0"/>
                <a:cs typeface="Poppins" panose="00000500000000000000" pitchFamily="2" charset="0"/>
              </a:rPr>
              <a:t>The landline telephone number of the contact person.</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Cell Phone #: </a:t>
            </a:r>
            <a:r>
              <a:rPr lang="en-US" sz="1000" dirty="0">
                <a:solidFill>
                  <a:prstClr val="black"/>
                </a:solidFill>
                <a:latin typeface="Poppins" panose="00000500000000000000" pitchFamily="2" charset="0"/>
                <a:cs typeface="Poppins" panose="00000500000000000000" pitchFamily="2" charset="0"/>
              </a:rPr>
              <a:t>The mobile phone number of the contact person.</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Email ID: </a:t>
            </a:r>
            <a:r>
              <a:rPr lang="en-US" sz="1000" dirty="0">
                <a:solidFill>
                  <a:prstClr val="black"/>
                </a:solidFill>
                <a:latin typeface="Poppins" panose="00000500000000000000" pitchFamily="2" charset="0"/>
                <a:cs typeface="Poppins" panose="00000500000000000000" pitchFamily="2" charset="0"/>
              </a:rPr>
              <a:t>The email address of the contact person.</a:t>
            </a:r>
          </a:p>
        </p:txBody>
      </p:sp>
      <p:sp>
        <p:nvSpPr>
          <p:cNvPr id="17" name="Down Arrow 16"/>
          <p:cNvSpPr/>
          <p:nvPr/>
        </p:nvSpPr>
        <p:spPr>
          <a:xfrm rot="10800000" flipH="1">
            <a:off x="3291764" y="2453609"/>
            <a:ext cx="269612" cy="418788"/>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pic>
        <p:nvPicPr>
          <p:cNvPr id="18" name="Picture 17"/>
          <p:cNvPicPr>
            <a:picLocks noChangeAspect="1"/>
          </p:cNvPicPr>
          <p:nvPr/>
        </p:nvPicPr>
        <p:blipFill>
          <a:blip r:embed="rId3"/>
          <a:stretch>
            <a:fillRect/>
          </a:stretch>
        </p:blipFill>
        <p:spPr>
          <a:xfrm>
            <a:off x="44283" y="4765435"/>
            <a:ext cx="9267203" cy="1520172"/>
          </a:xfrm>
          <a:prstGeom prst="rect">
            <a:avLst/>
          </a:prstGeom>
        </p:spPr>
      </p:pic>
      <p:sp>
        <p:nvSpPr>
          <p:cNvPr id="20" name="Rectangle 19">
            <a:extLst>
              <a:ext uri="{FF2B5EF4-FFF2-40B4-BE49-F238E27FC236}">
                <a16:creationId xmlns:a16="http://schemas.microsoft.com/office/drawing/2014/main" id="{54C59EDC-66D9-563B-2028-C02A9809FDF9}"/>
              </a:ext>
            </a:extLst>
          </p:cNvPr>
          <p:cNvSpPr/>
          <p:nvPr/>
        </p:nvSpPr>
        <p:spPr>
          <a:xfrm>
            <a:off x="8605923" y="2812214"/>
            <a:ext cx="3500351" cy="1631216"/>
          </a:xfrm>
          <a:prstGeom prst="rect">
            <a:avLst/>
          </a:prstGeom>
          <a:solidFill>
            <a:srgbClr val="F2F2F2"/>
          </a:solidFill>
          <a:ln>
            <a:solidFill>
              <a:srgbClr val="667D9E"/>
            </a:solidFill>
          </a:ln>
          <a:effectLst/>
        </p:spPr>
        <p:txBody>
          <a:bodyPr wrap="square" anchor="ctr">
            <a:spAutoFit/>
          </a:bodyPr>
          <a:lstStyle/>
          <a:p>
            <a:pPr algn="just"/>
            <a:r>
              <a:rPr lang="en-US" sz="1000" b="1" u="sng" dirty="0">
                <a:solidFill>
                  <a:srgbClr val="0070C0"/>
                </a:solidFill>
                <a:latin typeface="Poppins" panose="00000500000000000000" pitchFamily="2" charset="0"/>
                <a:cs typeface="Poppins" panose="00000500000000000000" pitchFamily="2" charset="0"/>
              </a:rPr>
              <a:t>Credit Limit Tab Fields Description</a:t>
            </a:r>
            <a:endParaRPr lang="en-US" sz="1000" b="1" dirty="0">
              <a:solidFill>
                <a:prstClr val="black"/>
              </a:solidFill>
              <a:latin typeface="Poppins" panose="00000500000000000000" pitchFamily="2" charset="0"/>
              <a:cs typeface="Poppins" panose="00000500000000000000" pitchFamily="2" charset="0"/>
            </a:endParaRP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Credit Amount Limit: </a:t>
            </a:r>
            <a:r>
              <a:rPr lang="en-US" sz="1000" dirty="0">
                <a:solidFill>
                  <a:prstClr val="black"/>
                </a:solidFill>
                <a:latin typeface="Poppins" panose="00000500000000000000" pitchFamily="2" charset="0"/>
                <a:cs typeface="Poppins" panose="00000500000000000000" pitchFamily="2" charset="0"/>
              </a:rPr>
              <a:t>The maximum amount of credit that can be extended to the outlet.</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Amount Action: </a:t>
            </a:r>
            <a:r>
              <a:rPr lang="en-US" sz="1000" dirty="0">
                <a:solidFill>
                  <a:prstClr val="black"/>
                </a:solidFill>
                <a:latin typeface="Poppins" panose="00000500000000000000" pitchFamily="2" charset="0"/>
                <a:cs typeface="Poppins" panose="00000500000000000000" pitchFamily="2" charset="0"/>
              </a:rPr>
              <a:t>Specifies the action to be taken when the credit amount limit is reached or exceeded.</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Day Limit: </a:t>
            </a:r>
            <a:r>
              <a:rPr lang="en-US" sz="1000" dirty="0">
                <a:solidFill>
                  <a:prstClr val="black"/>
                </a:solidFill>
                <a:latin typeface="Poppins" panose="00000500000000000000" pitchFamily="2" charset="0"/>
                <a:cs typeface="Poppins" panose="00000500000000000000" pitchFamily="2" charset="0"/>
              </a:rPr>
              <a:t>The maximum number of days for which credit can be extended to the outlet.</a:t>
            </a:r>
          </a:p>
          <a:p>
            <a:pPr marL="171450" lvl="0" indent="-171450" algn="just">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Day Action: </a:t>
            </a:r>
            <a:r>
              <a:rPr lang="en-US" sz="1000" dirty="0">
                <a:solidFill>
                  <a:prstClr val="black"/>
                </a:solidFill>
                <a:latin typeface="Poppins" panose="00000500000000000000" pitchFamily="2" charset="0"/>
                <a:cs typeface="Poppins" panose="00000500000000000000" pitchFamily="2" charset="0"/>
              </a:rPr>
              <a:t>Specifies the action to be taken when the credit day limit is reached or exceeded.</a:t>
            </a:r>
          </a:p>
        </p:txBody>
      </p:sp>
      <p:sp>
        <p:nvSpPr>
          <p:cNvPr id="2" name="Bent-Up Arrow 1"/>
          <p:cNvSpPr/>
          <p:nvPr/>
        </p:nvSpPr>
        <p:spPr>
          <a:xfrm rot="5400000" flipV="1">
            <a:off x="9466467" y="4255333"/>
            <a:ext cx="1256559" cy="1638300"/>
          </a:xfrm>
          <a:prstGeom prst="bentUpArrow">
            <a:avLst>
              <a:gd name="adj1" fmla="val 8936"/>
              <a:gd name="adj2" fmla="val 12315"/>
              <a:gd name="adj3" fmla="val 17452"/>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22" name="Rectangle 21"/>
          <p:cNvSpPr/>
          <p:nvPr/>
        </p:nvSpPr>
        <p:spPr>
          <a:xfrm>
            <a:off x="2681341" y="1213157"/>
            <a:ext cx="1690634" cy="5680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3" name="Rectangle 22"/>
          <p:cNvSpPr/>
          <p:nvPr/>
        </p:nvSpPr>
        <p:spPr>
          <a:xfrm>
            <a:off x="4114799" y="4765436"/>
            <a:ext cx="1009651" cy="4447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4"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Profile Creation</a:t>
            </a:r>
          </a:p>
        </p:txBody>
      </p:sp>
      <p:sp>
        <p:nvSpPr>
          <p:cNvPr id="25" name="Rectangle 24">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Contact Person Details &amp; Credit Limit Tabs</a:t>
            </a:r>
          </a:p>
        </p:txBody>
      </p:sp>
      <p:sp>
        <p:nvSpPr>
          <p:cNvPr id="12" name="Oval 11">
            <a:hlinkClick r:id="rId4" action="ppaction://hlinksldjump" highlightClick="1">
              <a:snd r:embed="rId5" name="arrow.wav"/>
            </a:hlinkClick>
            <a:extLst>
              <a:ext uri="{FF2B5EF4-FFF2-40B4-BE49-F238E27FC236}">
                <a16:creationId xmlns:a16="http://schemas.microsoft.com/office/drawing/2014/main" id="{1A334743-2C87-530F-0112-BDA6DFE16E75}"/>
              </a:ext>
            </a:extLst>
          </p:cNvPr>
          <p:cNvSpPr/>
          <p:nvPr/>
        </p:nvSpPr>
        <p:spPr>
          <a:xfrm>
            <a:off x="3651083" y="2556648"/>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13" name="Oval 12">
            <a:hlinkClick r:id="rId4" action="ppaction://hlinksldjump" highlightClick="1">
              <a:snd r:embed="rId5" name="arrow.wav"/>
            </a:hlinkClick>
            <a:extLst>
              <a:ext uri="{FF2B5EF4-FFF2-40B4-BE49-F238E27FC236}">
                <a16:creationId xmlns:a16="http://schemas.microsoft.com/office/drawing/2014/main" id="{1A334743-2C87-530F-0112-BDA6DFE16E75}"/>
              </a:ext>
            </a:extLst>
          </p:cNvPr>
          <p:cNvSpPr/>
          <p:nvPr/>
        </p:nvSpPr>
        <p:spPr>
          <a:xfrm>
            <a:off x="10306394" y="2652202"/>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Tree>
    <p:extLst>
      <p:ext uri="{BB962C8B-B14F-4D97-AF65-F5344CB8AC3E}">
        <p14:creationId xmlns:p14="http://schemas.microsoft.com/office/powerpoint/2010/main" val="348441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Approval II</a:t>
            </a:r>
          </a:p>
        </p:txBody>
      </p:sp>
      <p:sp>
        <p:nvSpPr>
          <p:cNvPr id="25" name="Rectangle 24">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Approval by Company User</a:t>
            </a:r>
          </a:p>
        </p:txBody>
      </p:sp>
      <p:sp>
        <p:nvSpPr>
          <p:cNvPr id="12" name="Rectangle 11">
            <a:extLst>
              <a:ext uri="{FF2B5EF4-FFF2-40B4-BE49-F238E27FC236}">
                <a16:creationId xmlns:a16="http://schemas.microsoft.com/office/drawing/2014/main" id="{54C59EDC-66D9-563B-2028-C02A9809FDF9}"/>
              </a:ext>
            </a:extLst>
          </p:cNvPr>
          <p:cNvSpPr/>
          <p:nvPr/>
        </p:nvSpPr>
        <p:spPr>
          <a:xfrm>
            <a:off x="44282" y="1059978"/>
            <a:ext cx="6688211" cy="246221"/>
          </a:xfrm>
          <a:prstGeom prst="rect">
            <a:avLst/>
          </a:prstGeom>
          <a:solidFill>
            <a:srgbClr val="F2F2F2"/>
          </a:solidFill>
          <a:ln>
            <a:solidFill>
              <a:srgbClr val="667D9E"/>
            </a:solidFill>
          </a:ln>
          <a:effectLst/>
        </p:spPr>
        <p:txBody>
          <a:bodyPr wrap="square" anchor="ctr">
            <a:spAutoFit/>
          </a:bodyPr>
          <a:lstStyle/>
          <a:p>
            <a:pPr algn="just">
              <a:spcBef>
                <a:spcPts val="300"/>
              </a:spcBef>
            </a:pPr>
            <a:r>
              <a:rPr lang="en-US" sz="1000" dirty="0">
                <a:solidFill>
                  <a:prstClr val="black"/>
                </a:solidFill>
                <a:latin typeface="Poppins" panose="00000500000000000000" pitchFamily="2" charset="0"/>
                <a:cs typeface="Poppins" panose="00000500000000000000" pitchFamily="2" charset="0"/>
              </a:rPr>
              <a:t>The company user will login to the application and follow the approval steps of newly created outlets. </a:t>
            </a:r>
          </a:p>
        </p:txBody>
      </p:sp>
      <p:pic>
        <p:nvPicPr>
          <p:cNvPr id="3" name="Picture 2"/>
          <p:cNvPicPr>
            <a:picLocks noChangeAspect="1"/>
          </p:cNvPicPr>
          <p:nvPr/>
        </p:nvPicPr>
        <p:blipFill>
          <a:blip r:embed="rId2"/>
          <a:stretch>
            <a:fillRect/>
          </a:stretch>
        </p:blipFill>
        <p:spPr>
          <a:xfrm>
            <a:off x="44282" y="1340281"/>
            <a:ext cx="1730730" cy="970140"/>
          </a:xfrm>
          <a:prstGeom prst="rect">
            <a:avLst/>
          </a:prstGeom>
        </p:spPr>
      </p:pic>
      <p:sp>
        <p:nvSpPr>
          <p:cNvPr id="14" name="Rectangle 13"/>
          <p:cNvSpPr/>
          <p:nvPr/>
        </p:nvSpPr>
        <p:spPr>
          <a:xfrm>
            <a:off x="44282" y="1541342"/>
            <a:ext cx="1730730" cy="7690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19" name="Rectangle 18">
            <a:extLst>
              <a:ext uri="{FF2B5EF4-FFF2-40B4-BE49-F238E27FC236}">
                <a16:creationId xmlns:a16="http://schemas.microsoft.com/office/drawing/2014/main" id="{8B748B0B-64E6-CE46-D322-278F93E27F0E}"/>
              </a:ext>
            </a:extLst>
          </p:cNvPr>
          <p:cNvSpPr/>
          <p:nvPr/>
        </p:nvSpPr>
        <p:spPr>
          <a:xfrm>
            <a:off x="2075851" y="1774985"/>
            <a:ext cx="2925042" cy="410599"/>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Search the outlet approval in the search bar and click on the appeared option.</a:t>
            </a:r>
          </a:p>
        </p:txBody>
      </p:sp>
      <p:sp>
        <p:nvSpPr>
          <p:cNvPr id="21" name="Down Arrow 20"/>
          <p:cNvSpPr/>
          <p:nvPr/>
        </p:nvSpPr>
        <p:spPr>
          <a:xfrm rot="5400000">
            <a:off x="1767439" y="1795004"/>
            <a:ext cx="246258" cy="370564"/>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pic>
        <p:nvPicPr>
          <p:cNvPr id="4" name="Picture 3"/>
          <p:cNvPicPr>
            <a:picLocks noChangeAspect="1"/>
          </p:cNvPicPr>
          <p:nvPr/>
        </p:nvPicPr>
        <p:blipFill>
          <a:blip r:embed="rId3"/>
          <a:stretch>
            <a:fillRect/>
          </a:stretch>
        </p:blipFill>
        <p:spPr>
          <a:xfrm>
            <a:off x="44282" y="2356732"/>
            <a:ext cx="7890497" cy="1049856"/>
          </a:xfrm>
          <a:prstGeom prst="rect">
            <a:avLst/>
          </a:prstGeom>
        </p:spPr>
      </p:pic>
      <p:sp>
        <p:nvSpPr>
          <p:cNvPr id="26" name="Rectangle 25">
            <a:extLst>
              <a:ext uri="{FF2B5EF4-FFF2-40B4-BE49-F238E27FC236}">
                <a16:creationId xmlns:a16="http://schemas.microsoft.com/office/drawing/2014/main" id="{8B748B0B-64E6-CE46-D322-278F93E27F0E}"/>
              </a:ext>
            </a:extLst>
          </p:cNvPr>
          <p:cNvSpPr/>
          <p:nvPr/>
        </p:nvSpPr>
        <p:spPr>
          <a:xfrm>
            <a:off x="8195246" y="2560795"/>
            <a:ext cx="3996753" cy="641730"/>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All the created outlets will be displayed in the grid with the </a:t>
            </a:r>
            <a:r>
              <a:rPr lang="en-US" sz="1000" b="1" dirty="0">
                <a:solidFill>
                  <a:schemeClr val="tx1"/>
                </a:solidFill>
                <a:latin typeface="Poppins" panose="00000500000000000000" pitchFamily="2" charset="0"/>
                <a:cs typeface="Poppins" panose="00000500000000000000" pitchFamily="2" charset="0"/>
              </a:rPr>
              <a:t>PROSPECT</a:t>
            </a:r>
            <a:r>
              <a:rPr lang="en-US" sz="1000" dirty="0">
                <a:solidFill>
                  <a:schemeClr val="tx1"/>
                </a:solidFill>
                <a:latin typeface="Poppins" panose="00000500000000000000" pitchFamily="2" charset="0"/>
                <a:cs typeface="Poppins" panose="00000500000000000000" pitchFamily="2" charset="0"/>
              </a:rPr>
              <a:t> status. This means these outlets have in-active status. The user will click on the desired record to approve.</a:t>
            </a:r>
          </a:p>
        </p:txBody>
      </p:sp>
      <p:sp>
        <p:nvSpPr>
          <p:cNvPr id="27" name="Down Arrow 26"/>
          <p:cNvSpPr/>
          <p:nvPr/>
        </p:nvSpPr>
        <p:spPr>
          <a:xfrm rot="5400000">
            <a:off x="7886836" y="2696378"/>
            <a:ext cx="246258" cy="370564"/>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pic>
        <p:nvPicPr>
          <p:cNvPr id="5" name="Picture 4"/>
          <p:cNvPicPr>
            <a:picLocks noChangeAspect="1"/>
          </p:cNvPicPr>
          <p:nvPr/>
        </p:nvPicPr>
        <p:blipFill>
          <a:blip r:embed="rId4"/>
          <a:stretch>
            <a:fillRect/>
          </a:stretch>
        </p:blipFill>
        <p:spPr>
          <a:xfrm>
            <a:off x="44282" y="3452898"/>
            <a:ext cx="6042753" cy="3366261"/>
          </a:xfrm>
          <a:prstGeom prst="rect">
            <a:avLst/>
          </a:prstGeom>
        </p:spPr>
      </p:pic>
      <p:sp>
        <p:nvSpPr>
          <p:cNvPr id="28" name="Rectangle 27">
            <a:extLst>
              <a:ext uri="{FF2B5EF4-FFF2-40B4-BE49-F238E27FC236}">
                <a16:creationId xmlns:a16="http://schemas.microsoft.com/office/drawing/2014/main" id="{8B748B0B-64E6-CE46-D322-278F93E27F0E}"/>
              </a:ext>
            </a:extLst>
          </p:cNvPr>
          <p:cNvSpPr/>
          <p:nvPr/>
        </p:nvSpPr>
        <p:spPr>
          <a:xfrm>
            <a:off x="6360741" y="4301052"/>
            <a:ext cx="3907106" cy="630913"/>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On selecting the desired outlet from the grid, the information will be displayed in the fields and user can either approver or reject the request.</a:t>
            </a:r>
          </a:p>
        </p:txBody>
      </p:sp>
      <p:sp>
        <p:nvSpPr>
          <p:cNvPr id="29" name="Down Arrow 28"/>
          <p:cNvSpPr/>
          <p:nvPr/>
        </p:nvSpPr>
        <p:spPr>
          <a:xfrm rot="5400000">
            <a:off x="6052330" y="4430446"/>
            <a:ext cx="246258" cy="370564"/>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30" name="Rectangle 29"/>
          <p:cNvSpPr/>
          <p:nvPr/>
        </p:nvSpPr>
        <p:spPr>
          <a:xfrm>
            <a:off x="1165412" y="6562164"/>
            <a:ext cx="1004046" cy="2390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6" name="Picture 5"/>
          <p:cNvPicPr>
            <a:picLocks noChangeAspect="1"/>
          </p:cNvPicPr>
          <p:nvPr/>
        </p:nvPicPr>
        <p:blipFill rotWithShape="1">
          <a:blip r:embed="rId5"/>
          <a:srcRect r="1059"/>
          <a:stretch/>
        </p:blipFill>
        <p:spPr>
          <a:xfrm>
            <a:off x="6175460" y="5136028"/>
            <a:ext cx="6016540" cy="990054"/>
          </a:xfrm>
          <a:prstGeom prst="rect">
            <a:avLst/>
          </a:prstGeom>
        </p:spPr>
      </p:pic>
      <p:sp>
        <p:nvSpPr>
          <p:cNvPr id="31" name="Rectangle 30">
            <a:extLst>
              <a:ext uri="{FF2B5EF4-FFF2-40B4-BE49-F238E27FC236}">
                <a16:creationId xmlns:a16="http://schemas.microsoft.com/office/drawing/2014/main" id="{8B748B0B-64E6-CE46-D322-278F93E27F0E}"/>
              </a:ext>
            </a:extLst>
          </p:cNvPr>
          <p:cNvSpPr/>
          <p:nvPr/>
        </p:nvSpPr>
        <p:spPr>
          <a:xfrm>
            <a:off x="6175460" y="6438457"/>
            <a:ext cx="3907106" cy="39207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All those outlets which will be similar in terms of attributes will be appeared in the similar outlets pop-up.</a:t>
            </a:r>
          </a:p>
        </p:txBody>
      </p:sp>
      <p:sp>
        <p:nvSpPr>
          <p:cNvPr id="33" name="Rectangle 32"/>
          <p:cNvSpPr/>
          <p:nvPr/>
        </p:nvSpPr>
        <p:spPr>
          <a:xfrm>
            <a:off x="2133598" y="6562164"/>
            <a:ext cx="568977" cy="2390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32" name="Down Arrow 31"/>
          <p:cNvSpPr/>
          <p:nvPr/>
        </p:nvSpPr>
        <p:spPr>
          <a:xfrm rot="5400000">
            <a:off x="4293781" y="4926745"/>
            <a:ext cx="246258" cy="3517098"/>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35" name="Rectangle 34"/>
          <p:cNvSpPr/>
          <p:nvPr/>
        </p:nvSpPr>
        <p:spPr>
          <a:xfrm>
            <a:off x="6195034" y="5411445"/>
            <a:ext cx="5996965" cy="7146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34" name="Down Arrow 33"/>
          <p:cNvSpPr/>
          <p:nvPr/>
        </p:nvSpPr>
        <p:spPr>
          <a:xfrm rot="10800000">
            <a:off x="8009965" y="5979459"/>
            <a:ext cx="246258" cy="458998"/>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22" name="Oval 21">
            <a:hlinkClick r:id="rId6" action="ppaction://hlinksldjump" highlightClick="1">
              <a:snd r:embed="rId7" name="arrow.wav"/>
            </a:hlinkClick>
            <a:extLst>
              <a:ext uri="{FF2B5EF4-FFF2-40B4-BE49-F238E27FC236}">
                <a16:creationId xmlns:a16="http://schemas.microsoft.com/office/drawing/2014/main" id="{1A334743-2C87-530F-0112-BDA6DFE16E75}"/>
              </a:ext>
            </a:extLst>
          </p:cNvPr>
          <p:cNvSpPr/>
          <p:nvPr/>
        </p:nvSpPr>
        <p:spPr>
          <a:xfrm>
            <a:off x="3279300" y="1613791"/>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23" name="Oval 22">
            <a:hlinkClick r:id="rId6" action="ppaction://hlinksldjump" highlightClick="1">
              <a:snd r:embed="rId7" name="arrow.wav"/>
            </a:hlinkClick>
            <a:extLst>
              <a:ext uri="{FF2B5EF4-FFF2-40B4-BE49-F238E27FC236}">
                <a16:creationId xmlns:a16="http://schemas.microsoft.com/office/drawing/2014/main" id="{1A334743-2C87-530F-0112-BDA6DFE16E75}"/>
              </a:ext>
            </a:extLst>
          </p:cNvPr>
          <p:cNvSpPr/>
          <p:nvPr/>
        </p:nvSpPr>
        <p:spPr>
          <a:xfrm>
            <a:off x="10158760" y="2393900"/>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36" name="Oval 35">
            <a:hlinkClick r:id="rId6" action="ppaction://hlinksldjump" highlightClick="1">
              <a:snd r:embed="rId7" name="arrow.wav"/>
            </a:hlinkClick>
            <a:extLst>
              <a:ext uri="{FF2B5EF4-FFF2-40B4-BE49-F238E27FC236}">
                <a16:creationId xmlns:a16="http://schemas.microsoft.com/office/drawing/2014/main" id="{1A334743-2C87-530F-0112-BDA6DFE16E75}"/>
              </a:ext>
            </a:extLst>
          </p:cNvPr>
          <p:cNvSpPr/>
          <p:nvPr/>
        </p:nvSpPr>
        <p:spPr>
          <a:xfrm>
            <a:off x="8106878" y="4158679"/>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3</a:t>
            </a:r>
          </a:p>
        </p:txBody>
      </p:sp>
      <p:sp>
        <p:nvSpPr>
          <p:cNvPr id="37" name="Oval 36">
            <a:hlinkClick r:id="rId6" action="ppaction://hlinksldjump" highlightClick="1">
              <a:snd r:embed="rId7" name="arrow.wav"/>
            </a:hlinkClick>
            <a:extLst>
              <a:ext uri="{FF2B5EF4-FFF2-40B4-BE49-F238E27FC236}">
                <a16:creationId xmlns:a16="http://schemas.microsoft.com/office/drawing/2014/main" id="{1A334743-2C87-530F-0112-BDA6DFE16E75}"/>
              </a:ext>
            </a:extLst>
          </p:cNvPr>
          <p:cNvSpPr/>
          <p:nvPr/>
        </p:nvSpPr>
        <p:spPr>
          <a:xfrm>
            <a:off x="8222583" y="6290293"/>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4</a:t>
            </a:r>
          </a:p>
        </p:txBody>
      </p:sp>
    </p:spTree>
    <p:extLst>
      <p:ext uri="{BB962C8B-B14F-4D97-AF65-F5344CB8AC3E}">
        <p14:creationId xmlns:p14="http://schemas.microsoft.com/office/powerpoint/2010/main" val="4194827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4506" y="1504542"/>
            <a:ext cx="1357999" cy="854603"/>
          </a:xfrm>
          <a:prstGeom prst="rect">
            <a:avLst/>
          </a:prstGeom>
        </p:spPr>
      </p:pic>
      <p:pic>
        <p:nvPicPr>
          <p:cNvPr id="6" name="Picture 5"/>
          <p:cNvPicPr>
            <a:picLocks noChangeAspect="1"/>
          </p:cNvPicPr>
          <p:nvPr/>
        </p:nvPicPr>
        <p:blipFill>
          <a:blip r:embed="rId3"/>
          <a:stretch>
            <a:fillRect/>
          </a:stretch>
        </p:blipFill>
        <p:spPr>
          <a:xfrm>
            <a:off x="84506" y="2450495"/>
            <a:ext cx="4624709" cy="2386718"/>
          </a:xfrm>
          <a:prstGeom prst="rect">
            <a:avLst/>
          </a:prstGeom>
        </p:spPr>
      </p:pic>
      <p:pic>
        <p:nvPicPr>
          <p:cNvPr id="8" name="Picture 7"/>
          <p:cNvPicPr>
            <a:picLocks noChangeAspect="1"/>
          </p:cNvPicPr>
          <p:nvPr/>
        </p:nvPicPr>
        <p:blipFill rotWithShape="1">
          <a:blip r:embed="rId4"/>
          <a:srcRect l="2244" t="6065" r="2963" b="352"/>
          <a:stretch/>
        </p:blipFill>
        <p:spPr>
          <a:xfrm>
            <a:off x="6118577" y="1031511"/>
            <a:ext cx="5971823" cy="5724279"/>
          </a:xfrm>
          <a:prstGeom prst="rect">
            <a:avLst/>
          </a:prstGeom>
        </p:spPr>
      </p:pic>
      <p:sp>
        <p:nvSpPr>
          <p:cNvPr id="9" name="Rectangle 8">
            <a:extLst>
              <a:ext uri="{FF2B5EF4-FFF2-40B4-BE49-F238E27FC236}">
                <a16:creationId xmlns:a16="http://schemas.microsoft.com/office/drawing/2014/main" id="{54C59EDC-66D9-563B-2028-C02A9809FDF9}"/>
              </a:ext>
            </a:extLst>
          </p:cNvPr>
          <p:cNvSpPr/>
          <p:nvPr/>
        </p:nvSpPr>
        <p:spPr>
          <a:xfrm>
            <a:off x="84506" y="1028471"/>
            <a:ext cx="5218046" cy="400110"/>
          </a:xfrm>
          <a:prstGeom prst="rect">
            <a:avLst/>
          </a:prstGeom>
          <a:solidFill>
            <a:srgbClr val="F2F2F2"/>
          </a:solidFill>
          <a:ln>
            <a:solidFill>
              <a:srgbClr val="667D9E"/>
            </a:solidFill>
          </a:ln>
          <a:effectLst/>
        </p:spPr>
        <p:txBody>
          <a:bodyPr wrap="square" anchor="ctr">
            <a:spAutoFit/>
          </a:bodyPr>
          <a:lstStyle/>
          <a:p>
            <a:r>
              <a:rPr lang="en-US" sz="1000" dirty="0">
                <a:latin typeface="Poppins" panose="00000500000000000000" pitchFamily="2" charset="0"/>
                <a:cs typeface="Poppins" panose="00000500000000000000" pitchFamily="2" charset="0"/>
              </a:rPr>
              <a:t>In this interface, users have the capability to modify specific attributes of approved outlets.</a:t>
            </a:r>
          </a:p>
        </p:txBody>
      </p:sp>
      <p:sp>
        <p:nvSpPr>
          <p:cNvPr id="10" name="Rectangle 9">
            <a:extLst>
              <a:ext uri="{FF2B5EF4-FFF2-40B4-BE49-F238E27FC236}">
                <a16:creationId xmlns:a16="http://schemas.microsoft.com/office/drawing/2014/main" id="{54C59EDC-66D9-563B-2028-C02A9809FDF9}"/>
              </a:ext>
            </a:extLst>
          </p:cNvPr>
          <p:cNvSpPr/>
          <p:nvPr/>
        </p:nvSpPr>
        <p:spPr>
          <a:xfrm>
            <a:off x="4761714" y="3085736"/>
            <a:ext cx="1304363" cy="1615827"/>
          </a:xfrm>
          <a:prstGeom prst="rect">
            <a:avLst/>
          </a:prstGeom>
          <a:solidFill>
            <a:srgbClr val="F2F2F2"/>
          </a:solidFill>
          <a:ln>
            <a:solidFill>
              <a:srgbClr val="667D9E"/>
            </a:solidFill>
          </a:ln>
          <a:effectLst/>
        </p:spPr>
        <p:txBody>
          <a:bodyPr wrap="square" anchor="ctr">
            <a:spAutoFit/>
          </a:bodyPr>
          <a:lstStyle/>
          <a:p>
            <a:r>
              <a:rPr lang="en-US" sz="1000" b="1" dirty="0">
                <a:solidFill>
                  <a:srgbClr val="1D4EAA"/>
                </a:solidFill>
                <a:latin typeface="Poppins" panose="00000500000000000000" pitchFamily="2" charset="0"/>
                <a:cs typeface="Poppins" panose="00000500000000000000" pitchFamily="2" charset="0"/>
              </a:rPr>
              <a:t>List of Outlets:</a:t>
            </a:r>
          </a:p>
          <a:p>
            <a:pPr algn="just"/>
            <a:r>
              <a:rPr lang="en-US" sz="900" dirty="0">
                <a:solidFill>
                  <a:prstClr val="black"/>
                </a:solidFill>
                <a:latin typeface="Poppins" panose="00000500000000000000" pitchFamily="2" charset="0"/>
                <a:cs typeface="Poppins" panose="00000500000000000000" pitchFamily="2" charset="0"/>
              </a:rPr>
              <a:t>Upon accessing the screen, users will be presented with a comprehensive list of outlets. This list displays all currently approved outlets.</a:t>
            </a:r>
          </a:p>
          <a:p>
            <a:endParaRPr lang="en-US" sz="900" dirty="0"/>
          </a:p>
        </p:txBody>
      </p:sp>
      <p:sp>
        <p:nvSpPr>
          <p:cNvPr id="12" name="Rectangle 11">
            <a:extLst>
              <a:ext uri="{FF2B5EF4-FFF2-40B4-BE49-F238E27FC236}">
                <a16:creationId xmlns:a16="http://schemas.microsoft.com/office/drawing/2014/main" id="{54C59EDC-66D9-563B-2028-C02A9809FDF9}"/>
              </a:ext>
            </a:extLst>
          </p:cNvPr>
          <p:cNvSpPr/>
          <p:nvPr/>
        </p:nvSpPr>
        <p:spPr>
          <a:xfrm>
            <a:off x="84506" y="4855269"/>
            <a:ext cx="6034071" cy="1908215"/>
          </a:xfrm>
          <a:prstGeom prst="rect">
            <a:avLst/>
          </a:prstGeom>
          <a:solidFill>
            <a:srgbClr val="F2F2F2"/>
          </a:solidFill>
          <a:ln>
            <a:solidFill>
              <a:srgbClr val="667D9E"/>
            </a:solidFill>
          </a:ln>
          <a:effectLst/>
        </p:spPr>
        <p:txBody>
          <a:bodyPr wrap="square" anchor="ctr">
            <a:spAutoFit/>
          </a:bodyPr>
          <a:lstStyle/>
          <a:p>
            <a:r>
              <a:rPr lang="en-US" sz="1000" b="1" u="sng" dirty="0">
                <a:solidFill>
                  <a:srgbClr val="0070C0"/>
                </a:solidFill>
                <a:latin typeface="Poppins" panose="00000500000000000000" pitchFamily="2" charset="0"/>
                <a:cs typeface="Poppins" panose="00000500000000000000" pitchFamily="2" charset="0"/>
              </a:rPr>
              <a:t>Field Descriptions:</a:t>
            </a:r>
          </a:p>
          <a:p>
            <a:endParaRPr lang="en-US" sz="900" dirty="0">
              <a:solidFill>
                <a:prstClr val="black"/>
              </a:solidFill>
              <a:latin typeface="Poppins" panose="00000500000000000000" pitchFamily="2" charset="0"/>
              <a:cs typeface="Poppins" panose="00000500000000000000" pitchFamily="2" charset="0"/>
            </a:endParaRP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Outlet Long Name: </a:t>
            </a:r>
            <a:r>
              <a:rPr lang="en-US" sz="900" dirty="0">
                <a:solidFill>
                  <a:prstClr val="black"/>
                </a:solidFill>
                <a:latin typeface="Poppins" panose="00000500000000000000" pitchFamily="2" charset="0"/>
                <a:cs typeface="Poppins" panose="00000500000000000000" pitchFamily="2" charset="0"/>
              </a:rPr>
              <a:t>The full name of the outlet. Enter the new full name if any changes are required.</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Outlet Rank: </a:t>
            </a:r>
            <a:r>
              <a:rPr lang="en-US" sz="900" dirty="0">
                <a:solidFill>
                  <a:prstClr val="black"/>
                </a:solidFill>
                <a:latin typeface="Poppins" panose="00000500000000000000" pitchFamily="2" charset="0"/>
                <a:cs typeface="Poppins" panose="00000500000000000000" pitchFamily="2" charset="0"/>
              </a:rPr>
              <a:t>The rank of the outlet within the distribution network. Modify as needed.</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Company Rank: </a:t>
            </a:r>
            <a:r>
              <a:rPr lang="en-US" sz="900" dirty="0">
                <a:solidFill>
                  <a:prstClr val="black"/>
                </a:solidFill>
                <a:latin typeface="Poppins" panose="00000500000000000000" pitchFamily="2" charset="0"/>
                <a:cs typeface="Poppins" panose="00000500000000000000" pitchFamily="2" charset="0"/>
              </a:rPr>
              <a:t>The ranking of the outlet within the company's overall structure. Adjust if necessary.</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Area Type: </a:t>
            </a:r>
            <a:r>
              <a:rPr lang="en-US" sz="900" dirty="0">
                <a:solidFill>
                  <a:prstClr val="black"/>
                </a:solidFill>
                <a:latin typeface="Poppins" panose="00000500000000000000" pitchFamily="2" charset="0"/>
                <a:cs typeface="Poppins" panose="00000500000000000000" pitchFamily="2" charset="0"/>
              </a:rPr>
              <a:t>The classification of the area where the outlet is located. Update if applicable.</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Status: </a:t>
            </a:r>
            <a:r>
              <a:rPr lang="en-US" sz="900" dirty="0">
                <a:solidFill>
                  <a:prstClr val="black"/>
                </a:solidFill>
                <a:latin typeface="Poppins" panose="00000500000000000000" pitchFamily="2" charset="0"/>
                <a:cs typeface="Poppins" panose="00000500000000000000" pitchFamily="2" charset="0"/>
              </a:rPr>
              <a:t>The current operational status of the outlet. Change if required.</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B2B Mobile Number: </a:t>
            </a:r>
            <a:r>
              <a:rPr lang="en-US" sz="900" dirty="0">
                <a:solidFill>
                  <a:prstClr val="black"/>
                </a:solidFill>
                <a:latin typeface="Poppins" panose="00000500000000000000" pitchFamily="2" charset="0"/>
                <a:cs typeface="Poppins" panose="00000500000000000000" pitchFamily="2" charset="0"/>
              </a:rPr>
              <a:t>The business-to-business mobile contact number for the outlet. Update as needed.</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Manual Order Creation: </a:t>
            </a:r>
            <a:r>
              <a:rPr lang="en-US" sz="900" dirty="0">
                <a:solidFill>
                  <a:prstClr val="black"/>
                </a:solidFill>
                <a:latin typeface="Poppins" panose="00000500000000000000" pitchFamily="2" charset="0"/>
                <a:cs typeface="Poppins" panose="00000500000000000000" pitchFamily="2" charset="0"/>
              </a:rPr>
              <a:t>Indicates whether manual order creation is enabled for the outlet. Modify if necessary.</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Prospect ID: </a:t>
            </a:r>
            <a:r>
              <a:rPr lang="en-US" sz="900" dirty="0">
                <a:solidFill>
                  <a:prstClr val="black"/>
                </a:solidFill>
                <a:latin typeface="Poppins" panose="00000500000000000000" pitchFamily="2" charset="0"/>
                <a:cs typeface="Poppins" panose="00000500000000000000" pitchFamily="2" charset="0"/>
              </a:rPr>
              <a:t>The unique identifier for potential prospects related to the outlet. Update if applicable.</a:t>
            </a:r>
          </a:p>
        </p:txBody>
      </p:sp>
      <p:sp>
        <p:nvSpPr>
          <p:cNvPr id="13" name="Rectangle 12">
            <a:extLst>
              <a:ext uri="{FF2B5EF4-FFF2-40B4-BE49-F238E27FC236}">
                <a16:creationId xmlns:a16="http://schemas.microsoft.com/office/drawing/2014/main" id="{8B748B0B-64E6-CE46-D322-278F93E27F0E}"/>
              </a:ext>
            </a:extLst>
          </p:cNvPr>
          <p:cNvSpPr/>
          <p:nvPr/>
        </p:nvSpPr>
        <p:spPr>
          <a:xfrm>
            <a:off x="1822881" y="1657500"/>
            <a:ext cx="3715661" cy="380308"/>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r>
              <a:rPr lang="en-US" sz="1000" dirty="0">
                <a:solidFill>
                  <a:schemeClr val="tx1"/>
                </a:solidFill>
                <a:latin typeface="Poppins" panose="00000500000000000000" pitchFamily="2" charset="0"/>
                <a:cs typeface="Poppins" panose="00000500000000000000" pitchFamily="2" charset="0"/>
              </a:rPr>
              <a:t>Search </a:t>
            </a:r>
            <a:r>
              <a:rPr lang="en-US" sz="1000" b="1" dirty="0">
                <a:solidFill>
                  <a:schemeClr val="tx1"/>
                </a:solidFill>
                <a:latin typeface="Poppins" panose="00000500000000000000" pitchFamily="2" charset="0"/>
                <a:cs typeface="Poppins" panose="00000500000000000000" pitchFamily="2" charset="0"/>
              </a:rPr>
              <a:t>Change Track Outlet Profile </a:t>
            </a:r>
            <a:r>
              <a:rPr lang="en-US" sz="1000" dirty="0">
                <a:solidFill>
                  <a:schemeClr val="tx1"/>
                </a:solidFill>
                <a:latin typeface="Poppins" panose="00000500000000000000" pitchFamily="2" charset="0"/>
                <a:cs typeface="Poppins" panose="00000500000000000000" pitchFamily="2" charset="0"/>
              </a:rPr>
              <a:t>in the search bar.</a:t>
            </a:r>
          </a:p>
        </p:txBody>
      </p:sp>
      <p:sp>
        <p:nvSpPr>
          <p:cNvPr id="14" name="Down Arrow 13"/>
          <p:cNvSpPr/>
          <p:nvPr/>
        </p:nvSpPr>
        <p:spPr>
          <a:xfrm rot="5400000" flipH="1">
            <a:off x="1501867" y="1598098"/>
            <a:ext cx="196989" cy="445038"/>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5" name="Down Arrow 14"/>
          <p:cNvSpPr/>
          <p:nvPr/>
        </p:nvSpPr>
        <p:spPr>
          <a:xfrm rot="5400000" flipH="1">
            <a:off x="4417514" y="3434460"/>
            <a:ext cx="269612" cy="418788"/>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6" name="Down Arrow 15"/>
          <p:cNvSpPr/>
          <p:nvPr/>
        </p:nvSpPr>
        <p:spPr>
          <a:xfrm rot="16200000">
            <a:off x="6140665" y="5245131"/>
            <a:ext cx="269612" cy="418788"/>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8" name="Oval 17">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3336954" y="1473252"/>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19" name="Oval 18">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2496379" y="4733776"/>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3</a:t>
            </a:r>
          </a:p>
        </p:txBody>
      </p:sp>
      <p:sp>
        <p:nvSpPr>
          <p:cNvPr id="20" name="Oval 19">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5320368" y="2924335"/>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23" name="Rectangle 22"/>
          <p:cNvSpPr/>
          <p:nvPr/>
        </p:nvSpPr>
        <p:spPr>
          <a:xfrm>
            <a:off x="84506" y="1543949"/>
            <a:ext cx="1357999" cy="8151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4"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Change Track Outlet Profile</a:t>
            </a:r>
          </a:p>
        </p:txBody>
      </p:sp>
      <p:sp>
        <p:nvSpPr>
          <p:cNvPr id="25" name="Rectangle 24">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Modify Attributes</a:t>
            </a:r>
          </a:p>
        </p:txBody>
      </p:sp>
    </p:spTree>
    <p:extLst>
      <p:ext uri="{BB962C8B-B14F-4D97-AF65-F5344CB8AC3E}">
        <p14:creationId xmlns:p14="http://schemas.microsoft.com/office/powerpoint/2010/main" val="648488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6620" y="1481137"/>
            <a:ext cx="11525250" cy="2066925"/>
          </a:xfrm>
          <a:prstGeom prst="rect">
            <a:avLst/>
          </a:prstGeom>
        </p:spPr>
      </p:pic>
      <p:sp>
        <p:nvSpPr>
          <p:cNvPr id="5" name="Rectangle 4">
            <a:extLst>
              <a:ext uri="{FF2B5EF4-FFF2-40B4-BE49-F238E27FC236}">
                <a16:creationId xmlns:a16="http://schemas.microsoft.com/office/drawing/2014/main" id="{54C59EDC-66D9-563B-2028-C02A9809FDF9}"/>
              </a:ext>
            </a:extLst>
          </p:cNvPr>
          <p:cNvSpPr/>
          <p:nvPr/>
        </p:nvSpPr>
        <p:spPr>
          <a:xfrm>
            <a:off x="3069409" y="4028406"/>
            <a:ext cx="4983263" cy="1354217"/>
          </a:xfrm>
          <a:prstGeom prst="rect">
            <a:avLst/>
          </a:prstGeom>
          <a:solidFill>
            <a:srgbClr val="F2F2F2"/>
          </a:solidFill>
          <a:ln>
            <a:solidFill>
              <a:srgbClr val="667D9E"/>
            </a:solidFill>
          </a:ln>
          <a:effectLst/>
        </p:spPr>
        <p:txBody>
          <a:bodyPr wrap="square" anchor="ctr">
            <a:spAutoFit/>
          </a:bodyPr>
          <a:lstStyle/>
          <a:p>
            <a:r>
              <a:rPr lang="en-US" sz="1000" b="1" u="sng" dirty="0">
                <a:solidFill>
                  <a:srgbClr val="0070C0"/>
                </a:solidFill>
                <a:latin typeface="Poppins" panose="00000500000000000000" pitchFamily="2" charset="0"/>
                <a:cs typeface="Poppins" panose="00000500000000000000" pitchFamily="2" charset="0"/>
              </a:rPr>
              <a:t>Modifying Outlet Attributes</a:t>
            </a:r>
          </a:p>
          <a:p>
            <a:r>
              <a:rPr lang="en-US" sz="900" dirty="0">
                <a:solidFill>
                  <a:prstClr val="black"/>
                </a:solidFill>
                <a:latin typeface="Poppins" panose="00000500000000000000" pitchFamily="2" charset="0"/>
                <a:cs typeface="Poppins" panose="00000500000000000000" pitchFamily="2" charset="0"/>
              </a:rPr>
              <a:t>To modify an outlet's attributes, follow these steps:</a:t>
            </a:r>
          </a:p>
          <a:p>
            <a:pPr marL="171450" lvl="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Select an Outlet: </a:t>
            </a:r>
            <a:r>
              <a:rPr lang="en-US" sz="900" dirty="0">
                <a:solidFill>
                  <a:prstClr val="black"/>
                </a:solidFill>
                <a:latin typeface="Poppins" panose="00000500000000000000" pitchFamily="2" charset="0"/>
                <a:cs typeface="Poppins" panose="00000500000000000000" pitchFamily="2" charset="0"/>
              </a:rPr>
              <a:t>Click on the desired outlet from the list to view and edit its attributes.</a:t>
            </a:r>
          </a:p>
          <a:p>
            <a:pPr marL="171450" lvl="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Edit Attributes: </a:t>
            </a:r>
            <a:r>
              <a:rPr lang="en-US" sz="900" dirty="0">
                <a:solidFill>
                  <a:prstClr val="black"/>
                </a:solidFill>
                <a:latin typeface="Poppins" panose="00000500000000000000" pitchFamily="2" charset="0"/>
                <a:cs typeface="Poppins" panose="00000500000000000000" pitchFamily="2" charset="0"/>
              </a:rPr>
              <a:t>Modify the necessary attributes of the selected outlet as needed.</a:t>
            </a:r>
          </a:p>
          <a:p>
            <a:pPr marL="171450" lvl="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Submit for Approval: </a:t>
            </a:r>
            <a:r>
              <a:rPr lang="en-US" sz="900" dirty="0">
                <a:solidFill>
                  <a:prstClr val="black"/>
                </a:solidFill>
                <a:latin typeface="Poppins" panose="00000500000000000000" pitchFamily="2" charset="0"/>
                <a:cs typeface="Poppins" panose="00000500000000000000" pitchFamily="2" charset="0"/>
              </a:rPr>
              <a:t>Click the 'Forward for Approval' button to submit the modifications.</a:t>
            </a:r>
          </a:p>
          <a:p>
            <a:pPr marL="171450" lvl="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Review Changes: </a:t>
            </a:r>
            <a:r>
              <a:rPr lang="en-US" sz="900" dirty="0">
                <a:solidFill>
                  <a:prstClr val="black"/>
                </a:solidFill>
                <a:latin typeface="Poppins" panose="00000500000000000000" pitchFamily="2" charset="0"/>
                <a:cs typeface="Poppins" panose="00000500000000000000" pitchFamily="2" charset="0"/>
              </a:rPr>
              <a:t>The generated request will appear in the grid above for review and approval.</a:t>
            </a:r>
          </a:p>
        </p:txBody>
      </p:sp>
      <p:sp>
        <p:nvSpPr>
          <p:cNvPr id="6" name="Down Arrow 5"/>
          <p:cNvSpPr/>
          <p:nvPr/>
        </p:nvSpPr>
        <p:spPr>
          <a:xfrm rot="10800000" flipH="1">
            <a:off x="6785890" y="3548063"/>
            <a:ext cx="269612" cy="418788"/>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7" name="Oval 6">
            <a:hlinkClick r:id="rId3" action="ppaction://hlinksldjump" highlightClick="1">
              <a:snd r:embed="rId4" name="arrow.wav"/>
            </a:hlinkClick>
            <a:extLst>
              <a:ext uri="{FF2B5EF4-FFF2-40B4-BE49-F238E27FC236}">
                <a16:creationId xmlns:a16="http://schemas.microsoft.com/office/drawing/2014/main" id="{1A334743-2C87-530F-0112-BDA6DFE16E75}"/>
              </a:ext>
            </a:extLst>
          </p:cNvPr>
          <p:cNvSpPr/>
          <p:nvPr/>
        </p:nvSpPr>
        <p:spPr>
          <a:xfrm>
            <a:off x="5342867" y="3856752"/>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4</a:t>
            </a:r>
          </a:p>
        </p:txBody>
      </p:sp>
      <p:sp>
        <p:nvSpPr>
          <p:cNvPr id="9"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Change Track Outlet Profile</a:t>
            </a:r>
          </a:p>
        </p:txBody>
      </p:sp>
      <p:sp>
        <p:nvSpPr>
          <p:cNvPr id="10" name="Rectangle 9">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Modify Attributes</a:t>
            </a:r>
          </a:p>
        </p:txBody>
      </p:sp>
    </p:spTree>
    <p:extLst>
      <p:ext uri="{BB962C8B-B14F-4D97-AF65-F5344CB8AC3E}">
        <p14:creationId xmlns:p14="http://schemas.microsoft.com/office/powerpoint/2010/main" val="951998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C59EDC-66D9-563B-2028-C02A9809FDF9}"/>
              </a:ext>
            </a:extLst>
          </p:cNvPr>
          <p:cNvSpPr/>
          <p:nvPr/>
        </p:nvSpPr>
        <p:spPr>
          <a:xfrm>
            <a:off x="132016" y="1092344"/>
            <a:ext cx="6982338" cy="230832"/>
          </a:xfrm>
          <a:prstGeom prst="rect">
            <a:avLst/>
          </a:prstGeom>
          <a:solidFill>
            <a:srgbClr val="F2F2F2"/>
          </a:solidFill>
          <a:ln>
            <a:solidFill>
              <a:srgbClr val="667D9E"/>
            </a:solidFill>
          </a:ln>
          <a:effectLst/>
        </p:spPr>
        <p:txBody>
          <a:bodyPr wrap="square" anchor="ctr">
            <a:spAutoFit/>
          </a:bodyPr>
          <a:lstStyle/>
          <a:p>
            <a:r>
              <a:rPr lang="en-US" sz="900" dirty="0">
                <a:solidFill>
                  <a:prstClr val="black"/>
                </a:solidFill>
                <a:latin typeface="Poppins" panose="00000500000000000000" pitchFamily="2" charset="0"/>
                <a:cs typeface="Poppins" panose="00000500000000000000" pitchFamily="2" charset="0"/>
              </a:rPr>
              <a:t>In this interface, users have the capability to modify specific attributes regarding operative info of approved outlets.</a:t>
            </a:r>
          </a:p>
        </p:txBody>
      </p:sp>
      <p:pic>
        <p:nvPicPr>
          <p:cNvPr id="5" name="Picture 4"/>
          <p:cNvPicPr>
            <a:picLocks noChangeAspect="1"/>
          </p:cNvPicPr>
          <p:nvPr/>
        </p:nvPicPr>
        <p:blipFill>
          <a:blip r:embed="rId2"/>
          <a:stretch>
            <a:fillRect/>
          </a:stretch>
        </p:blipFill>
        <p:spPr>
          <a:xfrm>
            <a:off x="132016" y="2199637"/>
            <a:ext cx="4785551" cy="1647120"/>
          </a:xfrm>
          <a:prstGeom prst="rect">
            <a:avLst/>
          </a:prstGeom>
        </p:spPr>
      </p:pic>
      <p:pic>
        <p:nvPicPr>
          <p:cNvPr id="6" name="Picture 5"/>
          <p:cNvPicPr>
            <a:picLocks noChangeAspect="1"/>
          </p:cNvPicPr>
          <p:nvPr/>
        </p:nvPicPr>
        <p:blipFill rotWithShape="1">
          <a:blip r:embed="rId3"/>
          <a:srcRect l="5669"/>
          <a:stretch/>
        </p:blipFill>
        <p:spPr>
          <a:xfrm>
            <a:off x="8442921" y="1092344"/>
            <a:ext cx="3615830" cy="4220817"/>
          </a:xfrm>
          <a:prstGeom prst="rect">
            <a:avLst/>
          </a:prstGeom>
        </p:spPr>
      </p:pic>
      <p:sp>
        <p:nvSpPr>
          <p:cNvPr id="7" name="Rectangle 6">
            <a:extLst>
              <a:ext uri="{FF2B5EF4-FFF2-40B4-BE49-F238E27FC236}">
                <a16:creationId xmlns:a16="http://schemas.microsoft.com/office/drawing/2014/main" id="{8B748B0B-64E6-CE46-D322-278F93E27F0E}"/>
              </a:ext>
            </a:extLst>
          </p:cNvPr>
          <p:cNvSpPr/>
          <p:nvPr/>
        </p:nvSpPr>
        <p:spPr>
          <a:xfrm>
            <a:off x="2329817" y="1551291"/>
            <a:ext cx="4171519" cy="318056"/>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r>
              <a:rPr lang="en-US" sz="1000" dirty="0">
                <a:solidFill>
                  <a:schemeClr val="tx1"/>
                </a:solidFill>
                <a:latin typeface="Poppins" panose="00000500000000000000" pitchFamily="2" charset="0"/>
                <a:cs typeface="Poppins" panose="00000500000000000000" pitchFamily="2" charset="0"/>
              </a:rPr>
              <a:t>Search </a:t>
            </a:r>
            <a:r>
              <a:rPr lang="en-US" sz="1000" b="1" dirty="0">
                <a:solidFill>
                  <a:schemeClr val="tx1"/>
                </a:solidFill>
                <a:latin typeface="Poppins" panose="00000500000000000000" pitchFamily="2" charset="0"/>
                <a:cs typeface="Poppins" panose="00000500000000000000" pitchFamily="2" charset="0"/>
              </a:rPr>
              <a:t>Change Track Outlet Operative Info </a:t>
            </a:r>
            <a:r>
              <a:rPr lang="en-US" sz="1000" dirty="0">
                <a:solidFill>
                  <a:schemeClr val="tx1"/>
                </a:solidFill>
                <a:latin typeface="Poppins" panose="00000500000000000000" pitchFamily="2" charset="0"/>
                <a:cs typeface="Poppins" panose="00000500000000000000" pitchFamily="2" charset="0"/>
              </a:rPr>
              <a:t>in the search bar.</a:t>
            </a:r>
          </a:p>
        </p:txBody>
      </p:sp>
      <p:pic>
        <p:nvPicPr>
          <p:cNvPr id="8" name="Picture 7"/>
          <p:cNvPicPr>
            <a:picLocks noChangeAspect="1"/>
          </p:cNvPicPr>
          <p:nvPr/>
        </p:nvPicPr>
        <p:blipFill>
          <a:blip r:embed="rId4"/>
          <a:stretch>
            <a:fillRect/>
          </a:stretch>
        </p:blipFill>
        <p:spPr>
          <a:xfrm>
            <a:off x="132016" y="1406386"/>
            <a:ext cx="1781175" cy="752475"/>
          </a:xfrm>
          <a:prstGeom prst="rect">
            <a:avLst/>
          </a:prstGeom>
        </p:spPr>
      </p:pic>
      <p:sp>
        <p:nvSpPr>
          <p:cNvPr id="9" name="Rectangle 8">
            <a:extLst>
              <a:ext uri="{FF2B5EF4-FFF2-40B4-BE49-F238E27FC236}">
                <a16:creationId xmlns:a16="http://schemas.microsoft.com/office/drawing/2014/main" id="{54C59EDC-66D9-563B-2028-C02A9809FDF9}"/>
              </a:ext>
            </a:extLst>
          </p:cNvPr>
          <p:cNvSpPr/>
          <p:nvPr/>
        </p:nvSpPr>
        <p:spPr>
          <a:xfrm>
            <a:off x="5399293" y="2269347"/>
            <a:ext cx="3043628" cy="800219"/>
          </a:xfrm>
          <a:prstGeom prst="rect">
            <a:avLst/>
          </a:prstGeom>
          <a:solidFill>
            <a:srgbClr val="F2F2F2"/>
          </a:solidFill>
          <a:ln>
            <a:solidFill>
              <a:srgbClr val="667D9E"/>
            </a:solidFill>
          </a:ln>
          <a:effectLst/>
        </p:spPr>
        <p:txBody>
          <a:bodyPr wrap="square" anchor="ctr">
            <a:spAutoFit/>
          </a:bodyPr>
          <a:lstStyle/>
          <a:p>
            <a:r>
              <a:rPr lang="en-US" sz="1000" b="1" dirty="0">
                <a:solidFill>
                  <a:srgbClr val="1D4EAA"/>
                </a:solidFill>
                <a:latin typeface="Poppins" panose="00000500000000000000" pitchFamily="2" charset="0"/>
                <a:cs typeface="Poppins" panose="00000500000000000000" pitchFamily="2" charset="0"/>
              </a:rPr>
              <a:t>List of Outlets:</a:t>
            </a:r>
          </a:p>
          <a:p>
            <a:pPr algn="just"/>
            <a:r>
              <a:rPr lang="en-US" sz="900" dirty="0">
                <a:solidFill>
                  <a:prstClr val="black"/>
                </a:solidFill>
                <a:latin typeface="Poppins" panose="00000500000000000000" pitchFamily="2" charset="0"/>
                <a:cs typeface="Poppins" panose="00000500000000000000" pitchFamily="2" charset="0"/>
              </a:rPr>
              <a:t>Upon accessing the screen, users will be presented with a comprehensive list of outlets. This list displays all currently approved outlets.</a:t>
            </a:r>
          </a:p>
          <a:p>
            <a:endParaRPr lang="en-US" sz="900" dirty="0"/>
          </a:p>
        </p:txBody>
      </p:sp>
      <p:sp>
        <p:nvSpPr>
          <p:cNvPr id="10" name="Rectangle 9">
            <a:extLst>
              <a:ext uri="{FF2B5EF4-FFF2-40B4-BE49-F238E27FC236}">
                <a16:creationId xmlns:a16="http://schemas.microsoft.com/office/drawing/2014/main" id="{54C59EDC-66D9-563B-2028-C02A9809FDF9}"/>
              </a:ext>
            </a:extLst>
          </p:cNvPr>
          <p:cNvSpPr/>
          <p:nvPr/>
        </p:nvSpPr>
        <p:spPr>
          <a:xfrm>
            <a:off x="120518" y="3886187"/>
            <a:ext cx="6060238" cy="1754326"/>
          </a:xfrm>
          <a:prstGeom prst="rect">
            <a:avLst/>
          </a:prstGeom>
          <a:solidFill>
            <a:srgbClr val="F2F2F2"/>
          </a:solidFill>
          <a:ln>
            <a:solidFill>
              <a:srgbClr val="667D9E"/>
            </a:solidFill>
          </a:ln>
          <a:effectLst/>
        </p:spPr>
        <p:txBody>
          <a:bodyPr wrap="square" anchor="ctr">
            <a:spAutoFit/>
          </a:bodyPr>
          <a:lstStyle/>
          <a:p>
            <a:r>
              <a:rPr lang="en-US" sz="1000" b="1" u="sng" dirty="0">
                <a:solidFill>
                  <a:srgbClr val="0070C0"/>
                </a:solidFill>
                <a:latin typeface="Poppins" panose="00000500000000000000" pitchFamily="2" charset="0"/>
                <a:cs typeface="Poppins" panose="00000500000000000000" pitchFamily="2" charset="0"/>
              </a:rPr>
              <a:t>Field Descriptions:</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Outlet Long Name: </a:t>
            </a:r>
            <a:r>
              <a:rPr lang="en-US" sz="900" dirty="0">
                <a:solidFill>
                  <a:prstClr val="black"/>
                </a:solidFill>
                <a:latin typeface="Poppins" panose="00000500000000000000" pitchFamily="2" charset="0"/>
                <a:cs typeface="Poppins" panose="00000500000000000000" pitchFamily="2" charset="0"/>
              </a:rPr>
              <a:t>The full name of the outlet. Enter the new full name if any changes are required.</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Outlet Rank: </a:t>
            </a:r>
            <a:r>
              <a:rPr lang="en-US" sz="900" dirty="0">
                <a:solidFill>
                  <a:prstClr val="black"/>
                </a:solidFill>
                <a:latin typeface="Poppins" panose="00000500000000000000" pitchFamily="2" charset="0"/>
                <a:cs typeface="Poppins" panose="00000500000000000000" pitchFamily="2" charset="0"/>
              </a:rPr>
              <a:t>The rank of the outlet within the distribution network. Modify as needed.</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Company Rank</a:t>
            </a:r>
            <a:r>
              <a:rPr lang="en-US" sz="900" dirty="0">
                <a:solidFill>
                  <a:prstClr val="black"/>
                </a:solidFill>
                <a:latin typeface="Poppins" panose="00000500000000000000" pitchFamily="2" charset="0"/>
                <a:cs typeface="Poppins" panose="00000500000000000000" pitchFamily="2" charset="0"/>
              </a:rPr>
              <a:t>: The ranking of the outlet within the company's overall structure. Adjust if necessary.</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Area Type: </a:t>
            </a:r>
            <a:r>
              <a:rPr lang="en-US" sz="900" dirty="0">
                <a:solidFill>
                  <a:prstClr val="black"/>
                </a:solidFill>
                <a:latin typeface="Poppins" panose="00000500000000000000" pitchFamily="2" charset="0"/>
                <a:cs typeface="Poppins" panose="00000500000000000000" pitchFamily="2" charset="0"/>
              </a:rPr>
              <a:t>The classification of the area where the outlet is located. Update if applicable.</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Status: </a:t>
            </a:r>
            <a:r>
              <a:rPr lang="en-US" sz="900" dirty="0">
                <a:solidFill>
                  <a:prstClr val="black"/>
                </a:solidFill>
                <a:latin typeface="Poppins" panose="00000500000000000000" pitchFamily="2" charset="0"/>
                <a:cs typeface="Poppins" panose="00000500000000000000" pitchFamily="2" charset="0"/>
              </a:rPr>
              <a:t>The current operational status of the outlet. Change if required.</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B2B Mobile Number: </a:t>
            </a:r>
            <a:r>
              <a:rPr lang="en-US" sz="900" dirty="0">
                <a:solidFill>
                  <a:prstClr val="black"/>
                </a:solidFill>
                <a:latin typeface="Poppins" panose="00000500000000000000" pitchFamily="2" charset="0"/>
                <a:cs typeface="Poppins" panose="00000500000000000000" pitchFamily="2" charset="0"/>
              </a:rPr>
              <a:t>The business-to-business mobile contact number for the outlet. Update as needed.</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Manual Order Creation: </a:t>
            </a:r>
            <a:r>
              <a:rPr lang="en-US" sz="900" dirty="0">
                <a:solidFill>
                  <a:prstClr val="black"/>
                </a:solidFill>
                <a:latin typeface="Poppins" panose="00000500000000000000" pitchFamily="2" charset="0"/>
                <a:cs typeface="Poppins" panose="00000500000000000000" pitchFamily="2" charset="0"/>
              </a:rPr>
              <a:t>Indicates whether manual order creation is enabled for the outlet. Modify if necessary.</a:t>
            </a:r>
          </a:p>
          <a:p>
            <a:pPr marL="17145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Prospect ID: </a:t>
            </a:r>
            <a:r>
              <a:rPr lang="en-US" sz="900" dirty="0">
                <a:solidFill>
                  <a:prstClr val="black"/>
                </a:solidFill>
                <a:latin typeface="Poppins" panose="00000500000000000000" pitchFamily="2" charset="0"/>
                <a:cs typeface="Poppins" panose="00000500000000000000" pitchFamily="2" charset="0"/>
              </a:rPr>
              <a:t>The unique identifier for potential prospects related to the outlet. Update if applicable.</a:t>
            </a:r>
          </a:p>
        </p:txBody>
      </p:sp>
      <p:sp>
        <p:nvSpPr>
          <p:cNvPr id="11" name="Down Arrow 10"/>
          <p:cNvSpPr/>
          <p:nvPr/>
        </p:nvSpPr>
        <p:spPr>
          <a:xfrm rot="5400000" flipH="1">
            <a:off x="2008803" y="1443855"/>
            <a:ext cx="196989" cy="445038"/>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2" name="Down Arrow 11"/>
          <p:cNvSpPr/>
          <p:nvPr/>
        </p:nvSpPr>
        <p:spPr>
          <a:xfrm rot="5400000" flipH="1">
            <a:off x="5078194" y="2392485"/>
            <a:ext cx="160472" cy="498640"/>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3" name="Down Arrow 12"/>
          <p:cNvSpPr/>
          <p:nvPr/>
        </p:nvSpPr>
        <p:spPr>
          <a:xfrm rot="16200000">
            <a:off x="7168145" y="3297223"/>
            <a:ext cx="287387" cy="2262165"/>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4" name="Oval 13">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4175356" y="1391629"/>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15" name="Oval 14">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6645139" y="2089539"/>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16" name="Oval 15">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3280350" y="3744471"/>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3</a:t>
            </a:r>
          </a:p>
        </p:txBody>
      </p:sp>
      <p:grpSp>
        <p:nvGrpSpPr>
          <p:cNvPr id="18" name="Group 17"/>
          <p:cNvGrpSpPr/>
          <p:nvPr/>
        </p:nvGrpSpPr>
        <p:grpSpPr>
          <a:xfrm>
            <a:off x="14722" y="5817375"/>
            <a:ext cx="7597280" cy="710303"/>
            <a:chOff x="308151" y="1601964"/>
            <a:chExt cx="8327849" cy="834805"/>
          </a:xfrm>
        </p:grpSpPr>
        <p:pic>
          <p:nvPicPr>
            <p:cNvPr id="19" name="Picture 18"/>
            <p:cNvPicPr>
              <a:picLocks noChangeAspect="1"/>
            </p:cNvPicPr>
            <p:nvPr/>
          </p:nvPicPr>
          <p:blipFill rotWithShape="1">
            <a:blip r:embed="rId7"/>
            <a:srcRect b="72451"/>
            <a:stretch/>
          </p:blipFill>
          <p:spPr>
            <a:xfrm>
              <a:off x="308151" y="1601964"/>
              <a:ext cx="8327849" cy="378789"/>
            </a:xfrm>
            <a:prstGeom prst="rect">
              <a:avLst/>
            </a:prstGeom>
          </p:spPr>
        </p:pic>
        <p:pic>
          <p:nvPicPr>
            <p:cNvPr id="20" name="Picture 19"/>
            <p:cNvPicPr>
              <a:picLocks noChangeAspect="1"/>
            </p:cNvPicPr>
            <p:nvPr/>
          </p:nvPicPr>
          <p:blipFill rotWithShape="1">
            <a:blip r:embed="rId7"/>
            <a:srcRect t="68175"/>
            <a:stretch/>
          </p:blipFill>
          <p:spPr>
            <a:xfrm>
              <a:off x="308151" y="1972486"/>
              <a:ext cx="8327849" cy="464283"/>
            </a:xfrm>
            <a:prstGeom prst="rect">
              <a:avLst/>
            </a:prstGeom>
          </p:spPr>
        </p:pic>
      </p:grpSp>
      <p:sp>
        <p:nvSpPr>
          <p:cNvPr id="21" name="Rectangle 20">
            <a:extLst>
              <a:ext uri="{FF2B5EF4-FFF2-40B4-BE49-F238E27FC236}">
                <a16:creationId xmlns:a16="http://schemas.microsoft.com/office/drawing/2014/main" id="{54C59EDC-66D9-563B-2028-C02A9809FDF9}"/>
              </a:ext>
            </a:extLst>
          </p:cNvPr>
          <p:cNvSpPr/>
          <p:nvPr/>
        </p:nvSpPr>
        <p:spPr>
          <a:xfrm>
            <a:off x="7997048" y="5372978"/>
            <a:ext cx="4061703" cy="1492716"/>
          </a:xfrm>
          <a:prstGeom prst="rect">
            <a:avLst/>
          </a:prstGeom>
          <a:solidFill>
            <a:srgbClr val="F2F2F2"/>
          </a:solidFill>
          <a:ln>
            <a:solidFill>
              <a:srgbClr val="667D9E"/>
            </a:solidFill>
          </a:ln>
          <a:effectLst/>
        </p:spPr>
        <p:txBody>
          <a:bodyPr wrap="square" anchor="ctr">
            <a:spAutoFit/>
          </a:bodyPr>
          <a:lstStyle/>
          <a:p>
            <a:r>
              <a:rPr lang="en-US" sz="1000" b="1" u="sng" dirty="0">
                <a:solidFill>
                  <a:srgbClr val="0070C0"/>
                </a:solidFill>
                <a:latin typeface="Poppins" panose="00000500000000000000" pitchFamily="2" charset="0"/>
                <a:cs typeface="Poppins" panose="00000500000000000000" pitchFamily="2" charset="0"/>
              </a:rPr>
              <a:t>Modifying Outlet Attributes</a:t>
            </a:r>
          </a:p>
          <a:p>
            <a:r>
              <a:rPr lang="en-US" sz="900" dirty="0">
                <a:solidFill>
                  <a:prstClr val="black"/>
                </a:solidFill>
                <a:latin typeface="Poppins" panose="00000500000000000000" pitchFamily="2" charset="0"/>
                <a:cs typeface="Poppins" panose="00000500000000000000" pitchFamily="2" charset="0"/>
              </a:rPr>
              <a:t>To modify an outlet's attributes, follow these steps:</a:t>
            </a:r>
          </a:p>
          <a:p>
            <a:pPr marL="171450" lvl="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Select an Outlet: </a:t>
            </a:r>
            <a:r>
              <a:rPr lang="en-US" sz="900" dirty="0">
                <a:solidFill>
                  <a:prstClr val="black"/>
                </a:solidFill>
                <a:latin typeface="Poppins" panose="00000500000000000000" pitchFamily="2" charset="0"/>
                <a:cs typeface="Poppins" panose="00000500000000000000" pitchFamily="2" charset="0"/>
              </a:rPr>
              <a:t>Click on the desired outlet from the list to view and edit its attributes.</a:t>
            </a:r>
          </a:p>
          <a:p>
            <a:pPr marL="171450" lvl="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Edit Attributes: </a:t>
            </a:r>
            <a:r>
              <a:rPr lang="en-US" sz="900" dirty="0">
                <a:solidFill>
                  <a:prstClr val="black"/>
                </a:solidFill>
                <a:latin typeface="Poppins" panose="00000500000000000000" pitchFamily="2" charset="0"/>
                <a:cs typeface="Poppins" panose="00000500000000000000" pitchFamily="2" charset="0"/>
              </a:rPr>
              <a:t>Modify the necessary attributes of the selected outlet as needed.</a:t>
            </a:r>
          </a:p>
          <a:p>
            <a:pPr marL="171450" lvl="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Submit for Approval: </a:t>
            </a:r>
            <a:r>
              <a:rPr lang="en-US" sz="900" dirty="0">
                <a:solidFill>
                  <a:prstClr val="black"/>
                </a:solidFill>
                <a:latin typeface="Poppins" panose="00000500000000000000" pitchFamily="2" charset="0"/>
                <a:cs typeface="Poppins" panose="00000500000000000000" pitchFamily="2" charset="0"/>
              </a:rPr>
              <a:t>Click the 'Forward for Approval' button to submit the modifications.</a:t>
            </a:r>
          </a:p>
          <a:p>
            <a:pPr marL="171450" lvl="0" indent="-171450">
              <a:buFont typeface="Wingdings" panose="05000000000000000000" pitchFamily="2" charset="2"/>
              <a:buChar char="q"/>
            </a:pPr>
            <a:r>
              <a:rPr lang="en-US" sz="900" b="1" dirty="0">
                <a:solidFill>
                  <a:prstClr val="black"/>
                </a:solidFill>
                <a:latin typeface="Poppins" panose="00000500000000000000" pitchFamily="2" charset="0"/>
                <a:cs typeface="Poppins" panose="00000500000000000000" pitchFamily="2" charset="0"/>
              </a:rPr>
              <a:t>Review Changes: </a:t>
            </a:r>
            <a:r>
              <a:rPr lang="en-US" sz="900" dirty="0">
                <a:solidFill>
                  <a:prstClr val="black"/>
                </a:solidFill>
                <a:latin typeface="Poppins" panose="00000500000000000000" pitchFamily="2" charset="0"/>
                <a:cs typeface="Poppins" panose="00000500000000000000" pitchFamily="2" charset="0"/>
              </a:rPr>
              <a:t>The generated request will appear in the grid above for review and approval.</a:t>
            </a:r>
          </a:p>
        </p:txBody>
      </p:sp>
      <p:sp>
        <p:nvSpPr>
          <p:cNvPr id="22" name="Down Arrow 21"/>
          <p:cNvSpPr/>
          <p:nvPr/>
        </p:nvSpPr>
        <p:spPr>
          <a:xfrm rot="16200000">
            <a:off x="7694352" y="5921568"/>
            <a:ext cx="240406" cy="364986"/>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23" name="Oval 22">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9809725" y="5236819"/>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4</a:t>
            </a:r>
          </a:p>
        </p:txBody>
      </p:sp>
      <p:sp>
        <p:nvSpPr>
          <p:cNvPr id="24" name="Rectangle 23"/>
          <p:cNvSpPr/>
          <p:nvPr/>
        </p:nvSpPr>
        <p:spPr>
          <a:xfrm>
            <a:off x="84506" y="1426876"/>
            <a:ext cx="1763585" cy="8151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5"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Change Track Outlet Operative Info</a:t>
            </a:r>
          </a:p>
        </p:txBody>
      </p:sp>
      <p:sp>
        <p:nvSpPr>
          <p:cNvPr id="26" name="Rectangle 25">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Modify Attributes of Operative Info</a:t>
            </a:r>
          </a:p>
        </p:txBody>
      </p:sp>
    </p:spTree>
    <p:extLst>
      <p:ext uri="{BB962C8B-B14F-4D97-AF65-F5344CB8AC3E}">
        <p14:creationId xmlns:p14="http://schemas.microsoft.com/office/powerpoint/2010/main" val="1392676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b="56425"/>
          <a:stretch/>
        </p:blipFill>
        <p:spPr>
          <a:xfrm>
            <a:off x="2314399" y="3058685"/>
            <a:ext cx="9877601" cy="890060"/>
          </a:xfrm>
          <a:prstGeom prst="rect">
            <a:avLst/>
          </a:prstGeom>
        </p:spPr>
      </p:pic>
      <p:pic>
        <p:nvPicPr>
          <p:cNvPr id="5" name="Picture 4"/>
          <p:cNvPicPr>
            <a:picLocks noChangeAspect="1"/>
          </p:cNvPicPr>
          <p:nvPr/>
        </p:nvPicPr>
        <p:blipFill>
          <a:blip r:embed="rId3"/>
          <a:stretch>
            <a:fillRect/>
          </a:stretch>
        </p:blipFill>
        <p:spPr>
          <a:xfrm>
            <a:off x="2743375" y="4273587"/>
            <a:ext cx="9369602" cy="2236272"/>
          </a:xfrm>
          <a:prstGeom prst="rect">
            <a:avLst/>
          </a:prstGeom>
        </p:spPr>
      </p:pic>
      <p:pic>
        <p:nvPicPr>
          <p:cNvPr id="6" name="Picture 5"/>
          <p:cNvPicPr>
            <a:picLocks noChangeAspect="1"/>
          </p:cNvPicPr>
          <p:nvPr/>
        </p:nvPicPr>
        <p:blipFill>
          <a:blip r:embed="rId4"/>
          <a:stretch>
            <a:fillRect/>
          </a:stretch>
        </p:blipFill>
        <p:spPr>
          <a:xfrm>
            <a:off x="2931513" y="1879861"/>
            <a:ext cx="9181464" cy="941689"/>
          </a:xfrm>
          <a:prstGeom prst="rect">
            <a:avLst/>
          </a:prstGeom>
        </p:spPr>
      </p:pic>
      <p:pic>
        <p:nvPicPr>
          <p:cNvPr id="8" name="Picture 7"/>
          <p:cNvPicPr>
            <a:picLocks noChangeAspect="1"/>
          </p:cNvPicPr>
          <p:nvPr/>
        </p:nvPicPr>
        <p:blipFill>
          <a:blip r:embed="rId5"/>
          <a:stretch>
            <a:fillRect/>
          </a:stretch>
        </p:blipFill>
        <p:spPr>
          <a:xfrm>
            <a:off x="85902" y="1157142"/>
            <a:ext cx="1743075" cy="1104900"/>
          </a:xfrm>
          <a:prstGeom prst="rect">
            <a:avLst/>
          </a:prstGeom>
        </p:spPr>
      </p:pic>
      <p:sp>
        <p:nvSpPr>
          <p:cNvPr id="10" name="Rectangle 9">
            <a:extLst>
              <a:ext uri="{FF2B5EF4-FFF2-40B4-BE49-F238E27FC236}">
                <a16:creationId xmlns:a16="http://schemas.microsoft.com/office/drawing/2014/main" id="{54C59EDC-66D9-563B-2028-C02A9809FDF9}"/>
              </a:ext>
            </a:extLst>
          </p:cNvPr>
          <p:cNvSpPr/>
          <p:nvPr/>
        </p:nvSpPr>
        <p:spPr>
          <a:xfrm>
            <a:off x="2068307" y="1070013"/>
            <a:ext cx="6982338" cy="230832"/>
          </a:xfrm>
          <a:prstGeom prst="rect">
            <a:avLst/>
          </a:prstGeom>
          <a:solidFill>
            <a:srgbClr val="F2F2F2"/>
          </a:solidFill>
          <a:ln>
            <a:solidFill>
              <a:srgbClr val="667D9E"/>
            </a:solidFill>
          </a:ln>
          <a:effectLst/>
        </p:spPr>
        <p:txBody>
          <a:bodyPr wrap="square" anchor="ctr">
            <a:spAutoFit/>
          </a:bodyPr>
          <a:lstStyle/>
          <a:p>
            <a:r>
              <a:rPr lang="en-US" sz="900" dirty="0">
                <a:solidFill>
                  <a:prstClr val="black"/>
                </a:solidFill>
                <a:latin typeface="Poppins" panose="00000500000000000000" pitchFamily="2" charset="0"/>
                <a:cs typeface="Poppins" panose="00000500000000000000" pitchFamily="2" charset="0"/>
              </a:rPr>
              <a:t>In this interface, users have the capability to modify documents of approved outlets.</a:t>
            </a:r>
          </a:p>
        </p:txBody>
      </p:sp>
      <p:sp>
        <p:nvSpPr>
          <p:cNvPr id="11" name="Down Arrow 10"/>
          <p:cNvSpPr/>
          <p:nvPr/>
        </p:nvSpPr>
        <p:spPr>
          <a:xfrm rot="5400000" flipH="1">
            <a:off x="1824820" y="1564521"/>
            <a:ext cx="230832" cy="222519"/>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2" name="Rectangle 11">
            <a:extLst>
              <a:ext uri="{FF2B5EF4-FFF2-40B4-BE49-F238E27FC236}">
                <a16:creationId xmlns:a16="http://schemas.microsoft.com/office/drawing/2014/main" id="{8B748B0B-64E6-CE46-D322-278F93E27F0E}"/>
              </a:ext>
            </a:extLst>
          </p:cNvPr>
          <p:cNvSpPr/>
          <p:nvPr/>
        </p:nvSpPr>
        <p:spPr>
          <a:xfrm>
            <a:off x="2051496" y="1473716"/>
            <a:ext cx="4171519" cy="318056"/>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r>
              <a:rPr lang="en-US" sz="1000" dirty="0">
                <a:solidFill>
                  <a:schemeClr val="tx1"/>
                </a:solidFill>
                <a:latin typeface="Poppins" panose="00000500000000000000" pitchFamily="2" charset="0"/>
                <a:cs typeface="Poppins" panose="00000500000000000000" pitchFamily="2" charset="0"/>
              </a:rPr>
              <a:t>Search </a:t>
            </a:r>
            <a:r>
              <a:rPr lang="en-US" sz="1000" b="1" dirty="0">
                <a:solidFill>
                  <a:schemeClr val="tx1"/>
                </a:solidFill>
                <a:latin typeface="Poppins" panose="00000500000000000000" pitchFamily="2" charset="0"/>
                <a:cs typeface="Poppins" panose="00000500000000000000" pitchFamily="2" charset="0"/>
              </a:rPr>
              <a:t>Change Track Outlet Operative Info </a:t>
            </a:r>
            <a:r>
              <a:rPr lang="en-US" sz="1000" dirty="0">
                <a:solidFill>
                  <a:schemeClr val="tx1"/>
                </a:solidFill>
                <a:latin typeface="Poppins" panose="00000500000000000000" pitchFamily="2" charset="0"/>
                <a:cs typeface="Poppins" panose="00000500000000000000" pitchFamily="2" charset="0"/>
              </a:rPr>
              <a:t>in the search bar.</a:t>
            </a:r>
          </a:p>
        </p:txBody>
      </p:sp>
      <p:sp>
        <p:nvSpPr>
          <p:cNvPr id="13" name="Rectangle 12">
            <a:extLst>
              <a:ext uri="{FF2B5EF4-FFF2-40B4-BE49-F238E27FC236}">
                <a16:creationId xmlns:a16="http://schemas.microsoft.com/office/drawing/2014/main" id="{8B748B0B-64E6-CE46-D322-278F93E27F0E}"/>
              </a:ext>
            </a:extLst>
          </p:cNvPr>
          <p:cNvSpPr/>
          <p:nvPr/>
        </p:nvSpPr>
        <p:spPr>
          <a:xfrm>
            <a:off x="23990" y="2324952"/>
            <a:ext cx="2561465" cy="408891"/>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The grid displays requests generated by users for document modifications.</a:t>
            </a:r>
          </a:p>
        </p:txBody>
      </p:sp>
      <p:sp>
        <p:nvSpPr>
          <p:cNvPr id="14" name="Down Arrow 13"/>
          <p:cNvSpPr/>
          <p:nvPr/>
        </p:nvSpPr>
        <p:spPr>
          <a:xfrm rot="16200000">
            <a:off x="2638930" y="2303858"/>
            <a:ext cx="239111" cy="346060"/>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5" name="Rectangle 14">
            <a:extLst>
              <a:ext uri="{FF2B5EF4-FFF2-40B4-BE49-F238E27FC236}">
                <a16:creationId xmlns:a16="http://schemas.microsoft.com/office/drawing/2014/main" id="{54C59EDC-66D9-563B-2028-C02A9809FDF9}"/>
              </a:ext>
            </a:extLst>
          </p:cNvPr>
          <p:cNvSpPr/>
          <p:nvPr/>
        </p:nvSpPr>
        <p:spPr>
          <a:xfrm>
            <a:off x="43235" y="2849918"/>
            <a:ext cx="2008261" cy="1292662"/>
          </a:xfrm>
          <a:prstGeom prst="rect">
            <a:avLst/>
          </a:prstGeom>
          <a:solidFill>
            <a:srgbClr val="F2F2F2"/>
          </a:solidFill>
          <a:ln>
            <a:solidFill>
              <a:srgbClr val="667D9E"/>
            </a:solidFill>
          </a:ln>
          <a:effectLst/>
        </p:spPr>
        <p:txBody>
          <a:bodyPr wrap="square" anchor="ctr">
            <a:spAutoFit/>
          </a:bodyPr>
          <a:lstStyle/>
          <a:p>
            <a:endParaRPr lang="en-US" sz="900" b="1" dirty="0">
              <a:solidFill>
                <a:srgbClr val="1D4EAA"/>
              </a:solidFill>
              <a:latin typeface="Poppins" panose="00000500000000000000" pitchFamily="2" charset="0"/>
              <a:cs typeface="Poppins" panose="00000500000000000000" pitchFamily="2" charset="0"/>
            </a:endParaRPr>
          </a:p>
          <a:p>
            <a:r>
              <a:rPr lang="en-US" sz="1000" b="1" u="sng" dirty="0">
                <a:solidFill>
                  <a:srgbClr val="0070C0"/>
                </a:solidFill>
                <a:latin typeface="Poppins" panose="00000500000000000000" pitchFamily="2" charset="0"/>
                <a:cs typeface="Poppins" panose="00000500000000000000" pitchFamily="2" charset="0"/>
              </a:rPr>
              <a:t>List of Outlets</a:t>
            </a:r>
          </a:p>
          <a:p>
            <a:pPr algn="just"/>
            <a:r>
              <a:rPr lang="en-US" sz="1000" dirty="0">
                <a:solidFill>
                  <a:prstClr val="black"/>
                </a:solidFill>
                <a:latin typeface="Poppins" panose="00000500000000000000" pitchFamily="2" charset="0"/>
                <a:cs typeface="Poppins" panose="00000500000000000000" pitchFamily="2" charset="0"/>
              </a:rPr>
              <a:t>Upon accessing the screen, users will be presented with a comprehensive list of outlets. This list displays all currently approved outlets.</a:t>
            </a:r>
          </a:p>
          <a:p>
            <a:endParaRPr lang="en-US" sz="900" dirty="0"/>
          </a:p>
        </p:txBody>
      </p:sp>
      <p:sp>
        <p:nvSpPr>
          <p:cNvPr id="16" name="Down Arrow 15"/>
          <p:cNvSpPr/>
          <p:nvPr/>
        </p:nvSpPr>
        <p:spPr>
          <a:xfrm rot="16200000">
            <a:off x="2055882" y="3365213"/>
            <a:ext cx="254134" cy="262903"/>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7" name="Rectangle 16">
            <a:extLst>
              <a:ext uri="{FF2B5EF4-FFF2-40B4-BE49-F238E27FC236}">
                <a16:creationId xmlns:a16="http://schemas.microsoft.com/office/drawing/2014/main" id="{54C59EDC-66D9-563B-2028-C02A9809FDF9}"/>
              </a:ext>
            </a:extLst>
          </p:cNvPr>
          <p:cNvSpPr/>
          <p:nvPr/>
        </p:nvSpPr>
        <p:spPr>
          <a:xfrm>
            <a:off x="85903" y="4158171"/>
            <a:ext cx="2499552" cy="2539157"/>
          </a:xfrm>
          <a:prstGeom prst="rect">
            <a:avLst/>
          </a:prstGeom>
          <a:solidFill>
            <a:srgbClr val="F2F2F2"/>
          </a:solidFill>
          <a:ln>
            <a:solidFill>
              <a:srgbClr val="667D9E"/>
            </a:solidFill>
          </a:ln>
          <a:effectLst/>
        </p:spPr>
        <p:txBody>
          <a:bodyPr wrap="square" anchor="ctr">
            <a:spAutoFit/>
          </a:bodyPr>
          <a:lstStyle/>
          <a:p>
            <a:endParaRPr lang="en-US" sz="900" b="1" dirty="0">
              <a:solidFill>
                <a:srgbClr val="1D4EAA"/>
              </a:solidFill>
              <a:latin typeface="Poppins" panose="00000500000000000000" pitchFamily="2" charset="0"/>
              <a:cs typeface="Poppins" panose="00000500000000000000" pitchFamily="2" charset="0"/>
            </a:endParaRPr>
          </a:p>
          <a:p>
            <a:r>
              <a:rPr lang="en-US" sz="1000" b="1" u="sng" dirty="0">
                <a:solidFill>
                  <a:srgbClr val="0070C0"/>
                </a:solidFill>
                <a:latin typeface="Poppins" panose="00000500000000000000" pitchFamily="2" charset="0"/>
                <a:cs typeface="Poppins" panose="00000500000000000000" pitchFamily="2" charset="0"/>
              </a:rPr>
              <a:t>Modifying Outlet Attributes</a:t>
            </a:r>
          </a:p>
          <a:p>
            <a:r>
              <a:rPr lang="en-US" sz="1000" dirty="0">
                <a:solidFill>
                  <a:prstClr val="black"/>
                </a:solidFill>
                <a:latin typeface="Poppins" panose="00000500000000000000" pitchFamily="2" charset="0"/>
                <a:cs typeface="Poppins" panose="00000500000000000000" pitchFamily="2" charset="0"/>
              </a:rPr>
              <a:t>To modify an outlet's attributes, follow these steps:</a:t>
            </a:r>
          </a:p>
          <a:p>
            <a:pPr marL="171450" lvl="0" indent="-171450">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Select an Outlet: </a:t>
            </a:r>
            <a:r>
              <a:rPr lang="en-US" sz="1000" dirty="0">
                <a:solidFill>
                  <a:prstClr val="black"/>
                </a:solidFill>
                <a:latin typeface="Poppins" panose="00000500000000000000" pitchFamily="2" charset="0"/>
                <a:cs typeface="Poppins" panose="00000500000000000000" pitchFamily="2" charset="0"/>
              </a:rPr>
              <a:t>Click on the desired outlet from the list to view and edit its attributes.</a:t>
            </a:r>
          </a:p>
          <a:p>
            <a:pPr marL="171450" lvl="0" indent="-171450">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Select the document: </a:t>
            </a:r>
            <a:r>
              <a:rPr lang="en-US" sz="1000" dirty="0">
                <a:solidFill>
                  <a:prstClr val="black"/>
                </a:solidFill>
                <a:latin typeface="Poppins" panose="00000500000000000000" pitchFamily="2" charset="0"/>
                <a:cs typeface="Poppins" panose="00000500000000000000" pitchFamily="2" charset="0"/>
              </a:rPr>
              <a:t>Click on the document from the list to edit its number. </a:t>
            </a:r>
          </a:p>
          <a:p>
            <a:pPr marL="171450" lvl="0" indent="-171450">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Submit for Approval: </a:t>
            </a:r>
            <a:r>
              <a:rPr lang="en-US" sz="1000" dirty="0">
                <a:solidFill>
                  <a:prstClr val="black"/>
                </a:solidFill>
                <a:latin typeface="Poppins" panose="00000500000000000000" pitchFamily="2" charset="0"/>
                <a:cs typeface="Poppins" panose="00000500000000000000" pitchFamily="2" charset="0"/>
              </a:rPr>
              <a:t>Click the 'Forward for Approval' button to submit the modifications.</a:t>
            </a:r>
          </a:p>
          <a:p>
            <a:pPr marL="171450" lvl="0" indent="-171450">
              <a:buFont typeface="Wingdings" panose="05000000000000000000" pitchFamily="2" charset="2"/>
              <a:buChar char="q"/>
            </a:pPr>
            <a:r>
              <a:rPr lang="en-US" sz="1000" b="1" dirty="0">
                <a:solidFill>
                  <a:prstClr val="black"/>
                </a:solidFill>
                <a:latin typeface="Poppins" panose="00000500000000000000" pitchFamily="2" charset="0"/>
                <a:cs typeface="Poppins" panose="00000500000000000000" pitchFamily="2" charset="0"/>
              </a:rPr>
              <a:t>Review Changes: </a:t>
            </a:r>
            <a:r>
              <a:rPr lang="en-US" sz="1000" dirty="0">
                <a:solidFill>
                  <a:prstClr val="black"/>
                </a:solidFill>
                <a:latin typeface="Poppins" panose="00000500000000000000" pitchFamily="2" charset="0"/>
                <a:cs typeface="Poppins" panose="00000500000000000000" pitchFamily="2" charset="0"/>
              </a:rPr>
              <a:t>The generated request will appear in the grid above for review and approval.</a:t>
            </a:r>
          </a:p>
        </p:txBody>
      </p:sp>
      <p:sp>
        <p:nvSpPr>
          <p:cNvPr id="18" name="Down Arrow 17"/>
          <p:cNvSpPr/>
          <p:nvPr/>
        </p:nvSpPr>
        <p:spPr>
          <a:xfrm rot="16200000">
            <a:off x="2589838" y="5299220"/>
            <a:ext cx="254134" cy="262903"/>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20" name="Oval 19">
            <a:hlinkClick r:id="rId6" action="ppaction://hlinksldjump" highlightClick="1">
              <a:snd r:embed="rId7" name="arrow.wav"/>
            </a:hlinkClick>
            <a:extLst>
              <a:ext uri="{FF2B5EF4-FFF2-40B4-BE49-F238E27FC236}">
                <a16:creationId xmlns:a16="http://schemas.microsoft.com/office/drawing/2014/main" id="{1A334743-2C87-530F-0112-BDA6DFE16E75}"/>
              </a:ext>
            </a:extLst>
          </p:cNvPr>
          <p:cNvSpPr/>
          <p:nvPr/>
        </p:nvSpPr>
        <p:spPr>
          <a:xfrm>
            <a:off x="3973560" y="1318075"/>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21" name="Oval 20">
            <a:hlinkClick r:id="rId6" action="ppaction://hlinksldjump" highlightClick="1">
              <a:snd r:embed="rId7" name="arrow.wav"/>
            </a:hlinkClick>
            <a:extLst>
              <a:ext uri="{FF2B5EF4-FFF2-40B4-BE49-F238E27FC236}">
                <a16:creationId xmlns:a16="http://schemas.microsoft.com/office/drawing/2014/main" id="{1A334743-2C87-530F-0112-BDA6DFE16E75}"/>
              </a:ext>
            </a:extLst>
          </p:cNvPr>
          <p:cNvSpPr/>
          <p:nvPr/>
        </p:nvSpPr>
        <p:spPr>
          <a:xfrm>
            <a:off x="1047365" y="2178643"/>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22" name="Oval 21">
            <a:hlinkClick r:id="rId6" action="ppaction://hlinksldjump" highlightClick="1">
              <a:snd r:embed="rId7" name="arrow.wav"/>
            </a:hlinkClick>
            <a:extLst>
              <a:ext uri="{FF2B5EF4-FFF2-40B4-BE49-F238E27FC236}">
                <a16:creationId xmlns:a16="http://schemas.microsoft.com/office/drawing/2014/main" id="{1A334743-2C87-530F-0112-BDA6DFE16E75}"/>
              </a:ext>
            </a:extLst>
          </p:cNvPr>
          <p:cNvSpPr/>
          <p:nvPr/>
        </p:nvSpPr>
        <p:spPr>
          <a:xfrm>
            <a:off x="848352" y="2785986"/>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3</a:t>
            </a:r>
          </a:p>
        </p:txBody>
      </p:sp>
      <p:sp>
        <p:nvSpPr>
          <p:cNvPr id="23" name="Oval 22">
            <a:hlinkClick r:id="rId6" action="ppaction://hlinksldjump" highlightClick="1">
              <a:snd r:embed="rId7" name="arrow.wav"/>
            </a:hlinkClick>
            <a:extLst>
              <a:ext uri="{FF2B5EF4-FFF2-40B4-BE49-F238E27FC236}">
                <a16:creationId xmlns:a16="http://schemas.microsoft.com/office/drawing/2014/main" id="{1A334743-2C87-530F-0112-BDA6DFE16E75}"/>
              </a:ext>
            </a:extLst>
          </p:cNvPr>
          <p:cNvSpPr/>
          <p:nvPr/>
        </p:nvSpPr>
        <p:spPr>
          <a:xfrm>
            <a:off x="1156452" y="4163489"/>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4</a:t>
            </a:r>
          </a:p>
        </p:txBody>
      </p:sp>
      <p:sp>
        <p:nvSpPr>
          <p:cNvPr id="25" name="Rectangle 24"/>
          <p:cNvSpPr/>
          <p:nvPr/>
        </p:nvSpPr>
        <p:spPr>
          <a:xfrm>
            <a:off x="77685" y="1157142"/>
            <a:ext cx="1751290" cy="10059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6"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Change Track Outlet Document</a:t>
            </a:r>
          </a:p>
        </p:txBody>
      </p:sp>
      <p:sp>
        <p:nvSpPr>
          <p:cNvPr id="27" name="Rectangle 26">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Modify Attributes of Outlet Document</a:t>
            </a:r>
          </a:p>
        </p:txBody>
      </p:sp>
    </p:spTree>
    <p:extLst>
      <p:ext uri="{BB962C8B-B14F-4D97-AF65-F5344CB8AC3E}">
        <p14:creationId xmlns:p14="http://schemas.microsoft.com/office/powerpoint/2010/main" val="3941138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114662" y="1316680"/>
            <a:ext cx="1962150" cy="1076325"/>
          </a:xfrm>
          <a:prstGeom prst="rect">
            <a:avLst/>
          </a:prstGeom>
        </p:spPr>
      </p:pic>
      <p:sp>
        <p:nvSpPr>
          <p:cNvPr id="12" name="Rectangle 11">
            <a:extLst>
              <a:ext uri="{FF2B5EF4-FFF2-40B4-BE49-F238E27FC236}">
                <a16:creationId xmlns:a16="http://schemas.microsoft.com/office/drawing/2014/main" id="{8B748B0B-64E6-CE46-D322-278F93E27F0E}"/>
              </a:ext>
            </a:extLst>
          </p:cNvPr>
          <p:cNvSpPr/>
          <p:nvPr/>
        </p:nvSpPr>
        <p:spPr>
          <a:xfrm>
            <a:off x="2456303" y="1699900"/>
            <a:ext cx="4164109" cy="303589"/>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r>
              <a:rPr lang="en-US" sz="1000" dirty="0">
                <a:solidFill>
                  <a:schemeClr val="tx1"/>
                </a:solidFill>
                <a:latin typeface="Poppins" panose="00000500000000000000" pitchFamily="2" charset="0"/>
                <a:cs typeface="Poppins" panose="00000500000000000000" pitchFamily="2" charset="0"/>
              </a:rPr>
              <a:t>Search </a:t>
            </a:r>
            <a:r>
              <a:rPr lang="en-US" sz="1000" b="1" dirty="0">
                <a:solidFill>
                  <a:schemeClr val="tx1"/>
                </a:solidFill>
                <a:latin typeface="Poppins" panose="00000500000000000000" pitchFamily="2" charset="0"/>
                <a:cs typeface="Poppins" panose="00000500000000000000" pitchFamily="2" charset="0"/>
              </a:rPr>
              <a:t>Analysis Classification Outlet  </a:t>
            </a:r>
            <a:r>
              <a:rPr lang="en-US" sz="1000" dirty="0">
                <a:solidFill>
                  <a:schemeClr val="tx1"/>
                </a:solidFill>
                <a:latin typeface="Poppins" panose="00000500000000000000" pitchFamily="2" charset="0"/>
                <a:cs typeface="Poppins" panose="00000500000000000000" pitchFamily="2" charset="0"/>
              </a:rPr>
              <a:t>in the search bar.</a:t>
            </a:r>
          </a:p>
        </p:txBody>
      </p:sp>
      <p:pic>
        <p:nvPicPr>
          <p:cNvPr id="13" name="Picture 12"/>
          <p:cNvPicPr>
            <a:picLocks noChangeAspect="1"/>
          </p:cNvPicPr>
          <p:nvPr/>
        </p:nvPicPr>
        <p:blipFill>
          <a:blip r:embed="rId3"/>
          <a:stretch>
            <a:fillRect/>
          </a:stretch>
        </p:blipFill>
        <p:spPr>
          <a:xfrm>
            <a:off x="90609" y="2474683"/>
            <a:ext cx="9712426" cy="1679425"/>
          </a:xfrm>
          <a:prstGeom prst="rect">
            <a:avLst/>
          </a:prstGeom>
        </p:spPr>
      </p:pic>
      <p:pic>
        <p:nvPicPr>
          <p:cNvPr id="14" name="Picture 13"/>
          <p:cNvPicPr>
            <a:picLocks noChangeAspect="1"/>
          </p:cNvPicPr>
          <p:nvPr/>
        </p:nvPicPr>
        <p:blipFill>
          <a:blip r:embed="rId4"/>
          <a:stretch>
            <a:fillRect/>
          </a:stretch>
        </p:blipFill>
        <p:spPr>
          <a:xfrm>
            <a:off x="90609" y="4770439"/>
            <a:ext cx="9827991" cy="1935483"/>
          </a:xfrm>
          <a:prstGeom prst="rect">
            <a:avLst/>
          </a:prstGeom>
        </p:spPr>
      </p:pic>
      <p:sp>
        <p:nvSpPr>
          <p:cNvPr id="15" name="Rectangle 14">
            <a:extLst>
              <a:ext uri="{FF2B5EF4-FFF2-40B4-BE49-F238E27FC236}">
                <a16:creationId xmlns:a16="http://schemas.microsoft.com/office/drawing/2014/main" id="{8B748B0B-64E6-CE46-D322-278F93E27F0E}"/>
              </a:ext>
            </a:extLst>
          </p:cNvPr>
          <p:cNvSpPr/>
          <p:nvPr/>
        </p:nvSpPr>
        <p:spPr>
          <a:xfrm>
            <a:off x="2187191" y="1066340"/>
            <a:ext cx="7498675" cy="361467"/>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000" dirty="0">
              <a:solidFill>
                <a:schemeClr val="tx1"/>
              </a:solidFill>
              <a:latin typeface="Poppins" panose="00000500000000000000" pitchFamily="2" charset="0"/>
              <a:cs typeface="Poppins" panose="00000500000000000000" pitchFamily="2" charset="0"/>
            </a:endParaRPr>
          </a:p>
          <a:p>
            <a:pPr algn="just"/>
            <a:r>
              <a:rPr lang="en-US" sz="1000" dirty="0">
                <a:solidFill>
                  <a:schemeClr val="tx1"/>
                </a:solidFill>
                <a:latin typeface="Poppins" panose="00000500000000000000" pitchFamily="2" charset="0"/>
                <a:cs typeface="Poppins" panose="00000500000000000000" pitchFamily="2" charset="0"/>
              </a:rPr>
              <a:t>This interface categorizes outlets based on classification criteria, providing both grouped and detailed levels.</a:t>
            </a:r>
          </a:p>
          <a:p>
            <a:pPr lvl="0" algn="just"/>
            <a:endParaRPr lang="en-US" sz="1000" dirty="0">
              <a:solidFill>
                <a:schemeClr val="tx1"/>
              </a:solidFill>
              <a:latin typeface="Poppins" panose="00000500000000000000" pitchFamily="2" charset="0"/>
              <a:cs typeface="Poppins" panose="00000500000000000000" pitchFamily="2" charset="0"/>
            </a:endParaRPr>
          </a:p>
        </p:txBody>
      </p:sp>
      <p:sp>
        <p:nvSpPr>
          <p:cNvPr id="16" name="Down Arrow 15"/>
          <p:cNvSpPr/>
          <p:nvPr/>
        </p:nvSpPr>
        <p:spPr>
          <a:xfrm rot="5400000" flipH="1">
            <a:off x="2071303" y="1646449"/>
            <a:ext cx="307800" cy="448632"/>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8" name="Rectangle 17">
            <a:extLst>
              <a:ext uri="{FF2B5EF4-FFF2-40B4-BE49-F238E27FC236}">
                <a16:creationId xmlns:a16="http://schemas.microsoft.com/office/drawing/2014/main" id="{8B748B0B-64E6-CE46-D322-278F93E27F0E}"/>
              </a:ext>
            </a:extLst>
          </p:cNvPr>
          <p:cNvSpPr/>
          <p:nvPr/>
        </p:nvSpPr>
        <p:spPr>
          <a:xfrm>
            <a:off x="70280" y="4279205"/>
            <a:ext cx="6341270" cy="39945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000" dirty="0">
              <a:solidFill>
                <a:schemeClr val="tx1"/>
              </a:solidFill>
              <a:latin typeface="Poppins" panose="00000500000000000000" pitchFamily="2" charset="0"/>
              <a:cs typeface="Poppins" panose="00000500000000000000" pitchFamily="2" charset="0"/>
            </a:endParaRPr>
          </a:p>
          <a:p>
            <a:pPr lvl="0"/>
            <a:r>
              <a:rPr lang="en-US" sz="1000" dirty="0">
                <a:solidFill>
                  <a:schemeClr val="tx1"/>
                </a:solidFill>
                <a:latin typeface="Poppins" panose="00000500000000000000" pitchFamily="2" charset="0"/>
                <a:cs typeface="Poppins" panose="00000500000000000000" pitchFamily="2" charset="0"/>
              </a:rPr>
              <a:t>Users can view outlet categories segregated into different classifications on the below grid.</a:t>
            </a:r>
          </a:p>
          <a:p>
            <a:pPr lvl="0" algn="just"/>
            <a:endParaRPr lang="en-US" sz="1000" dirty="0">
              <a:solidFill>
                <a:schemeClr val="tx1"/>
              </a:solidFill>
              <a:latin typeface="Poppins" panose="00000500000000000000" pitchFamily="2" charset="0"/>
              <a:cs typeface="Poppins" panose="00000500000000000000" pitchFamily="2" charset="0"/>
            </a:endParaRPr>
          </a:p>
        </p:txBody>
      </p:sp>
      <p:sp>
        <p:nvSpPr>
          <p:cNvPr id="19" name="Rectangle 18">
            <a:extLst>
              <a:ext uri="{FF2B5EF4-FFF2-40B4-BE49-F238E27FC236}">
                <a16:creationId xmlns:a16="http://schemas.microsoft.com/office/drawing/2014/main" id="{8B748B0B-64E6-CE46-D322-278F93E27F0E}"/>
              </a:ext>
            </a:extLst>
          </p:cNvPr>
          <p:cNvSpPr/>
          <p:nvPr/>
        </p:nvSpPr>
        <p:spPr>
          <a:xfrm>
            <a:off x="10010113" y="2651393"/>
            <a:ext cx="2134685" cy="4054529"/>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000" b="1" dirty="0">
                <a:solidFill>
                  <a:srgbClr val="1D4EAA"/>
                </a:solidFill>
                <a:latin typeface="Poppins" panose="00000500000000000000" pitchFamily="2" charset="0"/>
                <a:cs typeface="Poppins" panose="00000500000000000000" pitchFamily="2" charset="0"/>
              </a:rPr>
              <a:t>Steps to make any modifications:</a:t>
            </a:r>
          </a:p>
          <a:p>
            <a:pPr marL="171450" lvl="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Select Analysis Type: </a:t>
            </a:r>
            <a:r>
              <a:rPr lang="en-US" sz="1000" dirty="0">
                <a:solidFill>
                  <a:schemeClr val="tx1"/>
                </a:solidFill>
                <a:latin typeface="Poppins" panose="00000500000000000000" pitchFamily="2" charset="0"/>
                <a:cs typeface="Poppins" panose="00000500000000000000" pitchFamily="2" charset="0"/>
              </a:rPr>
              <a:t>Click on any analysis type in the grid.</a:t>
            </a:r>
          </a:p>
          <a:p>
            <a:pPr marL="171450" lvl="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View Classification Details: </a:t>
            </a:r>
            <a:r>
              <a:rPr lang="en-US" sz="1000" dirty="0">
                <a:solidFill>
                  <a:schemeClr val="tx1"/>
                </a:solidFill>
                <a:latin typeface="Poppins" panose="00000500000000000000" pitchFamily="2" charset="0"/>
                <a:cs typeface="Poppins" panose="00000500000000000000" pitchFamily="2" charset="0"/>
              </a:rPr>
              <a:t>The grid below displays outlet classifications with levels, offering both grouped and detailed views.</a:t>
            </a:r>
          </a:p>
          <a:p>
            <a:pPr marL="171450" lvl="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Editing: </a:t>
            </a:r>
            <a:r>
              <a:rPr lang="en-US" sz="1000" dirty="0">
                <a:solidFill>
                  <a:schemeClr val="tx1"/>
                </a:solidFill>
                <a:latin typeface="Poppins" panose="00000500000000000000" pitchFamily="2" charset="0"/>
                <a:cs typeface="Poppins" panose="00000500000000000000" pitchFamily="2" charset="0"/>
              </a:rPr>
              <a:t>To make edits, click on the </a:t>
            </a:r>
            <a:r>
              <a:rPr lang="en-US" sz="1000" b="1" dirty="0">
                <a:solidFill>
                  <a:schemeClr val="tx1"/>
                </a:solidFill>
                <a:latin typeface="Poppins" panose="00000500000000000000" pitchFamily="2" charset="0"/>
                <a:cs typeface="Poppins" panose="00000500000000000000" pitchFamily="2" charset="0"/>
              </a:rPr>
              <a:t>"Edit" </a:t>
            </a:r>
            <a:r>
              <a:rPr lang="en-US" sz="1000" dirty="0">
                <a:solidFill>
                  <a:schemeClr val="tx1"/>
                </a:solidFill>
                <a:latin typeface="Poppins" panose="00000500000000000000" pitchFamily="2" charset="0"/>
                <a:cs typeface="Poppins" panose="00000500000000000000" pitchFamily="2" charset="0"/>
              </a:rPr>
              <a:t>button corresponding to the classification you wish to modify.</a:t>
            </a:r>
          </a:p>
          <a:p>
            <a:pPr marL="171450" lvl="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Saving Edits: </a:t>
            </a:r>
            <a:r>
              <a:rPr lang="en-US" sz="1000" dirty="0">
                <a:solidFill>
                  <a:schemeClr val="tx1"/>
                </a:solidFill>
                <a:latin typeface="Poppins" panose="00000500000000000000" pitchFamily="2" charset="0"/>
                <a:cs typeface="Poppins" panose="00000500000000000000" pitchFamily="2" charset="0"/>
              </a:rPr>
              <a:t>After making amendments, click "Save."</a:t>
            </a:r>
          </a:p>
          <a:p>
            <a:pPr marL="171450" lvl="0" indent="-171450">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Confirmation: </a:t>
            </a:r>
            <a:r>
              <a:rPr lang="en-US" sz="1000" dirty="0">
                <a:solidFill>
                  <a:schemeClr val="tx1"/>
                </a:solidFill>
                <a:latin typeface="Poppins" panose="00000500000000000000" pitchFamily="2" charset="0"/>
                <a:cs typeface="Poppins" panose="00000500000000000000" pitchFamily="2" charset="0"/>
              </a:rPr>
              <a:t>A pop-up message will appear confirming that the changes have been saved successfully.</a:t>
            </a:r>
          </a:p>
          <a:p>
            <a:r>
              <a:rPr lang="en-US" sz="1000" dirty="0">
                <a:solidFill>
                  <a:schemeClr val="tx1"/>
                </a:solidFill>
                <a:latin typeface="Poppins" panose="00000500000000000000" pitchFamily="2" charset="0"/>
                <a:cs typeface="Poppins" panose="00000500000000000000" pitchFamily="2" charset="0"/>
              </a:rPr>
              <a:t> </a:t>
            </a:r>
          </a:p>
          <a:p>
            <a:pPr lvl="0" algn="just"/>
            <a:endParaRPr lang="en-US" sz="1000" dirty="0">
              <a:solidFill>
                <a:schemeClr val="tx1"/>
              </a:solidFill>
              <a:latin typeface="Poppins" panose="00000500000000000000" pitchFamily="2" charset="0"/>
              <a:cs typeface="Poppins" panose="00000500000000000000" pitchFamily="2" charset="0"/>
            </a:endParaRPr>
          </a:p>
        </p:txBody>
      </p:sp>
      <p:sp>
        <p:nvSpPr>
          <p:cNvPr id="20" name="Down Arrow 19"/>
          <p:cNvSpPr/>
          <p:nvPr/>
        </p:nvSpPr>
        <p:spPr>
          <a:xfrm flipH="1">
            <a:off x="2730114" y="4669567"/>
            <a:ext cx="256155" cy="312546"/>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21" name="Down Arrow 20"/>
          <p:cNvSpPr/>
          <p:nvPr/>
        </p:nvSpPr>
        <p:spPr>
          <a:xfrm rot="5400000" flipH="1">
            <a:off x="9631897" y="3090079"/>
            <a:ext cx="307800" cy="448632"/>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22" name="Oval 21">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4117570" y="1515776"/>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23" name="Oval 22">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2748501" y="4106559"/>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24" name="Oval 23">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11077455" y="2541295"/>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3</a:t>
            </a:r>
          </a:p>
        </p:txBody>
      </p:sp>
      <p:sp>
        <p:nvSpPr>
          <p:cNvPr id="25" name="Rectangle 24"/>
          <p:cNvSpPr/>
          <p:nvPr/>
        </p:nvSpPr>
        <p:spPr>
          <a:xfrm>
            <a:off x="114662" y="1316679"/>
            <a:ext cx="1962150" cy="10763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6"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Analysis Classification Outlets</a:t>
            </a:r>
          </a:p>
        </p:txBody>
      </p:sp>
      <p:sp>
        <p:nvSpPr>
          <p:cNvPr id="27" name="Rectangle 26">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Classification Criteria</a:t>
            </a:r>
          </a:p>
        </p:txBody>
      </p:sp>
    </p:spTree>
    <p:extLst>
      <p:ext uri="{BB962C8B-B14F-4D97-AF65-F5344CB8AC3E}">
        <p14:creationId xmlns:p14="http://schemas.microsoft.com/office/powerpoint/2010/main" val="3429346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6449" y="1162341"/>
            <a:ext cx="1547708" cy="975729"/>
          </a:xfrm>
          <a:prstGeom prst="rect">
            <a:avLst/>
          </a:prstGeom>
        </p:spPr>
      </p:pic>
      <p:grpSp>
        <p:nvGrpSpPr>
          <p:cNvPr id="7" name="Group 6"/>
          <p:cNvGrpSpPr/>
          <p:nvPr/>
        </p:nvGrpSpPr>
        <p:grpSpPr>
          <a:xfrm>
            <a:off x="0" y="2078157"/>
            <a:ext cx="11639550" cy="3238499"/>
            <a:chOff x="207433" y="2611966"/>
            <a:chExt cx="11639550" cy="3238499"/>
          </a:xfrm>
        </p:grpSpPr>
        <p:pic>
          <p:nvPicPr>
            <p:cNvPr id="5" name="Picture 4"/>
            <p:cNvPicPr>
              <a:picLocks noChangeAspect="1"/>
            </p:cNvPicPr>
            <p:nvPr/>
          </p:nvPicPr>
          <p:blipFill rotWithShape="1">
            <a:blip r:embed="rId4"/>
            <a:srcRect b="76271"/>
            <a:stretch/>
          </p:blipFill>
          <p:spPr>
            <a:xfrm>
              <a:off x="207433" y="2611966"/>
              <a:ext cx="11639550" cy="1455561"/>
            </a:xfrm>
            <a:prstGeom prst="rect">
              <a:avLst/>
            </a:prstGeom>
          </p:spPr>
        </p:pic>
        <p:pic>
          <p:nvPicPr>
            <p:cNvPr id="6" name="Picture 5"/>
            <p:cNvPicPr>
              <a:picLocks noChangeAspect="1"/>
            </p:cNvPicPr>
            <p:nvPr/>
          </p:nvPicPr>
          <p:blipFill rotWithShape="1">
            <a:blip r:embed="rId4"/>
            <a:srcRect t="70934"/>
            <a:stretch/>
          </p:blipFill>
          <p:spPr>
            <a:xfrm>
              <a:off x="207433" y="4067527"/>
              <a:ext cx="11639550" cy="1782938"/>
            </a:xfrm>
            <a:prstGeom prst="rect">
              <a:avLst/>
            </a:prstGeom>
          </p:spPr>
        </p:pic>
      </p:grpSp>
      <p:sp>
        <p:nvSpPr>
          <p:cNvPr id="9" name="Rectangle 8">
            <a:extLst>
              <a:ext uri="{FF2B5EF4-FFF2-40B4-BE49-F238E27FC236}">
                <a16:creationId xmlns:a16="http://schemas.microsoft.com/office/drawing/2014/main" id="{54C59EDC-66D9-563B-2028-C02A9809FDF9}"/>
              </a:ext>
            </a:extLst>
          </p:cNvPr>
          <p:cNvSpPr/>
          <p:nvPr/>
        </p:nvSpPr>
        <p:spPr>
          <a:xfrm>
            <a:off x="410901" y="5557695"/>
            <a:ext cx="8993528" cy="1015663"/>
          </a:xfrm>
          <a:prstGeom prst="rect">
            <a:avLst/>
          </a:prstGeom>
          <a:solidFill>
            <a:srgbClr val="F2F2F2"/>
          </a:solidFill>
          <a:ln>
            <a:solidFill>
              <a:srgbClr val="667D9E"/>
            </a:solidFill>
          </a:ln>
          <a:effectLst/>
        </p:spPr>
        <p:txBody>
          <a:bodyPr wrap="square" anchor="ctr">
            <a:spAutoFit/>
          </a:bodyPr>
          <a:lstStyle/>
          <a:p>
            <a:r>
              <a:rPr lang="en-US" sz="1000" b="1" u="sng" dirty="0">
                <a:solidFill>
                  <a:srgbClr val="0070C0"/>
                </a:solidFill>
                <a:latin typeface="Poppins" panose="00000500000000000000" pitchFamily="2" charset="0"/>
                <a:cs typeface="Poppins" panose="00000500000000000000" pitchFamily="2" charset="0"/>
              </a:rPr>
              <a:t>Changing Outlet Status</a:t>
            </a:r>
          </a:p>
          <a:p>
            <a:pPr marL="171450" indent="-171450">
              <a:buFont typeface="Wingdings" panose="05000000000000000000" pitchFamily="2" charset="2"/>
              <a:buChar char="q"/>
            </a:pPr>
            <a:r>
              <a:rPr lang="en-US" sz="1000" b="1" dirty="0">
                <a:latin typeface="Poppins" panose="00000500000000000000" pitchFamily="2" charset="0"/>
                <a:cs typeface="Poppins" panose="00000500000000000000" pitchFamily="2" charset="0"/>
              </a:rPr>
              <a:t>Select Outlet: </a:t>
            </a:r>
            <a:r>
              <a:rPr lang="en-US" sz="1000" dirty="0">
                <a:latin typeface="Poppins" panose="00000500000000000000" pitchFamily="2" charset="0"/>
                <a:cs typeface="Poppins" panose="00000500000000000000" pitchFamily="2" charset="0"/>
              </a:rPr>
              <a:t>Click on the desired outlet from the list.</a:t>
            </a:r>
          </a:p>
          <a:p>
            <a:pPr marL="171450" indent="-171450">
              <a:buFont typeface="Wingdings" panose="05000000000000000000" pitchFamily="2" charset="2"/>
              <a:buChar char="q"/>
            </a:pPr>
            <a:r>
              <a:rPr lang="en-US" sz="1000" b="1" dirty="0">
                <a:latin typeface="Poppins" panose="00000500000000000000" pitchFamily="2" charset="0"/>
                <a:cs typeface="Poppins" panose="00000500000000000000" pitchFamily="2" charset="0"/>
              </a:rPr>
              <a:t>Initiate Process: </a:t>
            </a:r>
            <a:r>
              <a:rPr lang="en-US" sz="1000" dirty="0">
                <a:latin typeface="Poppins" panose="00000500000000000000" pitchFamily="2" charset="0"/>
                <a:cs typeface="Poppins" panose="00000500000000000000" pitchFamily="2" charset="0"/>
              </a:rPr>
              <a:t>Click on the "</a:t>
            </a:r>
            <a:r>
              <a:rPr lang="en-US" sz="1000" b="1" dirty="0">
                <a:latin typeface="Poppins" panose="00000500000000000000" pitchFamily="2" charset="0"/>
                <a:cs typeface="Poppins" panose="00000500000000000000" pitchFamily="2" charset="0"/>
              </a:rPr>
              <a:t>Process" </a:t>
            </a:r>
            <a:r>
              <a:rPr lang="en-US" sz="1000" dirty="0">
                <a:latin typeface="Poppins" panose="00000500000000000000" pitchFamily="2" charset="0"/>
                <a:cs typeface="Poppins" panose="00000500000000000000" pitchFamily="2" charset="0"/>
              </a:rPr>
              <a:t>button.</a:t>
            </a:r>
          </a:p>
          <a:p>
            <a:pPr marL="171450" indent="-171450">
              <a:buFont typeface="Wingdings" panose="05000000000000000000" pitchFamily="2" charset="2"/>
              <a:buChar char="q"/>
            </a:pPr>
            <a:r>
              <a:rPr lang="en-US" sz="1000" b="1" dirty="0">
                <a:latin typeface="Poppins" panose="00000500000000000000" pitchFamily="2" charset="0"/>
                <a:cs typeface="Poppins" panose="00000500000000000000" pitchFamily="2" charset="0"/>
              </a:rPr>
              <a:t>Confirmation: </a:t>
            </a:r>
            <a:r>
              <a:rPr lang="en-US" sz="1000" dirty="0">
                <a:latin typeface="Poppins" panose="00000500000000000000" pitchFamily="2" charset="0"/>
                <a:cs typeface="Poppins" panose="00000500000000000000" pitchFamily="2" charset="0"/>
              </a:rPr>
              <a:t>A confirmation pop-up will appear with the message</a:t>
            </a:r>
            <a:r>
              <a:rPr lang="en-US" sz="1000" b="1" dirty="0">
                <a:latin typeface="Poppins" panose="00000500000000000000" pitchFamily="2" charset="0"/>
                <a:cs typeface="Poppins" panose="00000500000000000000" pitchFamily="2" charset="0"/>
              </a:rPr>
              <a:t>, "Are you sure you want to proceed?" </a:t>
            </a:r>
            <a:r>
              <a:rPr lang="en-US" sz="1000" dirty="0">
                <a:latin typeface="Poppins" panose="00000500000000000000" pitchFamily="2" charset="0"/>
                <a:cs typeface="Poppins" panose="00000500000000000000" pitchFamily="2" charset="0"/>
              </a:rPr>
              <a:t>Click </a:t>
            </a:r>
            <a:r>
              <a:rPr lang="en-US" sz="1000" b="1" dirty="0">
                <a:latin typeface="Poppins" panose="00000500000000000000" pitchFamily="2" charset="0"/>
                <a:cs typeface="Poppins" panose="00000500000000000000" pitchFamily="2" charset="0"/>
              </a:rPr>
              <a:t>"Yes" </a:t>
            </a:r>
            <a:r>
              <a:rPr lang="en-US" sz="1000" dirty="0">
                <a:latin typeface="Poppins" panose="00000500000000000000" pitchFamily="2" charset="0"/>
                <a:cs typeface="Poppins" panose="00000500000000000000" pitchFamily="2" charset="0"/>
              </a:rPr>
              <a:t>to confirm.</a:t>
            </a:r>
          </a:p>
          <a:p>
            <a:pPr marL="171450" indent="-171450">
              <a:buFont typeface="Wingdings" panose="05000000000000000000" pitchFamily="2" charset="2"/>
              <a:buChar char="q"/>
            </a:pPr>
            <a:r>
              <a:rPr lang="en-US" sz="1000" b="1" dirty="0">
                <a:latin typeface="Poppins" panose="00000500000000000000" pitchFamily="2" charset="0"/>
                <a:cs typeface="Poppins" panose="00000500000000000000" pitchFamily="2" charset="0"/>
              </a:rPr>
              <a:t>Completion: </a:t>
            </a:r>
            <a:r>
              <a:rPr lang="en-US" sz="1000" dirty="0">
                <a:latin typeface="Poppins" panose="00000500000000000000" pitchFamily="2" charset="0"/>
                <a:cs typeface="Poppins" panose="00000500000000000000" pitchFamily="2" charset="0"/>
              </a:rPr>
              <a:t>A second pop-up will appear with the message, </a:t>
            </a:r>
            <a:r>
              <a:rPr lang="en-US" sz="1000" b="1" dirty="0">
                <a:latin typeface="Poppins" panose="00000500000000000000" pitchFamily="2" charset="0"/>
                <a:cs typeface="Poppins" panose="00000500000000000000" pitchFamily="2" charset="0"/>
              </a:rPr>
              <a:t>"Process completed successfully." </a:t>
            </a:r>
            <a:r>
              <a:rPr lang="en-US" sz="1000" dirty="0">
                <a:latin typeface="Poppins" panose="00000500000000000000" pitchFamily="2" charset="0"/>
                <a:cs typeface="Poppins" panose="00000500000000000000" pitchFamily="2" charset="0"/>
              </a:rPr>
              <a:t>The selected outlet will now be marked as inactive.</a:t>
            </a:r>
          </a:p>
        </p:txBody>
      </p:sp>
      <p:sp>
        <p:nvSpPr>
          <p:cNvPr id="10" name="Rectangle 9">
            <a:extLst>
              <a:ext uri="{FF2B5EF4-FFF2-40B4-BE49-F238E27FC236}">
                <a16:creationId xmlns:a16="http://schemas.microsoft.com/office/drawing/2014/main" id="{54C59EDC-66D9-563B-2028-C02A9809FDF9}"/>
              </a:ext>
            </a:extLst>
          </p:cNvPr>
          <p:cNvSpPr/>
          <p:nvPr/>
        </p:nvSpPr>
        <p:spPr>
          <a:xfrm>
            <a:off x="4756292" y="1229808"/>
            <a:ext cx="3701122" cy="553998"/>
          </a:xfrm>
          <a:prstGeom prst="rect">
            <a:avLst/>
          </a:prstGeom>
          <a:solidFill>
            <a:srgbClr val="F2F2F2"/>
          </a:solidFill>
          <a:ln>
            <a:solidFill>
              <a:srgbClr val="667D9E"/>
            </a:solidFill>
          </a:ln>
          <a:effectLst/>
        </p:spPr>
        <p:txBody>
          <a:bodyPr wrap="square" anchor="ctr">
            <a:spAutoFit/>
          </a:bodyPr>
          <a:lstStyle/>
          <a:p>
            <a:r>
              <a:rPr lang="en-US" sz="1000" b="1" dirty="0">
                <a:solidFill>
                  <a:srgbClr val="1D4EAA"/>
                </a:solidFill>
                <a:latin typeface="Poppins" panose="00000500000000000000" pitchFamily="2" charset="0"/>
                <a:cs typeface="Poppins" panose="00000500000000000000" pitchFamily="2" charset="0"/>
              </a:rPr>
              <a:t>Viewing Active Outlets</a:t>
            </a:r>
          </a:p>
          <a:p>
            <a:r>
              <a:rPr lang="en-US" sz="1000" dirty="0">
                <a:latin typeface="Poppins" panose="00000500000000000000" pitchFamily="2" charset="0"/>
                <a:cs typeface="Poppins" panose="00000500000000000000" pitchFamily="2" charset="0"/>
              </a:rPr>
              <a:t>Users can see a list of all active outlets on the Outlet Status Screen.</a:t>
            </a:r>
          </a:p>
        </p:txBody>
      </p:sp>
      <p:sp>
        <p:nvSpPr>
          <p:cNvPr id="11" name="Rectangle 10">
            <a:extLst>
              <a:ext uri="{FF2B5EF4-FFF2-40B4-BE49-F238E27FC236}">
                <a16:creationId xmlns:a16="http://schemas.microsoft.com/office/drawing/2014/main" id="{54C59EDC-66D9-563B-2028-C02A9809FDF9}"/>
              </a:ext>
            </a:extLst>
          </p:cNvPr>
          <p:cNvSpPr/>
          <p:nvPr/>
        </p:nvSpPr>
        <p:spPr>
          <a:xfrm>
            <a:off x="9520176" y="5634639"/>
            <a:ext cx="2550076" cy="861774"/>
          </a:xfrm>
          <a:prstGeom prst="rect">
            <a:avLst/>
          </a:prstGeom>
          <a:solidFill>
            <a:srgbClr val="F2F2F2"/>
          </a:solidFill>
          <a:ln>
            <a:solidFill>
              <a:srgbClr val="667D9E"/>
            </a:solidFill>
          </a:ln>
          <a:effectLst/>
        </p:spPr>
        <p:txBody>
          <a:bodyPr wrap="square" anchor="ctr">
            <a:spAutoFit/>
          </a:bodyPr>
          <a:lstStyle/>
          <a:p>
            <a:r>
              <a:rPr lang="en-US" sz="1000" b="1" u="sng" dirty="0">
                <a:solidFill>
                  <a:srgbClr val="0070C0"/>
                </a:solidFill>
                <a:latin typeface="Poppins" panose="00000500000000000000" pitchFamily="2" charset="0"/>
                <a:cs typeface="Poppins" panose="00000500000000000000" pitchFamily="2" charset="0"/>
              </a:rPr>
              <a:t>Verifying Inactive Outlets</a:t>
            </a:r>
          </a:p>
          <a:p>
            <a:r>
              <a:rPr lang="en-US" sz="1000" dirty="0">
                <a:latin typeface="Poppins" panose="00000500000000000000" pitchFamily="2" charset="0"/>
                <a:cs typeface="Poppins" panose="00000500000000000000" pitchFamily="2" charset="0"/>
              </a:rPr>
              <a:t>Users can verify the status of inactive outlets by navigating to the </a:t>
            </a:r>
            <a:r>
              <a:rPr lang="en-US" sz="1000" b="1" dirty="0">
                <a:latin typeface="Poppins" panose="00000500000000000000" pitchFamily="2" charset="0"/>
                <a:cs typeface="Poppins" panose="00000500000000000000" pitchFamily="2" charset="0"/>
              </a:rPr>
              <a:t>Outlet Profile Screen</a:t>
            </a:r>
            <a:r>
              <a:rPr lang="en-US" sz="1000" dirty="0">
                <a:latin typeface="Poppins" panose="00000500000000000000" pitchFamily="2" charset="0"/>
                <a:cs typeface="Poppins" panose="00000500000000000000" pitchFamily="2" charset="0"/>
              </a:rPr>
              <a:t>, where the updated status will be displayed.</a:t>
            </a:r>
          </a:p>
        </p:txBody>
      </p:sp>
      <p:sp>
        <p:nvSpPr>
          <p:cNvPr id="13" name="Rectangle 12">
            <a:extLst>
              <a:ext uri="{FF2B5EF4-FFF2-40B4-BE49-F238E27FC236}">
                <a16:creationId xmlns:a16="http://schemas.microsoft.com/office/drawing/2014/main" id="{8B748B0B-64E6-CE46-D322-278F93E27F0E}"/>
              </a:ext>
            </a:extLst>
          </p:cNvPr>
          <p:cNvSpPr/>
          <p:nvPr/>
        </p:nvSpPr>
        <p:spPr>
          <a:xfrm>
            <a:off x="1865711" y="1350017"/>
            <a:ext cx="2833020" cy="27023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r>
              <a:rPr lang="en-US" sz="1000" dirty="0">
                <a:solidFill>
                  <a:schemeClr val="tx1"/>
                </a:solidFill>
                <a:latin typeface="Poppins" panose="00000500000000000000" pitchFamily="2" charset="0"/>
                <a:cs typeface="Poppins" panose="00000500000000000000" pitchFamily="2" charset="0"/>
              </a:rPr>
              <a:t>Search </a:t>
            </a:r>
            <a:r>
              <a:rPr lang="en-US" sz="1000" b="1" dirty="0">
                <a:solidFill>
                  <a:schemeClr val="tx1"/>
                </a:solidFill>
                <a:latin typeface="Poppins" panose="00000500000000000000" pitchFamily="2" charset="0"/>
                <a:cs typeface="Poppins" panose="00000500000000000000" pitchFamily="2" charset="0"/>
              </a:rPr>
              <a:t>Outlet Status </a:t>
            </a:r>
            <a:r>
              <a:rPr lang="en-US" sz="1000" dirty="0">
                <a:solidFill>
                  <a:schemeClr val="tx1"/>
                </a:solidFill>
                <a:latin typeface="Poppins" panose="00000500000000000000" pitchFamily="2" charset="0"/>
                <a:cs typeface="Poppins" panose="00000500000000000000" pitchFamily="2" charset="0"/>
              </a:rPr>
              <a:t>in the search  bar.</a:t>
            </a:r>
          </a:p>
        </p:txBody>
      </p:sp>
      <p:sp>
        <p:nvSpPr>
          <p:cNvPr id="14" name="Down Arrow 13"/>
          <p:cNvSpPr/>
          <p:nvPr/>
        </p:nvSpPr>
        <p:spPr>
          <a:xfrm rot="5400000" flipH="1">
            <a:off x="1573125" y="1327663"/>
            <a:ext cx="239111" cy="346060"/>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5" name="Down Arrow 14"/>
          <p:cNvSpPr/>
          <p:nvPr/>
        </p:nvSpPr>
        <p:spPr>
          <a:xfrm flipH="1">
            <a:off x="6248187" y="1782119"/>
            <a:ext cx="239111" cy="346060"/>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6" name="Down Arrow 15"/>
          <p:cNvSpPr/>
          <p:nvPr/>
        </p:nvSpPr>
        <p:spPr>
          <a:xfrm flipH="1" flipV="1">
            <a:off x="5312779" y="5061163"/>
            <a:ext cx="251611" cy="573475"/>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8" name="Oval 17">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2983741" y="1162341"/>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19" name="Oval 18">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6335798" y="1104015"/>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20" name="Oval 19">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4974586" y="5414442"/>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3</a:t>
            </a:r>
          </a:p>
        </p:txBody>
      </p:sp>
      <p:sp>
        <p:nvSpPr>
          <p:cNvPr id="21" name="Oval 20">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10484777" y="5452123"/>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4</a:t>
            </a:r>
          </a:p>
        </p:txBody>
      </p:sp>
      <p:sp>
        <p:nvSpPr>
          <p:cNvPr id="22" name="Rectangle 21"/>
          <p:cNvSpPr/>
          <p:nvPr/>
        </p:nvSpPr>
        <p:spPr>
          <a:xfrm>
            <a:off x="22834" y="1157141"/>
            <a:ext cx="1551323" cy="92101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3" name="Rectangle 22"/>
          <p:cNvSpPr/>
          <p:nvPr/>
        </p:nvSpPr>
        <p:spPr>
          <a:xfrm>
            <a:off x="162046" y="5061163"/>
            <a:ext cx="902825" cy="2554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4"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Status</a:t>
            </a:r>
          </a:p>
        </p:txBody>
      </p:sp>
      <p:sp>
        <p:nvSpPr>
          <p:cNvPr id="25" name="Rectangle 24">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Check Outlet Status</a:t>
            </a:r>
          </a:p>
        </p:txBody>
      </p:sp>
    </p:spTree>
    <p:extLst>
      <p:ext uri="{BB962C8B-B14F-4D97-AF65-F5344CB8AC3E}">
        <p14:creationId xmlns:p14="http://schemas.microsoft.com/office/powerpoint/2010/main" val="4045303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75331" y="2676413"/>
            <a:ext cx="9415464" cy="1132198"/>
          </a:xfrm>
          <a:prstGeom prst="rect">
            <a:avLst/>
          </a:prstGeom>
        </p:spPr>
      </p:pic>
      <p:pic>
        <p:nvPicPr>
          <p:cNvPr id="10" name="Picture 9"/>
          <p:cNvPicPr>
            <a:picLocks noChangeAspect="1"/>
          </p:cNvPicPr>
          <p:nvPr/>
        </p:nvPicPr>
        <p:blipFill>
          <a:blip r:embed="rId3"/>
          <a:stretch>
            <a:fillRect/>
          </a:stretch>
        </p:blipFill>
        <p:spPr>
          <a:xfrm>
            <a:off x="83787" y="1470327"/>
            <a:ext cx="1905941" cy="1068984"/>
          </a:xfrm>
          <a:prstGeom prst="rect">
            <a:avLst/>
          </a:prstGeom>
        </p:spPr>
      </p:pic>
      <p:sp>
        <p:nvSpPr>
          <p:cNvPr id="4" name="Rectangle 3">
            <a:extLst>
              <a:ext uri="{FF2B5EF4-FFF2-40B4-BE49-F238E27FC236}">
                <a16:creationId xmlns:a16="http://schemas.microsoft.com/office/drawing/2014/main" id="{8B748B0B-64E6-CE46-D322-278F93E27F0E}"/>
              </a:ext>
            </a:extLst>
          </p:cNvPr>
          <p:cNvSpPr/>
          <p:nvPr/>
        </p:nvSpPr>
        <p:spPr>
          <a:xfrm>
            <a:off x="75331" y="1056686"/>
            <a:ext cx="5438947" cy="32035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From this screen, the user can only view the new and previous outlets information.</a:t>
            </a:r>
          </a:p>
        </p:txBody>
      </p:sp>
      <p:sp>
        <p:nvSpPr>
          <p:cNvPr id="5" name="Rectangle 4"/>
          <p:cNvSpPr/>
          <p:nvPr/>
        </p:nvSpPr>
        <p:spPr>
          <a:xfrm>
            <a:off x="75331" y="1435854"/>
            <a:ext cx="1905941" cy="1120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6" name="Rectangle 5">
            <a:extLst>
              <a:ext uri="{FF2B5EF4-FFF2-40B4-BE49-F238E27FC236}">
                <a16:creationId xmlns:a16="http://schemas.microsoft.com/office/drawing/2014/main" id="{8B748B0B-64E6-CE46-D322-278F93E27F0E}"/>
              </a:ext>
            </a:extLst>
          </p:cNvPr>
          <p:cNvSpPr/>
          <p:nvPr/>
        </p:nvSpPr>
        <p:spPr>
          <a:xfrm>
            <a:off x="2246179" y="1717349"/>
            <a:ext cx="2925042" cy="544969"/>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Search for the outlet profile view in the search bar and click on the appeared option.</a:t>
            </a:r>
          </a:p>
        </p:txBody>
      </p:sp>
      <p:sp>
        <p:nvSpPr>
          <p:cNvPr id="7" name="Down Arrow 6"/>
          <p:cNvSpPr/>
          <p:nvPr/>
        </p:nvSpPr>
        <p:spPr>
          <a:xfrm rot="5400000">
            <a:off x="1937768" y="1819537"/>
            <a:ext cx="246258" cy="370564"/>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1" name="Rectangle 10">
            <a:extLst>
              <a:ext uri="{FF2B5EF4-FFF2-40B4-BE49-F238E27FC236}">
                <a16:creationId xmlns:a16="http://schemas.microsoft.com/office/drawing/2014/main" id="{8B748B0B-64E6-CE46-D322-278F93E27F0E}"/>
              </a:ext>
            </a:extLst>
          </p:cNvPr>
          <p:cNvSpPr/>
          <p:nvPr/>
        </p:nvSpPr>
        <p:spPr>
          <a:xfrm>
            <a:off x="9658350" y="2855895"/>
            <a:ext cx="2457449" cy="944867"/>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The grid displays the new and previously created outlets information. The user can click on the desired entry to view further information.</a:t>
            </a:r>
          </a:p>
        </p:txBody>
      </p:sp>
      <p:sp>
        <p:nvSpPr>
          <p:cNvPr id="36" name="Rectangle 35"/>
          <p:cNvSpPr/>
          <p:nvPr/>
        </p:nvSpPr>
        <p:spPr>
          <a:xfrm>
            <a:off x="103067" y="2703651"/>
            <a:ext cx="9387728" cy="11146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12" name="Down Arrow 11"/>
          <p:cNvSpPr/>
          <p:nvPr/>
        </p:nvSpPr>
        <p:spPr>
          <a:xfrm rot="5400000">
            <a:off x="9344719" y="3140437"/>
            <a:ext cx="246258" cy="375783"/>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38"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Profile View</a:t>
            </a:r>
          </a:p>
        </p:txBody>
      </p:sp>
      <p:sp>
        <p:nvSpPr>
          <p:cNvPr id="39" name="Rectangle 38">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View Outlets</a:t>
            </a:r>
          </a:p>
        </p:txBody>
      </p:sp>
      <p:pic>
        <p:nvPicPr>
          <p:cNvPr id="40" name="Picture 39"/>
          <p:cNvPicPr>
            <a:picLocks noChangeAspect="1"/>
          </p:cNvPicPr>
          <p:nvPr/>
        </p:nvPicPr>
        <p:blipFill>
          <a:blip r:embed="rId4"/>
          <a:stretch>
            <a:fillRect/>
          </a:stretch>
        </p:blipFill>
        <p:spPr>
          <a:xfrm>
            <a:off x="103067" y="3928688"/>
            <a:ext cx="6392983" cy="2858525"/>
          </a:xfrm>
          <a:prstGeom prst="rect">
            <a:avLst/>
          </a:prstGeom>
        </p:spPr>
      </p:pic>
      <p:sp>
        <p:nvSpPr>
          <p:cNvPr id="41" name="Rectangle 40">
            <a:extLst>
              <a:ext uri="{FF2B5EF4-FFF2-40B4-BE49-F238E27FC236}">
                <a16:creationId xmlns:a16="http://schemas.microsoft.com/office/drawing/2014/main" id="{8B748B0B-64E6-CE46-D322-278F93E27F0E}"/>
              </a:ext>
            </a:extLst>
          </p:cNvPr>
          <p:cNvSpPr/>
          <p:nvPr/>
        </p:nvSpPr>
        <p:spPr>
          <a:xfrm>
            <a:off x="6664890" y="5026902"/>
            <a:ext cx="4295775" cy="662095"/>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After selecting any existing record, the relevant information related to the selected outlet will be displayed in the fields below. The user can only view the information.</a:t>
            </a:r>
          </a:p>
        </p:txBody>
      </p:sp>
      <p:sp>
        <p:nvSpPr>
          <p:cNvPr id="42" name="Down Arrow 41"/>
          <p:cNvSpPr/>
          <p:nvPr/>
        </p:nvSpPr>
        <p:spPr>
          <a:xfrm rot="5400000">
            <a:off x="6353869" y="5170060"/>
            <a:ext cx="246258" cy="375783"/>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6" name="Oval 15">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3299558" y="1580513"/>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17" name="Oval 16">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10851578" y="2703651"/>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18" name="Oval 17">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8703690" y="4886348"/>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3</a:t>
            </a:r>
          </a:p>
        </p:txBody>
      </p:sp>
    </p:spTree>
    <p:extLst>
      <p:ext uri="{BB962C8B-B14F-4D97-AF65-F5344CB8AC3E}">
        <p14:creationId xmlns:p14="http://schemas.microsoft.com/office/powerpoint/2010/main" val="441125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8022"/>
          <a:stretch/>
        </p:blipFill>
        <p:spPr>
          <a:xfrm>
            <a:off x="75332" y="1429361"/>
            <a:ext cx="2085975" cy="1126975"/>
          </a:xfrm>
          <a:prstGeom prst="rect">
            <a:avLst/>
          </a:prstGeom>
        </p:spPr>
      </p:pic>
      <p:sp>
        <p:nvSpPr>
          <p:cNvPr id="4" name="Rectangle 3">
            <a:extLst>
              <a:ext uri="{FF2B5EF4-FFF2-40B4-BE49-F238E27FC236}">
                <a16:creationId xmlns:a16="http://schemas.microsoft.com/office/drawing/2014/main" id="{8B748B0B-64E6-CE46-D322-278F93E27F0E}"/>
              </a:ext>
            </a:extLst>
          </p:cNvPr>
          <p:cNvSpPr/>
          <p:nvPr/>
        </p:nvSpPr>
        <p:spPr>
          <a:xfrm>
            <a:off x="75331" y="1056686"/>
            <a:ext cx="6429376" cy="32035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This screen allows the user to efficiently update outlet attributes in bulk through an excel upload.</a:t>
            </a:r>
          </a:p>
        </p:txBody>
      </p:sp>
      <p:sp>
        <p:nvSpPr>
          <p:cNvPr id="5" name="Rectangle 4"/>
          <p:cNvSpPr/>
          <p:nvPr/>
        </p:nvSpPr>
        <p:spPr>
          <a:xfrm>
            <a:off x="75331" y="1435854"/>
            <a:ext cx="2085975" cy="1120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6" name="Rectangle 5">
            <a:extLst>
              <a:ext uri="{FF2B5EF4-FFF2-40B4-BE49-F238E27FC236}">
                <a16:creationId xmlns:a16="http://schemas.microsoft.com/office/drawing/2014/main" id="{8B748B0B-64E6-CE46-D322-278F93E27F0E}"/>
              </a:ext>
            </a:extLst>
          </p:cNvPr>
          <p:cNvSpPr/>
          <p:nvPr/>
        </p:nvSpPr>
        <p:spPr>
          <a:xfrm>
            <a:off x="2351836" y="1690539"/>
            <a:ext cx="2925042" cy="61111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Search for the outlet change track excel in the search bar and click on the appeared option.</a:t>
            </a:r>
          </a:p>
        </p:txBody>
      </p:sp>
      <p:sp>
        <p:nvSpPr>
          <p:cNvPr id="7" name="Down Arrow 6"/>
          <p:cNvSpPr/>
          <p:nvPr/>
        </p:nvSpPr>
        <p:spPr>
          <a:xfrm rot="5400000">
            <a:off x="2043425" y="1810813"/>
            <a:ext cx="246258" cy="370564"/>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grpSp>
        <p:nvGrpSpPr>
          <p:cNvPr id="9" name="Group 8"/>
          <p:cNvGrpSpPr/>
          <p:nvPr/>
        </p:nvGrpSpPr>
        <p:grpSpPr>
          <a:xfrm>
            <a:off x="75331" y="2683095"/>
            <a:ext cx="9306793" cy="1936531"/>
            <a:chOff x="75331" y="2721195"/>
            <a:chExt cx="9306793" cy="1936531"/>
          </a:xfrm>
        </p:grpSpPr>
        <p:pic>
          <p:nvPicPr>
            <p:cNvPr id="3" name="Picture 2"/>
            <p:cNvPicPr>
              <a:picLocks noChangeAspect="1"/>
            </p:cNvPicPr>
            <p:nvPr/>
          </p:nvPicPr>
          <p:blipFill>
            <a:blip r:embed="rId3"/>
            <a:stretch>
              <a:fillRect/>
            </a:stretch>
          </p:blipFill>
          <p:spPr>
            <a:xfrm>
              <a:off x="75331" y="2721195"/>
              <a:ext cx="9306793" cy="1906210"/>
            </a:xfrm>
            <a:prstGeom prst="rect">
              <a:avLst/>
            </a:prstGeom>
          </p:spPr>
        </p:pic>
        <p:pic>
          <p:nvPicPr>
            <p:cNvPr id="8" name="Picture 7"/>
            <p:cNvPicPr>
              <a:picLocks noChangeAspect="1"/>
            </p:cNvPicPr>
            <p:nvPr/>
          </p:nvPicPr>
          <p:blipFill rotWithShape="1">
            <a:blip r:embed="rId4"/>
            <a:srcRect l="9798" t="87338" r="19294" b="6874"/>
            <a:stretch/>
          </p:blipFill>
          <p:spPr>
            <a:xfrm>
              <a:off x="1781174" y="4326282"/>
              <a:ext cx="7219951" cy="331444"/>
            </a:xfrm>
            <a:prstGeom prst="rect">
              <a:avLst/>
            </a:prstGeom>
          </p:spPr>
        </p:pic>
      </p:grpSp>
      <p:sp>
        <p:nvSpPr>
          <p:cNvPr id="11" name="Rectangle 10">
            <a:extLst>
              <a:ext uri="{FF2B5EF4-FFF2-40B4-BE49-F238E27FC236}">
                <a16:creationId xmlns:a16="http://schemas.microsoft.com/office/drawing/2014/main" id="{8B748B0B-64E6-CE46-D322-278F93E27F0E}"/>
              </a:ext>
            </a:extLst>
          </p:cNvPr>
          <p:cNvSpPr/>
          <p:nvPr/>
        </p:nvSpPr>
        <p:spPr>
          <a:xfrm>
            <a:off x="5753099" y="1690539"/>
            <a:ext cx="3629025" cy="61111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The user will select the relevant parameters from the dropdown to be able to download the excel file template.</a:t>
            </a:r>
          </a:p>
        </p:txBody>
      </p:sp>
      <p:sp>
        <p:nvSpPr>
          <p:cNvPr id="13" name="Rectangle 12">
            <a:extLst>
              <a:ext uri="{FF2B5EF4-FFF2-40B4-BE49-F238E27FC236}">
                <a16:creationId xmlns:a16="http://schemas.microsoft.com/office/drawing/2014/main" id="{8B748B0B-64E6-CE46-D322-278F93E27F0E}"/>
              </a:ext>
            </a:extLst>
          </p:cNvPr>
          <p:cNvSpPr/>
          <p:nvPr/>
        </p:nvSpPr>
        <p:spPr>
          <a:xfrm>
            <a:off x="75331" y="4818798"/>
            <a:ext cx="3982319" cy="1100257"/>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just">
              <a:buFont typeface="Wingdings" panose="05000000000000000000" pitchFamily="2" charset="2"/>
              <a:buChar char="q"/>
            </a:pPr>
            <a:r>
              <a:rPr lang="en-US" sz="1000" dirty="0">
                <a:solidFill>
                  <a:schemeClr val="tx1"/>
                </a:solidFill>
                <a:latin typeface="Poppins" panose="00000500000000000000" pitchFamily="2" charset="0"/>
                <a:cs typeface="Poppins" panose="00000500000000000000" pitchFamily="2" charset="0"/>
              </a:rPr>
              <a:t>Click the </a:t>
            </a:r>
            <a:r>
              <a:rPr lang="en-US" sz="1000" b="1" dirty="0">
                <a:solidFill>
                  <a:schemeClr val="tx1"/>
                </a:solidFill>
                <a:latin typeface="Poppins" panose="00000500000000000000" pitchFamily="2" charset="0"/>
                <a:cs typeface="Poppins" panose="00000500000000000000" pitchFamily="2" charset="0"/>
              </a:rPr>
              <a:t>Download Excel </a:t>
            </a:r>
            <a:r>
              <a:rPr lang="en-US" sz="1000" dirty="0">
                <a:solidFill>
                  <a:schemeClr val="tx1"/>
                </a:solidFill>
                <a:latin typeface="Poppins" panose="00000500000000000000" pitchFamily="2" charset="0"/>
                <a:cs typeface="Poppins" panose="00000500000000000000" pitchFamily="2" charset="0"/>
              </a:rPr>
              <a:t>button to download the excel file which contains the outlets and their associated attributes.</a:t>
            </a:r>
          </a:p>
          <a:p>
            <a:pPr marL="171450" indent="-171450" algn="just">
              <a:buFont typeface="Wingdings" panose="05000000000000000000" pitchFamily="2" charset="2"/>
              <a:buChar char="q"/>
            </a:pPr>
            <a:r>
              <a:rPr lang="en-US" sz="1000" dirty="0">
                <a:solidFill>
                  <a:schemeClr val="tx1"/>
                </a:solidFill>
                <a:latin typeface="Poppins" panose="00000500000000000000" pitchFamily="2" charset="0"/>
                <a:cs typeface="Poppins" panose="00000500000000000000" pitchFamily="2" charset="0"/>
              </a:rPr>
              <a:t>After downloading the file, the user will do modifications in the excel file and then utilize the </a:t>
            </a:r>
            <a:r>
              <a:rPr lang="en-US" sz="1000" b="1" dirty="0">
                <a:solidFill>
                  <a:schemeClr val="tx1"/>
                </a:solidFill>
                <a:latin typeface="Poppins" panose="00000500000000000000" pitchFamily="2" charset="0"/>
                <a:cs typeface="Poppins" panose="00000500000000000000" pitchFamily="2" charset="0"/>
              </a:rPr>
              <a:t>Upload Excel </a:t>
            </a:r>
            <a:r>
              <a:rPr lang="en-US" sz="1000" dirty="0">
                <a:solidFill>
                  <a:schemeClr val="tx1"/>
                </a:solidFill>
                <a:latin typeface="Poppins" panose="00000500000000000000" pitchFamily="2" charset="0"/>
                <a:cs typeface="Poppins" panose="00000500000000000000" pitchFamily="2" charset="0"/>
              </a:rPr>
              <a:t>button to upload the outlets information.</a:t>
            </a:r>
          </a:p>
        </p:txBody>
      </p:sp>
      <p:sp>
        <p:nvSpPr>
          <p:cNvPr id="16" name="Rectangle 15"/>
          <p:cNvSpPr/>
          <p:nvPr/>
        </p:nvSpPr>
        <p:spPr>
          <a:xfrm>
            <a:off x="103067" y="4287624"/>
            <a:ext cx="1478083" cy="3016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14" name="Down Arrow 13"/>
          <p:cNvSpPr/>
          <p:nvPr/>
        </p:nvSpPr>
        <p:spPr>
          <a:xfrm rot="10800000">
            <a:off x="347370" y="4539454"/>
            <a:ext cx="246258" cy="262244"/>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7" name="Rectangle 16"/>
          <p:cNvSpPr/>
          <p:nvPr/>
        </p:nvSpPr>
        <p:spPr>
          <a:xfrm>
            <a:off x="1765165" y="4229388"/>
            <a:ext cx="7332120" cy="4682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18" name="Rectangle 17">
            <a:extLst>
              <a:ext uri="{FF2B5EF4-FFF2-40B4-BE49-F238E27FC236}">
                <a16:creationId xmlns:a16="http://schemas.microsoft.com/office/drawing/2014/main" id="{8B748B0B-64E6-CE46-D322-278F93E27F0E}"/>
              </a:ext>
            </a:extLst>
          </p:cNvPr>
          <p:cNvSpPr/>
          <p:nvPr/>
        </p:nvSpPr>
        <p:spPr>
          <a:xfrm>
            <a:off x="4348160" y="4806341"/>
            <a:ext cx="2085976" cy="55733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The system prompts the message “</a:t>
            </a:r>
            <a:r>
              <a:rPr lang="en-US" sz="1000" b="1" dirty="0">
                <a:solidFill>
                  <a:schemeClr val="tx1"/>
                </a:solidFill>
                <a:latin typeface="Poppins" panose="00000500000000000000" pitchFamily="2" charset="0"/>
                <a:cs typeface="Poppins" panose="00000500000000000000" pitchFamily="2" charset="0"/>
              </a:rPr>
              <a:t>File Downloaded Successfully</a:t>
            </a:r>
            <a:r>
              <a:rPr lang="en-US" sz="1000" dirty="0">
                <a:solidFill>
                  <a:schemeClr val="tx1"/>
                </a:solidFill>
                <a:latin typeface="Poppins" panose="00000500000000000000" pitchFamily="2" charset="0"/>
                <a:cs typeface="Poppins" panose="00000500000000000000" pitchFamily="2" charset="0"/>
              </a:rPr>
              <a:t>”.</a:t>
            </a:r>
          </a:p>
        </p:txBody>
      </p:sp>
      <p:sp>
        <p:nvSpPr>
          <p:cNvPr id="20" name="Down Arrow 19"/>
          <p:cNvSpPr/>
          <p:nvPr/>
        </p:nvSpPr>
        <p:spPr>
          <a:xfrm rot="10800000">
            <a:off x="5268020" y="4539454"/>
            <a:ext cx="246258" cy="262244"/>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34" name="Rectangle 33">
            <a:extLst>
              <a:ext uri="{FF2B5EF4-FFF2-40B4-BE49-F238E27FC236}">
                <a16:creationId xmlns:a16="http://schemas.microsoft.com/office/drawing/2014/main" id="{8B748B0B-64E6-CE46-D322-278F93E27F0E}"/>
              </a:ext>
            </a:extLst>
          </p:cNvPr>
          <p:cNvSpPr/>
          <p:nvPr/>
        </p:nvSpPr>
        <p:spPr>
          <a:xfrm>
            <a:off x="103067" y="6243918"/>
            <a:ext cx="9364782" cy="446666"/>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b="1" i="1" dirty="0">
                <a:solidFill>
                  <a:schemeClr val="tx1"/>
                </a:solidFill>
                <a:latin typeface="Poppins" panose="00000500000000000000" pitchFamily="2" charset="0"/>
                <a:cs typeface="Poppins" panose="00000500000000000000" pitchFamily="2" charset="0"/>
              </a:rPr>
              <a:t>Important:</a:t>
            </a:r>
            <a:r>
              <a:rPr lang="en-US" sz="1000" i="1" dirty="0">
                <a:solidFill>
                  <a:schemeClr val="tx1"/>
                </a:solidFill>
                <a:latin typeface="Poppins" panose="00000500000000000000" pitchFamily="2" charset="0"/>
                <a:cs typeface="Poppins" panose="00000500000000000000" pitchFamily="2" charset="0"/>
              </a:rPr>
              <a:t> Once the uploading process will be done, the updated outlet information will be displayed on the grid within the outlet profile interface.</a:t>
            </a:r>
          </a:p>
        </p:txBody>
      </p:sp>
      <p:sp>
        <p:nvSpPr>
          <p:cNvPr id="35" name="Down Arrow 34"/>
          <p:cNvSpPr/>
          <p:nvPr/>
        </p:nvSpPr>
        <p:spPr>
          <a:xfrm>
            <a:off x="7444482" y="2312530"/>
            <a:ext cx="246258" cy="773569"/>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36" name="Rectangle 35"/>
          <p:cNvSpPr/>
          <p:nvPr/>
        </p:nvSpPr>
        <p:spPr>
          <a:xfrm>
            <a:off x="112362" y="3046240"/>
            <a:ext cx="9269762" cy="11146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12" name="Down Arrow 11"/>
          <p:cNvSpPr/>
          <p:nvPr/>
        </p:nvSpPr>
        <p:spPr>
          <a:xfrm rot="5400000">
            <a:off x="9301224" y="3461766"/>
            <a:ext cx="246258" cy="283572"/>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37" name="Rectangle 36">
            <a:extLst>
              <a:ext uri="{FF2B5EF4-FFF2-40B4-BE49-F238E27FC236}">
                <a16:creationId xmlns:a16="http://schemas.microsoft.com/office/drawing/2014/main" id="{8B748B0B-64E6-CE46-D322-278F93E27F0E}"/>
              </a:ext>
            </a:extLst>
          </p:cNvPr>
          <p:cNvSpPr/>
          <p:nvPr/>
        </p:nvSpPr>
        <p:spPr>
          <a:xfrm>
            <a:off x="9556353" y="2341229"/>
            <a:ext cx="2568710" cy="253217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b="1" u="sng" dirty="0">
                <a:solidFill>
                  <a:srgbClr val="0070C0"/>
                </a:solidFill>
                <a:latin typeface="Poppins" panose="00000500000000000000" pitchFamily="2" charset="0"/>
                <a:cs typeface="Poppins" panose="00000500000000000000" pitchFamily="2" charset="0"/>
              </a:rPr>
              <a:t>Dropdown Filters Description</a:t>
            </a:r>
          </a:p>
          <a:p>
            <a:pPr marL="171450" indent="-171450" algn="just">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Distributor:</a:t>
            </a:r>
            <a:r>
              <a:rPr lang="en-US" sz="1000" dirty="0">
                <a:solidFill>
                  <a:schemeClr val="tx1"/>
                </a:solidFill>
                <a:latin typeface="Poppins" panose="00000500000000000000" pitchFamily="2" charset="0"/>
                <a:cs typeface="Poppins" panose="00000500000000000000" pitchFamily="2" charset="0"/>
              </a:rPr>
              <a:t> The user will select the distributor to filter and display outlets that are linked specifically to that distributor.</a:t>
            </a:r>
          </a:p>
          <a:p>
            <a:pPr marL="171450" indent="-171450" algn="just">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PJP Number: </a:t>
            </a:r>
            <a:r>
              <a:rPr lang="en-US" sz="1000" dirty="0">
                <a:solidFill>
                  <a:schemeClr val="tx1"/>
                </a:solidFill>
                <a:latin typeface="Poppins" panose="00000500000000000000" pitchFamily="2" charset="0"/>
                <a:cs typeface="Poppins" panose="00000500000000000000" pitchFamily="2" charset="0"/>
              </a:rPr>
              <a:t>Select the PJP number that will be associated with the selected distributor.</a:t>
            </a:r>
          </a:p>
          <a:p>
            <a:pPr marL="171450" indent="-171450" algn="just">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Section: </a:t>
            </a:r>
            <a:r>
              <a:rPr lang="en-US" sz="1000" dirty="0">
                <a:solidFill>
                  <a:schemeClr val="tx1"/>
                </a:solidFill>
                <a:latin typeface="Poppins" panose="00000500000000000000" pitchFamily="2" charset="0"/>
                <a:cs typeface="Poppins" panose="00000500000000000000" pitchFamily="2" charset="0"/>
              </a:rPr>
              <a:t>Select the section from the dropdown.</a:t>
            </a:r>
          </a:p>
          <a:p>
            <a:pPr marL="171450" indent="-171450" algn="just">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Geo Hierarchy Code: Select geo hierarchy code from the dropdown.</a:t>
            </a:r>
          </a:p>
          <a:p>
            <a:pPr marL="171450" indent="-171450" algn="just">
              <a:buFont typeface="Wingdings" panose="05000000000000000000" pitchFamily="2" charset="2"/>
              <a:buChar char="q"/>
            </a:pPr>
            <a:r>
              <a:rPr lang="en-US" sz="1000" b="1" dirty="0">
                <a:solidFill>
                  <a:schemeClr val="tx1"/>
                </a:solidFill>
                <a:latin typeface="Poppins" panose="00000500000000000000" pitchFamily="2" charset="0"/>
                <a:cs typeface="Poppins" panose="00000500000000000000" pitchFamily="2" charset="0"/>
              </a:rPr>
              <a:t>Outlet Channel: </a:t>
            </a:r>
            <a:r>
              <a:rPr lang="en-US" sz="1000" dirty="0">
                <a:solidFill>
                  <a:schemeClr val="tx1"/>
                </a:solidFill>
                <a:latin typeface="Poppins" panose="00000500000000000000" pitchFamily="2" charset="0"/>
                <a:cs typeface="Poppins" panose="00000500000000000000" pitchFamily="2" charset="0"/>
              </a:rPr>
              <a:t>Select the channel of outlet from the dropdown.</a:t>
            </a:r>
          </a:p>
        </p:txBody>
      </p:sp>
      <p:sp>
        <p:nvSpPr>
          <p:cNvPr id="38"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Change Track Excel</a:t>
            </a:r>
          </a:p>
        </p:txBody>
      </p:sp>
      <p:sp>
        <p:nvSpPr>
          <p:cNvPr id="39" name="Rectangle 38">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Bulk Outlets Modifications</a:t>
            </a:r>
          </a:p>
        </p:txBody>
      </p:sp>
      <p:sp>
        <p:nvSpPr>
          <p:cNvPr id="24" name="Oval 23">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3629941" y="1532181"/>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25" name="Oval 24">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7330871" y="1552869"/>
            <a:ext cx="227221" cy="214697"/>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26" name="Oval 25">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10840708" y="2202432"/>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3</a:t>
            </a:r>
          </a:p>
        </p:txBody>
      </p:sp>
      <p:sp>
        <p:nvSpPr>
          <p:cNvPr id="27" name="Oval 26">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5540692" y="4691600"/>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4</a:t>
            </a:r>
          </a:p>
        </p:txBody>
      </p:sp>
      <p:sp>
        <p:nvSpPr>
          <p:cNvPr id="28" name="Oval 27">
            <a:hlinkClick r:id="rId5" action="ppaction://hlinksldjump" highlightClick="1">
              <a:snd r:embed="rId6" name="arrow.wav"/>
            </a:hlinkClick>
            <a:extLst>
              <a:ext uri="{FF2B5EF4-FFF2-40B4-BE49-F238E27FC236}">
                <a16:creationId xmlns:a16="http://schemas.microsoft.com/office/drawing/2014/main" id="{1A334743-2C87-530F-0112-BDA6DFE16E75}"/>
              </a:ext>
            </a:extLst>
          </p:cNvPr>
          <p:cNvSpPr/>
          <p:nvPr/>
        </p:nvSpPr>
        <p:spPr>
          <a:xfrm>
            <a:off x="1827475" y="4691600"/>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5</a:t>
            </a:r>
          </a:p>
        </p:txBody>
      </p:sp>
    </p:spTree>
    <p:extLst>
      <p:ext uri="{BB962C8B-B14F-4D97-AF65-F5344CB8AC3E}">
        <p14:creationId xmlns:p14="http://schemas.microsoft.com/office/powerpoint/2010/main" val="1496587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03067" y="1559657"/>
            <a:ext cx="2058239" cy="1182585"/>
          </a:xfrm>
          <a:prstGeom prst="rect">
            <a:avLst/>
          </a:prstGeom>
        </p:spPr>
      </p:pic>
      <p:sp>
        <p:nvSpPr>
          <p:cNvPr id="4" name="Rectangle 3">
            <a:extLst>
              <a:ext uri="{FF2B5EF4-FFF2-40B4-BE49-F238E27FC236}">
                <a16:creationId xmlns:a16="http://schemas.microsoft.com/office/drawing/2014/main" id="{8B748B0B-64E6-CE46-D322-278F93E27F0E}"/>
              </a:ext>
            </a:extLst>
          </p:cNvPr>
          <p:cNvSpPr/>
          <p:nvPr/>
        </p:nvSpPr>
        <p:spPr>
          <a:xfrm>
            <a:off x="75330" y="1056686"/>
            <a:ext cx="10211669" cy="348826"/>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From this screen, the user can create new outlets in bulk using the provided excel template and the upload functionality. This method ensures accurate creation of multiple outlets.</a:t>
            </a:r>
          </a:p>
        </p:txBody>
      </p:sp>
      <p:sp>
        <p:nvSpPr>
          <p:cNvPr id="5" name="Rectangle 4"/>
          <p:cNvSpPr/>
          <p:nvPr/>
        </p:nvSpPr>
        <p:spPr>
          <a:xfrm>
            <a:off x="75331" y="1559679"/>
            <a:ext cx="2085975" cy="1120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6" name="Rectangle 5">
            <a:extLst>
              <a:ext uri="{FF2B5EF4-FFF2-40B4-BE49-F238E27FC236}">
                <a16:creationId xmlns:a16="http://schemas.microsoft.com/office/drawing/2014/main" id="{8B748B0B-64E6-CE46-D322-278F93E27F0E}"/>
              </a:ext>
            </a:extLst>
          </p:cNvPr>
          <p:cNvSpPr/>
          <p:nvPr/>
        </p:nvSpPr>
        <p:spPr>
          <a:xfrm>
            <a:off x="2351836" y="1814364"/>
            <a:ext cx="2925042" cy="61111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Search for the outlet creation upload in the search bar and click on the appeared option.</a:t>
            </a:r>
          </a:p>
        </p:txBody>
      </p:sp>
      <p:sp>
        <p:nvSpPr>
          <p:cNvPr id="7" name="Down Arrow 6"/>
          <p:cNvSpPr/>
          <p:nvPr/>
        </p:nvSpPr>
        <p:spPr>
          <a:xfrm rot="5400000">
            <a:off x="2043425" y="1934638"/>
            <a:ext cx="246258" cy="370564"/>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13" name="Rectangle 12">
            <a:extLst>
              <a:ext uri="{FF2B5EF4-FFF2-40B4-BE49-F238E27FC236}">
                <a16:creationId xmlns:a16="http://schemas.microsoft.com/office/drawing/2014/main" id="{8B748B0B-64E6-CE46-D322-278F93E27F0E}"/>
              </a:ext>
            </a:extLst>
          </p:cNvPr>
          <p:cNvSpPr/>
          <p:nvPr/>
        </p:nvSpPr>
        <p:spPr>
          <a:xfrm>
            <a:off x="75331" y="3929282"/>
            <a:ext cx="2686919" cy="1200607"/>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just">
              <a:buFont typeface="Wingdings" panose="05000000000000000000" pitchFamily="2" charset="2"/>
              <a:buChar char="q"/>
            </a:pPr>
            <a:r>
              <a:rPr lang="en-US" sz="1000" dirty="0">
                <a:solidFill>
                  <a:schemeClr val="tx1"/>
                </a:solidFill>
                <a:latin typeface="Poppins" panose="00000500000000000000" pitchFamily="2" charset="0"/>
                <a:cs typeface="Poppins" panose="00000500000000000000" pitchFamily="2" charset="0"/>
              </a:rPr>
              <a:t>The user will click the </a:t>
            </a:r>
            <a:r>
              <a:rPr lang="en-US" sz="1000" b="1" dirty="0">
                <a:solidFill>
                  <a:schemeClr val="tx1"/>
                </a:solidFill>
                <a:latin typeface="Poppins" panose="00000500000000000000" pitchFamily="2" charset="0"/>
                <a:cs typeface="Poppins" panose="00000500000000000000" pitchFamily="2" charset="0"/>
              </a:rPr>
              <a:t>Download Template </a:t>
            </a:r>
            <a:r>
              <a:rPr lang="en-US" sz="1000" dirty="0">
                <a:solidFill>
                  <a:schemeClr val="tx1"/>
                </a:solidFill>
                <a:latin typeface="Poppins" panose="00000500000000000000" pitchFamily="2" charset="0"/>
                <a:cs typeface="Poppins" panose="00000500000000000000" pitchFamily="2" charset="0"/>
              </a:rPr>
              <a:t>button to download the excel file template.</a:t>
            </a:r>
          </a:p>
          <a:p>
            <a:pPr marL="171450" indent="-171450" algn="just">
              <a:buFont typeface="Wingdings" panose="05000000000000000000" pitchFamily="2" charset="2"/>
              <a:buChar char="q"/>
            </a:pPr>
            <a:r>
              <a:rPr lang="en-US" sz="1000" dirty="0">
                <a:solidFill>
                  <a:schemeClr val="tx1"/>
                </a:solidFill>
                <a:latin typeface="Poppins" panose="00000500000000000000" pitchFamily="2" charset="0"/>
                <a:cs typeface="Poppins" panose="00000500000000000000" pitchFamily="2" charset="0"/>
              </a:rPr>
              <a:t>The downloaded template will be then uploaded from the </a:t>
            </a:r>
            <a:r>
              <a:rPr lang="en-US" sz="1000" b="1" dirty="0">
                <a:solidFill>
                  <a:schemeClr val="tx1"/>
                </a:solidFill>
                <a:latin typeface="Poppins" panose="00000500000000000000" pitchFamily="2" charset="0"/>
                <a:cs typeface="Poppins" panose="00000500000000000000" pitchFamily="2" charset="0"/>
              </a:rPr>
              <a:t>Upload Excel</a:t>
            </a:r>
            <a:r>
              <a:rPr lang="en-US" sz="1000" dirty="0">
                <a:solidFill>
                  <a:schemeClr val="tx1"/>
                </a:solidFill>
                <a:latin typeface="Poppins" panose="00000500000000000000" pitchFamily="2" charset="0"/>
                <a:cs typeface="Poppins" panose="00000500000000000000" pitchFamily="2" charset="0"/>
              </a:rPr>
              <a:t> button after filling out the outlets information.</a:t>
            </a:r>
          </a:p>
        </p:txBody>
      </p:sp>
      <p:sp>
        <p:nvSpPr>
          <p:cNvPr id="18" name="Rectangle 17">
            <a:extLst>
              <a:ext uri="{FF2B5EF4-FFF2-40B4-BE49-F238E27FC236}">
                <a16:creationId xmlns:a16="http://schemas.microsoft.com/office/drawing/2014/main" id="{8B748B0B-64E6-CE46-D322-278F93E27F0E}"/>
              </a:ext>
            </a:extLst>
          </p:cNvPr>
          <p:cNvSpPr/>
          <p:nvPr/>
        </p:nvSpPr>
        <p:spPr>
          <a:xfrm>
            <a:off x="10617868" y="3300582"/>
            <a:ext cx="1524001" cy="73850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The system prompts the message “</a:t>
            </a:r>
            <a:r>
              <a:rPr lang="en-US" sz="1000" b="1" dirty="0">
                <a:solidFill>
                  <a:schemeClr val="tx1"/>
                </a:solidFill>
                <a:latin typeface="Poppins" panose="00000500000000000000" pitchFamily="2" charset="0"/>
                <a:cs typeface="Poppins" panose="00000500000000000000" pitchFamily="2" charset="0"/>
              </a:rPr>
              <a:t>File Downloaded Successfully</a:t>
            </a:r>
            <a:r>
              <a:rPr lang="en-US" sz="1000" dirty="0">
                <a:solidFill>
                  <a:schemeClr val="tx1"/>
                </a:solidFill>
                <a:latin typeface="Poppins" panose="00000500000000000000" pitchFamily="2" charset="0"/>
                <a:cs typeface="Poppins" panose="00000500000000000000" pitchFamily="2" charset="0"/>
              </a:rPr>
              <a:t>”.</a:t>
            </a:r>
          </a:p>
        </p:txBody>
      </p:sp>
      <p:sp>
        <p:nvSpPr>
          <p:cNvPr id="34" name="Rectangle 33">
            <a:extLst>
              <a:ext uri="{FF2B5EF4-FFF2-40B4-BE49-F238E27FC236}">
                <a16:creationId xmlns:a16="http://schemas.microsoft.com/office/drawing/2014/main" id="{8B748B0B-64E6-CE46-D322-278F93E27F0E}"/>
              </a:ext>
            </a:extLst>
          </p:cNvPr>
          <p:cNvSpPr/>
          <p:nvPr/>
        </p:nvSpPr>
        <p:spPr>
          <a:xfrm>
            <a:off x="103067" y="6243918"/>
            <a:ext cx="9364782" cy="446666"/>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b="1" i="1" dirty="0">
                <a:solidFill>
                  <a:schemeClr val="tx1"/>
                </a:solidFill>
                <a:latin typeface="Poppins" panose="00000500000000000000" pitchFamily="2" charset="0"/>
                <a:cs typeface="Poppins" panose="00000500000000000000" pitchFamily="2" charset="0"/>
              </a:rPr>
              <a:t>Important:</a:t>
            </a:r>
            <a:r>
              <a:rPr lang="en-US" sz="1000" i="1" dirty="0">
                <a:solidFill>
                  <a:schemeClr val="tx1"/>
                </a:solidFill>
                <a:latin typeface="Poppins" panose="00000500000000000000" pitchFamily="2" charset="0"/>
                <a:cs typeface="Poppins" panose="00000500000000000000" pitchFamily="2" charset="0"/>
              </a:rPr>
              <a:t> Once the uploading process will be done, the user can view the newly created outlets on the grid within the outlet profile interface.</a:t>
            </a:r>
          </a:p>
        </p:txBody>
      </p:sp>
      <p:sp>
        <p:nvSpPr>
          <p:cNvPr id="23"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Creation Upload</a:t>
            </a:r>
          </a:p>
        </p:txBody>
      </p:sp>
      <p:sp>
        <p:nvSpPr>
          <p:cNvPr id="24" name="Rectangle 23">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New Outlets Bulk Upload</a:t>
            </a:r>
          </a:p>
        </p:txBody>
      </p:sp>
      <p:pic>
        <p:nvPicPr>
          <p:cNvPr id="15" name="Picture 14"/>
          <p:cNvPicPr>
            <a:picLocks noChangeAspect="1"/>
          </p:cNvPicPr>
          <p:nvPr/>
        </p:nvPicPr>
        <p:blipFill>
          <a:blip r:embed="rId3"/>
          <a:stretch>
            <a:fillRect/>
          </a:stretch>
        </p:blipFill>
        <p:spPr>
          <a:xfrm>
            <a:off x="75329" y="2800956"/>
            <a:ext cx="10421221" cy="1007152"/>
          </a:xfrm>
          <a:prstGeom prst="rect">
            <a:avLst/>
          </a:prstGeom>
        </p:spPr>
      </p:pic>
      <p:sp>
        <p:nvSpPr>
          <p:cNvPr id="16" name="Rectangle 15"/>
          <p:cNvSpPr/>
          <p:nvPr/>
        </p:nvSpPr>
        <p:spPr>
          <a:xfrm>
            <a:off x="75329" y="3457819"/>
            <a:ext cx="1801096" cy="3016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14" name="Down Arrow 13"/>
          <p:cNvSpPr/>
          <p:nvPr/>
        </p:nvSpPr>
        <p:spPr>
          <a:xfrm rot="10800000">
            <a:off x="466985" y="3698144"/>
            <a:ext cx="246258" cy="230759"/>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pic>
        <p:nvPicPr>
          <p:cNvPr id="21" name="Picture 20"/>
          <p:cNvPicPr>
            <a:picLocks noChangeAspect="1"/>
          </p:cNvPicPr>
          <p:nvPr/>
        </p:nvPicPr>
        <p:blipFill rotWithShape="1">
          <a:blip r:embed="rId4"/>
          <a:srcRect l="10040" t="87153" r="17039" b="7077"/>
          <a:stretch/>
        </p:blipFill>
        <p:spPr>
          <a:xfrm>
            <a:off x="3552825" y="3517433"/>
            <a:ext cx="6848475" cy="304800"/>
          </a:xfrm>
          <a:prstGeom prst="rect">
            <a:avLst/>
          </a:prstGeom>
        </p:spPr>
      </p:pic>
      <p:sp>
        <p:nvSpPr>
          <p:cNvPr id="29" name="Rectangle 28"/>
          <p:cNvSpPr/>
          <p:nvPr/>
        </p:nvSpPr>
        <p:spPr>
          <a:xfrm>
            <a:off x="3552825" y="3476541"/>
            <a:ext cx="6848475" cy="3902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8" name="Down Arrow 27"/>
          <p:cNvSpPr/>
          <p:nvPr/>
        </p:nvSpPr>
        <p:spPr>
          <a:xfrm rot="5400000">
            <a:off x="10282752" y="3457846"/>
            <a:ext cx="246258" cy="423973"/>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pic>
        <p:nvPicPr>
          <p:cNvPr id="22" name="Picture 21"/>
          <p:cNvPicPr>
            <a:picLocks noChangeAspect="1"/>
          </p:cNvPicPr>
          <p:nvPr/>
        </p:nvPicPr>
        <p:blipFill>
          <a:blip r:embed="rId5"/>
          <a:stretch>
            <a:fillRect/>
          </a:stretch>
        </p:blipFill>
        <p:spPr>
          <a:xfrm>
            <a:off x="75329" y="5287752"/>
            <a:ext cx="9872600" cy="577652"/>
          </a:xfrm>
          <a:prstGeom prst="rect">
            <a:avLst/>
          </a:prstGeom>
        </p:spPr>
      </p:pic>
      <p:sp>
        <p:nvSpPr>
          <p:cNvPr id="31" name="Rectangle 30">
            <a:extLst>
              <a:ext uri="{FF2B5EF4-FFF2-40B4-BE49-F238E27FC236}">
                <a16:creationId xmlns:a16="http://schemas.microsoft.com/office/drawing/2014/main" id="{8B748B0B-64E6-CE46-D322-278F93E27F0E}"/>
              </a:ext>
            </a:extLst>
          </p:cNvPr>
          <p:cNvSpPr/>
          <p:nvPr/>
        </p:nvSpPr>
        <p:spPr>
          <a:xfrm>
            <a:off x="10029825" y="4901821"/>
            <a:ext cx="2112044" cy="1349514"/>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This is the downloaded excel template with the relevant attribute names pertaining to the outlets. The user will input the multiple new outlets information and save the excel file in the desired system’s location.</a:t>
            </a:r>
          </a:p>
        </p:txBody>
      </p:sp>
      <p:sp>
        <p:nvSpPr>
          <p:cNvPr id="32" name="Down Arrow 31"/>
          <p:cNvSpPr/>
          <p:nvPr/>
        </p:nvSpPr>
        <p:spPr>
          <a:xfrm rot="5400000">
            <a:off x="9735245" y="5405129"/>
            <a:ext cx="246258" cy="342900"/>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25" name="Oval 24">
            <a:hlinkClick r:id="rId6" action="ppaction://hlinksldjump" highlightClick="1">
              <a:snd r:embed="rId7" name="arrow.wav"/>
            </a:hlinkClick>
            <a:extLst>
              <a:ext uri="{FF2B5EF4-FFF2-40B4-BE49-F238E27FC236}">
                <a16:creationId xmlns:a16="http://schemas.microsoft.com/office/drawing/2014/main" id="{1A334743-2C87-530F-0112-BDA6DFE16E75}"/>
              </a:ext>
            </a:extLst>
          </p:cNvPr>
          <p:cNvSpPr/>
          <p:nvPr/>
        </p:nvSpPr>
        <p:spPr>
          <a:xfrm>
            <a:off x="3705270" y="1674909"/>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26" name="Oval 25">
            <a:hlinkClick r:id="rId6" action="ppaction://hlinksldjump" highlightClick="1">
              <a:snd r:embed="rId7" name="arrow.wav"/>
            </a:hlinkClick>
            <a:extLst>
              <a:ext uri="{FF2B5EF4-FFF2-40B4-BE49-F238E27FC236}">
                <a16:creationId xmlns:a16="http://schemas.microsoft.com/office/drawing/2014/main" id="{1A334743-2C87-530F-0112-BDA6DFE16E75}"/>
              </a:ext>
            </a:extLst>
          </p:cNvPr>
          <p:cNvSpPr/>
          <p:nvPr/>
        </p:nvSpPr>
        <p:spPr>
          <a:xfrm>
            <a:off x="1257069" y="3807265"/>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27" name="Oval 26">
            <a:hlinkClick r:id="rId6" action="ppaction://hlinksldjump" highlightClick="1">
              <a:snd r:embed="rId7" name="arrow.wav"/>
            </a:hlinkClick>
            <a:extLst>
              <a:ext uri="{FF2B5EF4-FFF2-40B4-BE49-F238E27FC236}">
                <a16:creationId xmlns:a16="http://schemas.microsoft.com/office/drawing/2014/main" id="{1A334743-2C87-530F-0112-BDA6DFE16E75}"/>
              </a:ext>
            </a:extLst>
          </p:cNvPr>
          <p:cNvSpPr/>
          <p:nvPr/>
        </p:nvSpPr>
        <p:spPr>
          <a:xfrm>
            <a:off x="11270781" y="3158210"/>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sp>
        <p:nvSpPr>
          <p:cNvPr id="30" name="Oval 29">
            <a:hlinkClick r:id="rId6" action="ppaction://hlinksldjump" highlightClick="1">
              <a:snd r:embed="rId7" name="arrow.wav"/>
            </a:hlinkClick>
            <a:extLst>
              <a:ext uri="{FF2B5EF4-FFF2-40B4-BE49-F238E27FC236}">
                <a16:creationId xmlns:a16="http://schemas.microsoft.com/office/drawing/2014/main" id="{1A334743-2C87-530F-0112-BDA6DFE16E75}"/>
              </a:ext>
            </a:extLst>
          </p:cNvPr>
          <p:cNvSpPr/>
          <p:nvPr/>
        </p:nvSpPr>
        <p:spPr>
          <a:xfrm>
            <a:off x="10978269" y="4737933"/>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3</a:t>
            </a:r>
          </a:p>
        </p:txBody>
      </p:sp>
    </p:spTree>
    <p:extLst>
      <p:ext uri="{BB962C8B-B14F-4D97-AF65-F5344CB8AC3E}">
        <p14:creationId xmlns:p14="http://schemas.microsoft.com/office/powerpoint/2010/main" val="3197402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7"/>
          <p:cNvSpPr txBox="1">
            <a:spLocks noChangeArrowheads="1"/>
          </p:cNvSpPr>
          <p:nvPr/>
        </p:nvSpPr>
        <p:spPr bwMode="auto">
          <a:xfrm>
            <a:off x="1433393" y="62208"/>
            <a:ext cx="9960976" cy="6183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100000"/>
              </a:lnSpc>
              <a:spcBef>
                <a:spcPct val="0"/>
              </a:spcBef>
              <a:spcAft>
                <a:spcPct val="0"/>
              </a:spcAft>
              <a:defRPr sz="4000" b="1"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Roboto" panose="02000000000000000000" pitchFamily="2" charset="0"/>
              </a:defRPr>
            </a:lvl2pPr>
            <a:lvl3pPr algn="l" rtl="0" fontAlgn="base">
              <a:lnSpc>
                <a:spcPct val="90000"/>
              </a:lnSpc>
              <a:spcBef>
                <a:spcPct val="0"/>
              </a:spcBef>
              <a:spcAft>
                <a:spcPct val="0"/>
              </a:spcAft>
              <a:defRPr sz="4400">
                <a:solidFill>
                  <a:schemeClr val="tx1"/>
                </a:solidFill>
                <a:latin typeface="Roboto" panose="02000000000000000000" pitchFamily="2" charset="0"/>
              </a:defRPr>
            </a:lvl3pPr>
            <a:lvl4pPr algn="l" rtl="0" fontAlgn="base">
              <a:lnSpc>
                <a:spcPct val="90000"/>
              </a:lnSpc>
              <a:spcBef>
                <a:spcPct val="0"/>
              </a:spcBef>
              <a:spcAft>
                <a:spcPct val="0"/>
              </a:spcAft>
              <a:defRPr sz="4400">
                <a:solidFill>
                  <a:schemeClr val="tx1"/>
                </a:solidFill>
                <a:latin typeface="Roboto" panose="02000000000000000000" pitchFamily="2" charset="0"/>
              </a:defRPr>
            </a:lvl4pPr>
            <a:lvl5pPr algn="l" rtl="0" fontAlgn="base">
              <a:lnSpc>
                <a:spcPct val="90000"/>
              </a:lnSpc>
              <a:spcBef>
                <a:spcPct val="0"/>
              </a:spcBef>
              <a:spcAft>
                <a:spcPct val="0"/>
              </a:spcAft>
              <a:defRPr sz="4400">
                <a:solidFill>
                  <a:schemeClr val="tx1"/>
                </a:solidFill>
                <a:latin typeface="Roboto" panose="02000000000000000000" pitchFamily="2" charset="0"/>
              </a:defRPr>
            </a:lvl5pPr>
            <a:lvl6pPr marL="457200" algn="l" rtl="0" fontAlgn="base">
              <a:lnSpc>
                <a:spcPct val="90000"/>
              </a:lnSpc>
              <a:spcBef>
                <a:spcPct val="0"/>
              </a:spcBef>
              <a:spcAft>
                <a:spcPct val="0"/>
              </a:spcAft>
              <a:defRPr sz="4400">
                <a:solidFill>
                  <a:schemeClr val="tx1"/>
                </a:solidFill>
                <a:latin typeface="Roboto" panose="02000000000000000000" pitchFamily="2" charset="0"/>
              </a:defRPr>
            </a:lvl6pPr>
            <a:lvl7pPr marL="914400" algn="l" rtl="0" fontAlgn="base">
              <a:lnSpc>
                <a:spcPct val="90000"/>
              </a:lnSpc>
              <a:spcBef>
                <a:spcPct val="0"/>
              </a:spcBef>
              <a:spcAft>
                <a:spcPct val="0"/>
              </a:spcAft>
              <a:defRPr sz="4400">
                <a:solidFill>
                  <a:schemeClr val="tx1"/>
                </a:solidFill>
                <a:latin typeface="Roboto" panose="02000000000000000000" pitchFamily="2" charset="0"/>
              </a:defRPr>
            </a:lvl7pPr>
            <a:lvl8pPr marL="1371600" algn="l" rtl="0" fontAlgn="base">
              <a:lnSpc>
                <a:spcPct val="90000"/>
              </a:lnSpc>
              <a:spcBef>
                <a:spcPct val="0"/>
              </a:spcBef>
              <a:spcAft>
                <a:spcPct val="0"/>
              </a:spcAft>
              <a:defRPr sz="4400">
                <a:solidFill>
                  <a:schemeClr val="tx1"/>
                </a:solidFill>
                <a:latin typeface="Roboto" panose="02000000000000000000" pitchFamily="2" charset="0"/>
              </a:defRPr>
            </a:lvl8pPr>
            <a:lvl9pPr marL="1828800" algn="l" rtl="0" fontAlgn="base">
              <a:lnSpc>
                <a:spcPct val="90000"/>
              </a:lnSpc>
              <a:spcBef>
                <a:spcPct val="0"/>
              </a:spcBef>
              <a:spcAft>
                <a:spcPct val="0"/>
              </a:spcAft>
              <a:defRPr sz="4400">
                <a:solidFill>
                  <a:schemeClr val="tx1"/>
                </a:solidFill>
                <a:latin typeface="Roboto" panose="02000000000000000000" pitchFamily="2" charset="0"/>
              </a:defRPr>
            </a:lvl9pPr>
          </a:lstStyle>
          <a:p>
            <a:r>
              <a:rPr lang="en-ID" sz="3200" dirty="0">
                <a:solidFill>
                  <a:srgbClr val="FFFFFF"/>
                </a:solidFill>
                <a:latin typeface="Calibri" panose="020F0502020204030204" pitchFamily="34" charset="0"/>
                <a:cs typeface="Calibri" panose="020F0502020204030204" pitchFamily="34" charset="0"/>
              </a:rPr>
              <a:t>Outlet Price</a:t>
            </a:r>
          </a:p>
        </p:txBody>
      </p:sp>
      <p:sp>
        <p:nvSpPr>
          <p:cNvPr id="24" name="Rectangle 23">
            <a:extLst>
              <a:ext uri="{FF2B5EF4-FFF2-40B4-BE49-F238E27FC236}">
                <a16:creationId xmlns:a16="http://schemas.microsoft.com/office/drawing/2014/main" id="{9FFC4414-7E34-A37A-064E-7E0370AD6BAE}"/>
              </a:ext>
            </a:extLst>
          </p:cNvPr>
          <p:cNvSpPr/>
          <p:nvPr/>
        </p:nvSpPr>
        <p:spPr>
          <a:xfrm>
            <a:off x="1442917" y="555739"/>
            <a:ext cx="6733701" cy="369332"/>
          </a:xfrm>
          <a:prstGeom prst="rect">
            <a:avLst/>
          </a:prstGeom>
        </p:spPr>
        <p:txBody>
          <a:bodyPr wrap="square">
            <a:spAutoFit/>
          </a:bodyPr>
          <a:lstStyle/>
          <a:p>
            <a:endParaRPr lang="en-GB" dirty="0">
              <a:solidFill>
                <a:schemeClr val="bg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8B748B0B-64E6-CE46-D322-278F93E27F0E}"/>
              </a:ext>
            </a:extLst>
          </p:cNvPr>
          <p:cNvSpPr/>
          <p:nvPr/>
        </p:nvSpPr>
        <p:spPr>
          <a:xfrm>
            <a:off x="129924" y="1128451"/>
            <a:ext cx="5743751" cy="297063"/>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The Outlet Price interface allows users to efficiently manage product pricing for outlets. </a:t>
            </a:r>
          </a:p>
        </p:txBody>
      </p:sp>
      <p:pic>
        <p:nvPicPr>
          <p:cNvPr id="2" name="Picture 1"/>
          <p:cNvPicPr>
            <a:picLocks noChangeAspect="1"/>
          </p:cNvPicPr>
          <p:nvPr/>
        </p:nvPicPr>
        <p:blipFill>
          <a:blip r:embed="rId2"/>
          <a:stretch>
            <a:fillRect/>
          </a:stretch>
        </p:blipFill>
        <p:spPr>
          <a:xfrm>
            <a:off x="3991510" y="1645210"/>
            <a:ext cx="4194632" cy="2774728"/>
          </a:xfrm>
          <a:prstGeom prst="rect">
            <a:avLst/>
          </a:prstGeom>
        </p:spPr>
      </p:pic>
      <p:pic>
        <p:nvPicPr>
          <p:cNvPr id="3" name="Picture 2"/>
          <p:cNvPicPr>
            <a:picLocks noChangeAspect="1"/>
          </p:cNvPicPr>
          <p:nvPr/>
        </p:nvPicPr>
        <p:blipFill>
          <a:blip r:embed="rId3"/>
          <a:stretch>
            <a:fillRect/>
          </a:stretch>
        </p:blipFill>
        <p:spPr>
          <a:xfrm>
            <a:off x="141853" y="4736730"/>
            <a:ext cx="9354876" cy="1690049"/>
          </a:xfrm>
          <a:prstGeom prst="rect">
            <a:avLst/>
          </a:prstGeom>
        </p:spPr>
      </p:pic>
      <p:sp>
        <p:nvSpPr>
          <p:cNvPr id="27" name="Rectangle 26">
            <a:extLst>
              <a:ext uri="{FF2B5EF4-FFF2-40B4-BE49-F238E27FC236}">
                <a16:creationId xmlns:a16="http://schemas.microsoft.com/office/drawing/2014/main" id="{8B748B0B-64E6-CE46-D322-278F93E27F0E}"/>
              </a:ext>
            </a:extLst>
          </p:cNvPr>
          <p:cNvSpPr/>
          <p:nvPr/>
        </p:nvSpPr>
        <p:spPr>
          <a:xfrm>
            <a:off x="8443147" y="2559964"/>
            <a:ext cx="2787837" cy="294295"/>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Select outlet from the dropdown menu</a:t>
            </a:r>
          </a:p>
        </p:txBody>
      </p:sp>
      <p:sp>
        <p:nvSpPr>
          <p:cNvPr id="30" name="Rectangle 29">
            <a:extLst>
              <a:ext uri="{FF2B5EF4-FFF2-40B4-BE49-F238E27FC236}">
                <a16:creationId xmlns:a16="http://schemas.microsoft.com/office/drawing/2014/main" id="{8B748B0B-64E6-CE46-D322-278F93E27F0E}"/>
              </a:ext>
            </a:extLst>
          </p:cNvPr>
          <p:cNvSpPr/>
          <p:nvPr/>
        </p:nvSpPr>
        <p:spPr>
          <a:xfrm>
            <a:off x="9704978" y="4875543"/>
            <a:ext cx="2443990" cy="1412422"/>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latin typeface="Poppins" panose="00000500000000000000" pitchFamily="2" charset="0"/>
                <a:cs typeface="Poppins" panose="00000500000000000000" pitchFamily="2" charset="0"/>
              </a:rPr>
              <a:t>Users can input and set prices for products sold at various outlets. Prices can be integrated across the system for consistency and accuracy Additionally,  Users can access and review prices of products for already existing outlets, ensuring easy updates and comparisons.</a:t>
            </a:r>
          </a:p>
        </p:txBody>
      </p:sp>
      <p:sp>
        <p:nvSpPr>
          <p:cNvPr id="33" name="Down Arrow 32"/>
          <p:cNvSpPr/>
          <p:nvPr/>
        </p:nvSpPr>
        <p:spPr>
          <a:xfrm rot="5400000">
            <a:off x="8029509" y="2440622"/>
            <a:ext cx="286751" cy="540523"/>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37" name="Oval 36">
            <a:hlinkClick r:id="rId4" action="ppaction://hlinksldjump" highlightClick="1">
              <a:snd r:embed="rId5" name="arrow.wav"/>
            </a:hlinkClick>
            <a:extLst>
              <a:ext uri="{FF2B5EF4-FFF2-40B4-BE49-F238E27FC236}">
                <a16:creationId xmlns:a16="http://schemas.microsoft.com/office/drawing/2014/main" id="{1A334743-2C87-530F-0112-BDA6DFE16E75}"/>
              </a:ext>
            </a:extLst>
          </p:cNvPr>
          <p:cNvSpPr/>
          <p:nvPr/>
        </p:nvSpPr>
        <p:spPr>
          <a:xfrm>
            <a:off x="10089506" y="2362465"/>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2</a:t>
            </a:r>
          </a:p>
        </p:txBody>
      </p:sp>
      <p:pic>
        <p:nvPicPr>
          <p:cNvPr id="8" name="Picture 7"/>
          <p:cNvPicPr>
            <a:picLocks noChangeAspect="1"/>
          </p:cNvPicPr>
          <p:nvPr/>
        </p:nvPicPr>
        <p:blipFill>
          <a:blip r:embed="rId6"/>
          <a:stretch>
            <a:fillRect/>
          </a:stretch>
        </p:blipFill>
        <p:spPr>
          <a:xfrm>
            <a:off x="194106" y="1645210"/>
            <a:ext cx="1962150" cy="1381125"/>
          </a:xfrm>
          <a:prstGeom prst="rect">
            <a:avLst/>
          </a:prstGeom>
        </p:spPr>
      </p:pic>
      <p:sp>
        <p:nvSpPr>
          <p:cNvPr id="38" name="Rectangle 37">
            <a:extLst>
              <a:ext uri="{FF2B5EF4-FFF2-40B4-BE49-F238E27FC236}">
                <a16:creationId xmlns:a16="http://schemas.microsoft.com/office/drawing/2014/main" id="{8B748B0B-64E6-CE46-D322-278F93E27F0E}"/>
              </a:ext>
            </a:extLst>
          </p:cNvPr>
          <p:cNvSpPr/>
          <p:nvPr/>
        </p:nvSpPr>
        <p:spPr>
          <a:xfrm>
            <a:off x="129924" y="3355405"/>
            <a:ext cx="2634791" cy="385183"/>
          </a:xfrm>
          <a:prstGeom prst="rect">
            <a:avLst/>
          </a:prstGeom>
          <a:solidFill>
            <a:schemeClr val="bg1">
              <a:lumMod val="95000"/>
            </a:schemeClr>
          </a:solidFill>
          <a:ln>
            <a:solidFill>
              <a:srgbClr val="667D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r>
              <a:rPr lang="en-US" sz="1000" dirty="0">
                <a:solidFill>
                  <a:schemeClr val="tx1"/>
                </a:solidFill>
                <a:latin typeface="Poppins" panose="00000500000000000000" pitchFamily="2" charset="0"/>
                <a:cs typeface="Poppins" panose="00000500000000000000" pitchFamily="2" charset="0"/>
              </a:rPr>
              <a:t>Search </a:t>
            </a:r>
            <a:r>
              <a:rPr lang="en-US" sz="1000" b="1" dirty="0">
                <a:solidFill>
                  <a:schemeClr val="tx1"/>
                </a:solidFill>
                <a:latin typeface="Poppins" panose="00000500000000000000" pitchFamily="2" charset="0"/>
                <a:cs typeface="Poppins" panose="00000500000000000000" pitchFamily="2" charset="0"/>
              </a:rPr>
              <a:t>Outlet Price </a:t>
            </a:r>
            <a:r>
              <a:rPr lang="en-US" sz="1000" dirty="0">
                <a:solidFill>
                  <a:schemeClr val="tx1"/>
                </a:solidFill>
                <a:latin typeface="Poppins" panose="00000500000000000000" pitchFamily="2" charset="0"/>
                <a:cs typeface="Poppins" panose="00000500000000000000" pitchFamily="2" charset="0"/>
              </a:rPr>
              <a:t>in the search  bar.</a:t>
            </a:r>
          </a:p>
        </p:txBody>
      </p:sp>
      <p:sp>
        <p:nvSpPr>
          <p:cNvPr id="17" name="Rectangle 16">
            <a:extLst>
              <a:ext uri="{FF2B5EF4-FFF2-40B4-BE49-F238E27FC236}">
                <a16:creationId xmlns:a16="http://schemas.microsoft.com/office/drawing/2014/main" id="{9FFC4414-7E34-A37A-064E-7E0370AD6BAE}"/>
              </a:ext>
            </a:extLst>
          </p:cNvPr>
          <p:cNvSpPr/>
          <p:nvPr/>
        </p:nvSpPr>
        <p:spPr>
          <a:xfrm>
            <a:off x="1452441" y="555739"/>
            <a:ext cx="6733701" cy="369332"/>
          </a:xfrm>
          <a:prstGeom prst="rect">
            <a:avLst/>
          </a:prstGeom>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Adding Prices</a:t>
            </a:r>
          </a:p>
        </p:txBody>
      </p:sp>
      <p:sp>
        <p:nvSpPr>
          <p:cNvPr id="18" name="Rectangle 17"/>
          <p:cNvSpPr/>
          <p:nvPr/>
        </p:nvSpPr>
        <p:spPr>
          <a:xfrm>
            <a:off x="194107" y="1992873"/>
            <a:ext cx="1955720" cy="103346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39" name="Down Arrow 38"/>
          <p:cNvSpPr/>
          <p:nvPr/>
        </p:nvSpPr>
        <p:spPr>
          <a:xfrm flipV="1">
            <a:off x="1094884" y="2899592"/>
            <a:ext cx="338509" cy="455812"/>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
        <p:nvSpPr>
          <p:cNvPr id="36" name="Oval 35">
            <a:hlinkClick r:id="rId4" action="ppaction://hlinksldjump" highlightClick="1">
              <a:snd r:embed="rId5" name="arrow.wav"/>
            </a:hlinkClick>
            <a:extLst>
              <a:ext uri="{FF2B5EF4-FFF2-40B4-BE49-F238E27FC236}">
                <a16:creationId xmlns:a16="http://schemas.microsoft.com/office/drawing/2014/main" id="{1A334743-2C87-530F-0112-BDA6DFE16E75}"/>
              </a:ext>
            </a:extLst>
          </p:cNvPr>
          <p:cNvSpPr/>
          <p:nvPr/>
        </p:nvSpPr>
        <p:spPr>
          <a:xfrm>
            <a:off x="1573436" y="3207559"/>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1</a:t>
            </a:r>
          </a:p>
        </p:txBody>
      </p:sp>
      <p:sp>
        <p:nvSpPr>
          <p:cNvPr id="19" name="Oval 18">
            <a:hlinkClick r:id="rId4" action="ppaction://hlinksldjump" highlightClick="1">
              <a:snd r:embed="rId5" name="arrow.wav"/>
            </a:hlinkClick>
            <a:extLst>
              <a:ext uri="{FF2B5EF4-FFF2-40B4-BE49-F238E27FC236}">
                <a16:creationId xmlns:a16="http://schemas.microsoft.com/office/drawing/2014/main" id="{1A334743-2C87-530F-0112-BDA6DFE16E75}"/>
              </a:ext>
            </a:extLst>
          </p:cNvPr>
          <p:cNvSpPr/>
          <p:nvPr/>
        </p:nvSpPr>
        <p:spPr>
          <a:xfrm>
            <a:off x="10817886" y="4736730"/>
            <a:ext cx="218174" cy="220196"/>
          </a:xfrm>
          <a:prstGeom prst="ellipse">
            <a:avLst/>
          </a:prstGeom>
          <a:solidFill>
            <a:schemeClr val="accent1">
              <a:lumMod val="75000"/>
            </a:schemeClr>
          </a:solidFill>
          <a:ln w="12700" cap="flat" cmpd="sng" algn="ctr">
            <a:no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lnSpc>
                <a:spcPct val="90000"/>
              </a:lnSpc>
              <a:spcBef>
                <a:spcPct val="0"/>
              </a:spcBef>
              <a:spcAft>
                <a:spcPct val="35000"/>
              </a:spcAft>
              <a:defRPr/>
            </a:pPr>
            <a:r>
              <a:rPr lang="en-US" sz="1000" b="1" dirty="0">
                <a:solidFill>
                  <a:prstClr val="white"/>
                </a:solidFill>
                <a:latin typeface="Poppins" panose="00000500000000000000" pitchFamily="2" charset="0"/>
                <a:cs typeface="Poppins" panose="00000500000000000000" pitchFamily="2" charset="0"/>
              </a:rPr>
              <a:t>3</a:t>
            </a:r>
          </a:p>
        </p:txBody>
      </p:sp>
      <p:sp>
        <p:nvSpPr>
          <p:cNvPr id="20" name="Down Arrow 19"/>
          <p:cNvSpPr/>
          <p:nvPr/>
        </p:nvSpPr>
        <p:spPr>
          <a:xfrm rot="5400000">
            <a:off x="9291341" y="5311492"/>
            <a:ext cx="286751" cy="540523"/>
          </a:xfrm>
          <a:prstGeom prst="downArrow">
            <a:avLst/>
          </a:prstGeom>
          <a:solidFill>
            <a:srgbClr val="18BC9C"/>
          </a:solidFill>
          <a:ln w="12700" cap="flat" cmpd="sng" algn="ctr">
            <a:solidFill>
              <a:srgbClr val="149C82"/>
            </a:solidFill>
            <a:prstDash val="solid"/>
            <a:miter lim="800000"/>
          </a:ln>
          <a:effectLst/>
        </p:spPr>
        <p:txBody>
          <a:bodyPr lIns="0" tIns="0" rIns="0" bIns="0" rtlCol="0" anchor="ctr"/>
          <a:lstStyle/>
          <a:p>
            <a:pPr algn="ctr" fontAlgn="ctr">
              <a:lnSpc>
                <a:spcPct val="90000"/>
              </a:lnSpc>
              <a:spcBef>
                <a:spcPct val="0"/>
              </a:spcBef>
              <a:spcAft>
                <a:spcPct val="35000"/>
              </a:spcAft>
            </a:pPr>
            <a:endParaRPr lang="en-US" sz="1200" b="1">
              <a:solidFill>
                <a:prstClr val="white"/>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993269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3997" y="1470153"/>
            <a:ext cx="9697360" cy="451406"/>
          </a:xfrm>
          <a:prstGeom prst="rect">
            <a:avLst/>
          </a:prstGeom>
        </p:spPr>
        <p:txBody>
          <a:bodyPr wrap="square">
            <a:spAutoFit/>
          </a:bodyPr>
          <a:lstStyle/>
          <a:p>
            <a:pPr marL="0" lvl="1" indent="-571500" defTabSz="914354">
              <a:lnSpc>
                <a:spcPct val="80000"/>
              </a:lnSpc>
              <a:defRPr/>
            </a:pPr>
            <a:r>
              <a:rPr lang="en-US" sz="2800" b="1" u="sng" dirty="0">
                <a:solidFill>
                  <a:schemeClr val="bg1"/>
                </a:solidFill>
                <a:latin typeface="Poppins" panose="00000500000000000000" pitchFamily="2" charset="0"/>
                <a:cs typeface="Poppins" panose="00000500000000000000" pitchFamily="2" charset="0"/>
              </a:rPr>
              <a:t>Glossary</a:t>
            </a:r>
            <a:endParaRPr lang="en-ID" sz="2800" b="1" u="sng" dirty="0">
              <a:solidFill>
                <a:schemeClr val="bg1"/>
              </a:solidFill>
              <a:latin typeface="Poppins" panose="00000500000000000000" pitchFamily="2" charset="0"/>
              <a:cs typeface="Poppins" panose="00000500000000000000" pitchFamily="2" charset="0"/>
            </a:endParaRPr>
          </a:p>
        </p:txBody>
      </p:sp>
      <p:grpSp>
        <p:nvGrpSpPr>
          <p:cNvPr id="18" name="Group 17"/>
          <p:cNvGrpSpPr/>
          <p:nvPr/>
        </p:nvGrpSpPr>
        <p:grpSpPr>
          <a:xfrm>
            <a:off x="11327947" y="6456402"/>
            <a:ext cx="638175" cy="194532"/>
            <a:chOff x="11382375" y="6461376"/>
            <a:chExt cx="638175" cy="235384"/>
          </a:xfrm>
        </p:grpSpPr>
        <p:sp>
          <p:nvSpPr>
            <p:cNvPr id="22" name="Rectangle 21">
              <a:hlinkClick r:id="" action="ppaction://hlinkshowjump?jump=nextslide" highlightClick="1"/>
              <a:extLst>
                <a:ext uri="{FF2B5EF4-FFF2-40B4-BE49-F238E27FC236}">
                  <a16:creationId xmlns:a16="http://schemas.microsoft.com/office/drawing/2014/main" id="{8B748B0B-64E6-CE46-D322-278F93E27F0E}"/>
                </a:ext>
              </a:extLst>
            </p:cNvPr>
            <p:cNvSpPr/>
            <p:nvPr/>
          </p:nvSpPr>
          <p:spPr>
            <a:xfrm>
              <a:off x="11382375" y="6464333"/>
              <a:ext cx="638175" cy="230832"/>
            </a:xfrm>
            <a:prstGeom prst="rect">
              <a:avLst/>
            </a:prstGeom>
            <a:noFill/>
            <a:ln>
              <a:noFill/>
            </a:ln>
            <a:effectLst/>
          </p:spPr>
          <p:txBody>
            <a:bodyPr wrap="square" anchor="ctr">
              <a:spAutoFit/>
            </a:bodyPr>
            <a:lstStyle/>
            <a:p>
              <a:pPr algn="ctr"/>
              <a:r>
                <a:rPr lang="en-US" sz="900" b="1" dirty="0">
                  <a:solidFill>
                    <a:srgbClr val="596E8D"/>
                  </a:solidFill>
                  <a:latin typeface="Poppins" panose="00000500000000000000" pitchFamily="2" charset="0"/>
                  <a:cs typeface="Poppins" panose="00000500000000000000" pitchFamily="2" charset="0"/>
                </a:rPr>
                <a:t>Next</a:t>
              </a:r>
            </a:p>
          </p:txBody>
        </p:sp>
        <p:sp>
          <p:nvSpPr>
            <p:cNvPr id="23" name="Rounded Rectangle 22">
              <a:hlinkClick r:id="" action="ppaction://hlinkshowjump?jump=nextslide"/>
            </p:cNvPr>
            <p:cNvSpPr/>
            <p:nvPr/>
          </p:nvSpPr>
          <p:spPr>
            <a:xfrm>
              <a:off x="11382375" y="6461376"/>
              <a:ext cx="638175" cy="235384"/>
            </a:xfrm>
            <a:prstGeom prst="roundRect">
              <a:avLst>
                <a:gd name="adj" fmla="val 50000"/>
              </a:avLst>
            </a:prstGeom>
            <a:noFill/>
            <a:ln>
              <a:solidFill>
                <a:srgbClr val="7C8F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p:cNvGrpSpPr/>
          <p:nvPr/>
        </p:nvGrpSpPr>
        <p:grpSpPr>
          <a:xfrm>
            <a:off x="10591357" y="6456402"/>
            <a:ext cx="638175" cy="194532"/>
            <a:chOff x="11382375" y="6175418"/>
            <a:chExt cx="638175" cy="235384"/>
          </a:xfrm>
        </p:grpSpPr>
        <p:sp>
          <p:nvSpPr>
            <p:cNvPr id="25" name="Rectangle 24">
              <a:hlinkClick r:id="" action="ppaction://hlinkshowjump?jump=previousslide" highlightClick="1"/>
              <a:extLst>
                <a:ext uri="{FF2B5EF4-FFF2-40B4-BE49-F238E27FC236}">
                  <a16:creationId xmlns:a16="http://schemas.microsoft.com/office/drawing/2014/main" id="{8B748B0B-64E6-CE46-D322-278F93E27F0E}"/>
                </a:ext>
              </a:extLst>
            </p:cNvPr>
            <p:cNvSpPr/>
            <p:nvPr/>
          </p:nvSpPr>
          <p:spPr>
            <a:xfrm>
              <a:off x="11382375" y="6176056"/>
              <a:ext cx="638175" cy="230832"/>
            </a:xfrm>
            <a:prstGeom prst="rect">
              <a:avLst/>
            </a:prstGeom>
            <a:noFill/>
            <a:ln>
              <a:noFill/>
            </a:ln>
            <a:effectLst/>
          </p:spPr>
          <p:txBody>
            <a:bodyPr wrap="square" anchor="ctr">
              <a:spAutoFit/>
            </a:bodyPr>
            <a:lstStyle/>
            <a:p>
              <a:pPr algn="ctr"/>
              <a:r>
                <a:rPr lang="en-US" sz="900" b="1" dirty="0">
                  <a:solidFill>
                    <a:srgbClr val="596E8D"/>
                  </a:solidFill>
                  <a:latin typeface="Poppins" panose="00000500000000000000" pitchFamily="2" charset="0"/>
                  <a:cs typeface="Poppins" panose="00000500000000000000" pitchFamily="2" charset="0"/>
                </a:rPr>
                <a:t>Back</a:t>
              </a:r>
            </a:p>
          </p:txBody>
        </p:sp>
        <p:sp>
          <p:nvSpPr>
            <p:cNvPr id="26" name="Rounded Rectangle 25">
              <a:hlinkClick r:id="" action="ppaction://hlinkshowjump?jump=previousslide"/>
            </p:cNvPr>
            <p:cNvSpPr/>
            <p:nvPr/>
          </p:nvSpPr>
          <p:spPr>
            <a:xfrm>
              <a:off x="11382375" y="6175418"/>
              <a:ext cx="638175" cy="235384"/>
            </a:xfrm>
            <a:prstGeom prst="roundRect">
              <a:avLst>
                <a:gd name="adj" fmla="val 50000"/>
              </a:avLst>
            </a:prstGeom>
            <a:noFill/>
            <a:ln>
              <a:solidFill>
                <a:srgbClr val="7C8F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ounded Rectangle 31"/>
          <p:cNvSpPr/>
          <p:nvPr/>
        </p:nvSpPr>
        <p:spPr>
          <a:xfrm>
            <a:off x="3126384" y="2854376"/>
            <a:ext cx="1074070" cy="391403"/>
          </a:xfrm>
          <a:prstGeom prst="roundRect">
            <a:avLst/>
          </a:prstGeom>
          <a:solidFill>
            <a:schemeClr val="accent1">
              <a:lumMod val="75000"/>
              <a:alpha val="42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latin typeface="Poppins" panose="020B0604020202020204" charset="0"/>
                <a:cs typeface="Poppins" panose="020B0604020202020204" charset="0"/>
              </a:rPr>
              <a:t>B2B</a:t>
            </a:r>
          </a:p>
        </p:txBody>
      </p:sp>
      <p:sp>
        <p:nvSpPr>
          <p:cNvPr id="33" name="Rectangle 32"/>
          <p:cNvSpPr/>
          <p:nvPr/>
        </p:nvSpPr>
        <p:spPr>
          <a:xfrm>
            <a:off x="4594681" y="2854376"/>
            <a:ext cx="4146842" cy="391403"/>
          </a:xfrm>
          <a:prstGeom prst="rect">
            <a:avLst/>
          </a:prstGeom>
          <a:solidFill>
            <a:schemeClr val="accent1">
              <a:lumMod val="75000"/>
              <a:alpha val="42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600" dirty="0">
                <a:latin typeface="Poppins" panose="020B0604020202020204" charset="0"/>
                <a:cs typeface="Poppins" panose="020B0604020202020204" charset="0"/>
              </a:rPr>
              <a:t>Business to Business</a:t>
            </a:r>
          </a:p>
        </p:txBody>
      </p:sp>
      <p:sp>
        <p:nvSpPr>
          <p:cNvPr id="34" name="Rounded Rectangle 33"/>
          <p:cNvSpPr/>
          <p:nvPr/>
        </p:nvSpPr>
        <p:spPr>
          <a:xfrm>
            <a:off x="3126384" y="3469884"/>
            <a:ext cx="1074070" cy="391539"/>
          </a:xfrm>
          <a:prstGeom prst="roundRect">
            <a:avLst/>
          </a:prstGeom>
          <a:solidFill>
            <a:schemeClr val="accent1">
              <a:lumMod val="75000"/>
              <a:alpha val="42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latin typeface="Poppins" panose="020B0604020202020204" charset="0"/>
                <a:cs typeface="Poppins" panose="020B0604020202020204" charset="0"/>
              </a:rPr>
              <a:t>DT</a:t>
            </a:r>
          </a:p>
        </p:txBody>
      </p:sp>
      <p:sp>
        <p:nvSpPr>
          <p:cNvPr id="35" name="Rectangle 34"/>
          <p:cNvSpPr/>
          <p:nvPr/>
        </p:nvSpPr>
        <p:spPr>
          <a:xfrm>
            <a:off x="4594681" y="3469884"/>
            <a:ext cx="4146842" cy="391539"/>
          </a:xfrm>
          <a:prstGeom prst="rect">
            <a:avLst/>
          </a:prstGeom>
          <a:solidFill>
            <a:schemeClr val="accent1">
              <a:lumMod val="75000"/>
              <a:alpha val="42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600" dirty="0">
                <a:latin typeface="Poppins" panose="020B0604020202020204" charset="0"/>
                <a:cs typeface="Poppins" panose="020B0604020202020204" charset="0"/>
              </a:rPr>
              <a:t>Distributor</a:t>
            </a:r>
          </a:p>
        </p:txBody>
      </p:sp>
      <p:sp>
        <p:nvSpPr>
          <p:cNvPr id="36" name="Rounded Rectangle 35"/>
          <p:cNvSpPr/>
          <p:nvPr/>
        </p:nvSpPr>
        <p:spPr>
          <a:xfrm>
            <a:off x="3126384" y="4145575"/>
            <a:ext cx="1074070" cy="380392"/>
          </a:xfrm>
          <a:prstGeom prst="roundRect">
            <a:avLst/>
          </a:prstGeom>
          <a:solidFill>
            <a:schemeClr val="accent1">
              <a:lumMod val="75000"/>
              <a:alpha val="42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latin typeface="Poppins" panose="020B0604020202020204" charset="0"/>
                <a:cs typeface="Poppins" panose="020B0604020202020204" charset="0"/>
              </a:rPr>
              <a:t>PJP</a:t>
            </a:r>
          </a:p>
        </p:txBody>
      </p:sp>
      <p:sp>
        <p:nvSpPr>
          <p:cNvPr id="37" name="Rectangle 36"/>
          <p:cNvSpPr/>
          <p:nvPr/>
        </p:nvSpPr>
        <p:spPr>
          <a:xfrm>
            <a:off x="4594681" y="4145575"/>
            <a:ext cx="4146842" cy="380392"/>
          </a:xfrm>
          <a:prstGeom prst="rect">
            <a:avLst/>
          </a:prstGeom>
          <a:solidFill>
            <a:schemeClr val="accent1">
              <a:lumMod val="75000"/>
              <a:alpha val="42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600" dirty="0">
                <a:latin typeface="Poppins" panose="020B0604020202020204" charset="0"/>
                <a:cs typeface="Poppins" panose="020B0604020202020204" charset="0"/>
              </a:rPr>
              <a:t>Permanent Journey Plan</a:t>
            </a:r>
          </a:p>
        </p:txBody>
      </p:sp>
    </p:spTree>
    <p:extLst>
      <p:ext uri="{BB962C8B-B14F-4D97-AF65-F5344CB8AC3E}">
        <p14:creationId xmlns:p14="http://schemas.microsoft.com/office/powerpoint/2010/main" val="40486600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366182" y="5621908"/>
            <a:ext cx="1403170" cy="906900"/>
          </a:xfrm>
          <a:prstGeom prst="rect">
            <a:avLst/>
          </a:prstGeom>
        </p:spPr>
      </p:pic>
      <p:grpSp>
        <p:nvGrpSpPr>
          <p:cNvPr id="17" name="Group 16"/>
          <p:cNvGrpSpPr/>
          <p:nvPr/>
        </p:nvGrpSpPr>
        <p:grpSpPr>
          <a:xfrm>
            <a:off x="9066164" y="5941548"/>
            <a:ext cx="2956505" cy="587260"/>
            <a:chOff x="602950" y="5699546"/>
            <a:chExt cx="2467028" cy="490033"/>
          </a:xfrm>
        </p:grpSpPr>
        <p:sp>
          <p:nvSpPr>
            <p:cNvPr id="18" name="Freeform 53"/>
            <p:cNvSpPr>
              <a:spLocks noEditPoints="1"/>
            </p:cNvSpPr>
            <p:nvPr/>
          </p:nvSpPr>
          <p:spPr bwMode="auto">
            <a:xfrm>
              <a:off x="602950" y="5724777"/>
              <a:ext cx="157307" cy="157307"/>
            </a:xfrm>
            <a:custGeom>
              <a:avLst/>
              <a:gdLst>
                <a:gd name="T0" fmla="*/ 23 w 46"/>
                <a:gd name="T1" fmla="*/ 0 h 46"/>
                <a:gd name="T2" fmla="*/ 0 w 46"/>
                <a:gd name="T3" fmla="*/ 23 h 46"/>
                <a:gd name="T4" fmla="*/ 23 w 46"/>
                <a:gd name="T5" fmla="*/ 46 h 46"/>
                <a:gd name="T6" fmla="*/ 46 w 46"/>
                <a:gd name="T7" fmla="*/ 23 h 46"/>
                <a:gd name="T8" fmla="*/ 23 w 46"/>
                <a:gd name="T9" fmla="*/ 0 h 46"/>
                <a:gd name="T10" fmla="*/ 43 w 46"/>
                <a:gd name="T11" fmla="*/ 21 h 46"/>
                <a:gd name="T12" fmla="*/ 37 w 46"/>
                <a:gd name="T13" fmla="*/ 21 h 46"/>
                <a:gd name="T14" fmla="*/ 33 w 46"/>
                <a:gd name="T15" fmla="*/ 6 h 46"/>
                <a:gd name="T16" fmla="*/ 43 w 46"/>
                <a:gd name="T17" fmla="*/ 21 h 46"/>
                <a:gd name="T18" fmla="*/ 22 w 46"/>
                <a:gd name="T19" fmla="*/ 4 h 46"/>
                <a:gd name="T20" fmla="*/ 22 w 46"/>
                <a:gd name="T21" fmla="*/ 21 h 46"/>
                <a:gd name="T22" fmla="*/ 13 w 46"/>
                <a:gd name="T23" fmla="*/ 21 h 46"/>
                <a:gd name="T24" fmla="*/ 22 w 46"/>
                <a:gd name="T25" fmla="*/ 4 h 46"/>
                <a:gd name="T26" fmla="*/ 22 w 46"/>
                <a:gd name="T27" fmla="*/ 25 h 46"/>
                <a:gd name="T28" fmla="*/ 22 w 46"/>
                <a:gd name="T29" fmla="*/ 42 h 46"/>
                <a:gd name="T30" fmla="*/ 13 w 46"/>
                <a:gd name="T31" fmla="*/ 25 h 46"/>
                <a:gd name="T32" fmla="*/ 22 w 46"/>
                <a:gd name="T33" fmla="*/ 25 h 46"/>
                <a:gd name="T34" fmla="*/ 25 w 46"/>
                <a:gd name="T35" fmla="*/ 42 h 46"/>
                <a:gd name="T36" fmla="*/ 25 w 46"/>
                <a:gd name="T37" fmla="*/ 25 h 46"/>
                <a:gd name="T38" fmla="*/ 34 w 46"/>
                <a:gd name="T39" fmla="*/ 25 h 46"/>
                <a:gd name="T40" fmla="*/ 25 w 46"/>
                <a:gd name="T41" fmla="*/ 42 h 46"/>
                <a:gd name="T42" fmla="*/ 25 w 46"/>
                <a:gd name="T43" fmla="*/ 21 h 46"/>
                <a:gd name="T44" fmla="*/ 25 w 46"/>
                <a:gd name="T45" fmla="*/ 4 h 46"/>
                <a:gd name="T46" fmla="*/ 34 w 46"/>
                <a:gd name="T47" fmla="*/ 21 h 46"/>
                <a:gd name="T48" fmla="*/ 25 w 46"/>
                <a:gd name="T49" fmla="*/ 21 h 46"/>
                <a:gd name="T50" fmla="*/ 14 w 46"/>
                <a:gd name="T51" fmla="*/ 6 h 46"/>
                <a:gd name="T52" fmla="*/ 10 w 46"/>
                <a:gd name="T53" fmla="*/ 21 h 46"/>
                <a:gd name="T54" fmla="*/ 4 w 46"/>
                <a:gd name="T55" fmla="*/ 21 h 46"/>
                <a:gd name="T56" fmla="*/ 14 w 46"/>
                <a:gd name="T57" fmla="*/ 6 h 46"/>
                <a:gd name="T58" fmla="*/ 4 w 46"/>
                <a:gd name="T59" fmla="*/ 25 h 46"/>
                <a:gd name="T60" fmla="*/ 10 w 46"/>
                <a:gd name="T61" fmla="*/ 25 h 46"/>
                <a:gd name="T62" fmla="*/ 14 w 46"/>
                <a:gd name="T63" fmla="*/ 40 h 46"/>
                <a:gd name="T64" fmla="*/ 4 w 46"/>
                <a:gd name="T65" fmla="*/ 25 h 46"/>
                <a:gd name="T66" fmla="*/ 33 w 46"/>
                <a:gd name="T67" fmla="*/ 40 h 46"/>
                <a:gd name="T68" fmla="*/ 37 w 46"/>
                <a:gd name="T69" fmla="*/ 25 h 46"/>
                <a:gd name="T70" fmla="*/ 43 w 46"/>
                <a:gd name="T71" fmla="*/ 25 h 46"/>
                <a:gd name="T72" fmla="*/ 33 w 46"/>
                <a:gd name="T73"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6" h="46">
                  <a:moveTo>
                    <a:pt x="23" y="0"/>
                  </a:moveTo>
                  <a:cubicBezTo>
                    <a:pt x="11" y="0"/>
                    <a:pt x="0" y="10"/>
                    <a:pt x="0" y="23"/>
                  </a:cubicBezTo>
                  <a:cubicBezTo>
                    <a:pt x="0" y="36"/>
                    <a:pt x="11" y="46"/>
                    <a:pt x="23" y="46"/>
                  </a:cubicBezTo>
                  <a:cubicBezTo>
                    <a:pt x="36" y="46"/>
                    <a:pt x="46" y="36"/>
                    <a:pt x="46" y="23"/>
                  </a:cubicBezTo>
                  <a:cubicBezTo>
                    <a:pt x="46" y="10"/>
                    <a:pt x="36" y="0"/>
                    <a:pt x="23" y="0"/>
                  </a:cubicBezTo>
                  <a:close/>
                  <a:moveTo>
                    <a:pt x="43" y="21"/>
                  </a:moveTo>
                  <a:cubicBezTo>
                    <a:pt x="37" y="21"/>
                    <a:pt x="37" y="21"/>
                    <a:pt x="37" y="21"/>
                  </a:cubicBezTo>
                  <a:cubicBezTo>
                    <a:pt x="37" y="15"/>
                    <a:pt x="35" y="10"/>
                    <a:pt x="33" y="6"/>
                  </a:cubicBezTo>
                  <a:cubicBezTo>
                    <a:pt x="38" y="9"/>
                    <a:pt x="42" y="15"/>
                    <a:pt x="43" y="21"/>
                  </a:cubicBezTo>
                  <a:close/>
                  <a:moveTo>
                    <a:pt x="22" y="4"/>
                  </a:moveTo>
                  <a:cubicBezTo>
                    <a:pt x="22" y="21"/>
                    <a:pt x="22" y="21"/>
                    <a:pt x="22" y="21"/>
                  </a:cubicBezTo>
                  <a:cubicBezTo>
                    <a:pt x="13" y="21"/>
                    <a:pt x="13" y="21"/>
                    <a:pt x="13" y="21"/>
                  </a:cubicBezTo>
                  <a:cubicBezTo>
                    <a:pt x="13" y="13"/>
                    <a:pt x="17" y="5"/>
                    <a:pt x="22" y="4"/>
                  </a:cubicBezTo>
                  <a:close/>
                  <a:moveTo>
                    <a:pt x="22" y="25"/>
                  </a:moveTo>
                  <a:cubicBezTo>
                    <a:pt x="22" y="42"/>
                    <a:pt x="22" y="42"/>
                    <a:pt x="22" y="42"/>
                  </a:cubicBezTo>
                  <a:cubicBezTo>
                    <a:pt x="17" y="41"/>
                    <a:pt x="13" y="33"/>
                    <a:pt x="13" y="25"/>
                  </a:cubicBezTo>
                  <a:lnTo>
                    <a:pt x="22" y="25"/>
                  </a:lnTo>
                  <a:close/>
                  <a:moveTo>
                    <a:pt x="25" y="42"/>
                  </a:moveTo>
                  <a:cubicBezTo>
                    <a:pt x="25" y="25"/>
                    <a:pt x="25" y="25"/>
                    <a:pt x="25" y="25"/>
                  </a:cubicBezTo>
                  <a:cubicBezTo>
                    <a:pt x="34" y="25"/>
                    <a:pt x="34" y="25"/>
                    <a:pt x="34" y="25"/>
                  </a:cubicBezTo>
                  <a:cubicBezTo>
                    <a:pt x="33" y="33"/>
                    <a:pt x="30" y="41"/>
                    <a:pt x="25" y="42"/>
                  </a:cubicBezTo>
                  <a:close/>
                  <a:moveTo>
                    <a:pt x="25" y="21"/>
                  </a:moveTo>
                  <a:cubicBezTo>
                    <a:pt x="25" y="4"/>
                    <a:pt x="25" y="4"/>
                    <a:pt x="25" y="4"/>
                  </a:cubicBezTo>
                  <a:cubicBezTo>
                    <a:pt x="30" y="5"/>
                    <a:pt x="33" y="13"/>
                    <a:pt x="34" y="21"/>
                  </a:cubicBezTo>
                  <a:lnTo>
                    <a:pt x="25" y="21"/>
                  </a:lnTo>
                  <a:close/>
                  <a:moveTo>
                    <a:pt x="14" y="6"/>
                  </a:moveTo>
                  <a:cubicBezTo>
                    <a:pt x="11" y="10"/>
                    <a:pt x="10" y="15"/>
                    <a:pt x="10" y="21"/>
                  </a:cubicBezTo>
                  <a:cubicBezTo>
                    <a:pt x="4" y="21"/>
                    <a:pt x="4" y="21"/>
                    <a:pt x="4" y="21"/>
                  </a:cubicBezTo>
                  <a:cubicBezTo>
                    <a:pt x="5" y="15"/>
                    <a:pt x="8" y="9"/>
                    <a:pt x="14" y="6"/>
                  </a:cubicBezTo>
                  <a:close/>
                  <a:moveTo>
                    <a:pt x="4" y="25"/>
                  </a:moveTo>
                  <a:cubicBezTo>
                    <a:pt x="10" y="25"/>
                    <a:pt x="10" y="25"/>
                    <a:pt x="10" y="25"/>
                  </a:cubicBezTo>
                  <a:cubicBezTo>
                    <a:pt x="10" y="31"/>
                    <a:pt x="11" y="36"/>
                    <a:pt x="14" y="40"/>
                  </a:cubicBezTo>
                  <a:cubicBezTo>
                    <a:pt x="8" y="37"/>
                    <a:pt x="5" y="31"/>
                    <a:pt x="4" y="25"/>
                  </a:cubicBezTo>
                  <a:close/>
                  <a:moveTo>
                    <a:pt x="33" y="40"/>
                  </a:moveTo>
                  <a:cubicBezTo>
                    <a:pt x="35" y="36"/>
                    <a:pt x="37" y="31"/>
                    <a:pt x="37" y="25"/>
                  </a:cubicBezTo>
                  <a:cubicBezTo>
                    <a:pt x="43" y="25"/>
                    <a:pt x="43" y="25"/>
                    <a:pt x="43" y="25"/>
                  </a:cubicBezTo>
                  <a:cubicBezTo>
                    <a:pt x="42" y="31"/>
                    <a:pt x="38" y="37"/>
                    <a:pt x="33" y="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77"/>
              <a:endParaRPr lang="en-US">
                <a:solidFill>
                  <a:prstClr val="black"/>
                </a:solidFill>
              </a:endParaRPr>
            </a:p>
          </p:txBody>
        </p:sp>
        <p:sp>
          <p:nvSpPr>
            <p:cNvPr id="19" name="Rectangle 18"/>
            <p:cNvSpPr/>
            <p:nvPr/>
          </p:nvSpPr>
          <p:spPr>
            <a:xfrm>
              <a:off x="783774" y="5699546"/>
              <a:ext cx="2030762" cy="218298"/>
            </a:xfrm>
            <a:prstGeom prst="rect">
              <a:avLst/>
            </a:prstGeom>
          </p:spPr>
          <p:txBody>
            <a:bodyPr wrap="none" anchor="ctr">
              <a:spAutoFit/>
            </a:bodyPr>
            <a:lstStyle/>
            <a:p>
              <a:pPr defTabSz="914377"/>
              <a:r>
                <a:rPr lang="en-US" sz="1100" dirty="0">
                  <a:solidFill>
                    <a:prstClr val="white"/>
                  </a:solidFill>
                  <a:latin typeface="Poppins" panose="00000500000000000000" pitchFamily="2" charset="0"/>
                  <a:cs typeface="Poppins" panose="00000500000000000000" pitchFamily="2" charset="0"/>
                </a:rPr>
                <a:t>www.centegytechnologies.com </a:t>
              </a:r>
            </a:p>
          </p:txBody>
        </p:sp>
        <p:sp>
          <p:nvSpPr>
            <p:cNvPr id="20" name="Freeform 5"/>
            <p:cNvSpPr>
              <a:spLocks noEditPoints="1"/>
            </p:cNvSpPr>
            <p:nvPr/>
          </p:nvSpPr>
          <p:spPr bwMode="auto">
            <a:xfrm>
              <a:off x="603310" y="6027287"/>
              <a:ext cx="164523" cy="124115"/>
            </a:xfrm>
            <a:custGeom>
              <a:avLst/>
              <a:gdLst>
                <a:gd name="T0" fmla="*/ 48 w 48"/>
                <a:gd name="T1" fmla="*/ 2 h 36"/>
                <a:gd name="T2" fmla="*/ 48 w 48"/>
                <a:gd name="T3" fmla="*/ 2 h 36"/>
                <a:gd name="T4" fmla="*/ 48 w 48"/>
                <a:gd name="T5" fmla="*/ 2 h 36"/>
                <a:gd name="T6" fmla="*/ 48 w 48"/>
                <a:gd name="T7" fmla="*/ 1 h 36"/>
                <a:gd name="T8" fmla="*/ 48 w 48"/>
                <a:gd name="T9" fmla="*/ 1 h 36"/>
                <a:gd name="T10" fmla="*/ 48 w 48"/>
                <a:gd name="T11" fmla="*/ 1 h 36"/>
                <a:gd name="T12" fmla="*/ 48 w 48"/>
                <a:gd name="T13" fmla="*/ 1 h 36"/>
                <a:gd name="T14" fmla="*/ 48 w 48"/>
                <a:gd name="T15" fmla="*/ 1 h 36"/>
                <a:gd name="T16" fmla="*/ 48 w 48"/>
                <a:gd name="T17" fmla="*/ 1 h 36"/>
                <a:gd name="T18" fmla="*/ 48 w 48"/>
                <a:gd name="T19" fmla="*/ 1 h 36"/>
                <a:gd name="T20" fmla="*/ 47 w 48"/>
                <a:gd name="T21" fmla="*/ 1 h 36"/>
                <a:gd name="T22" fmla="*/ 47 w 48"/>
                <a:gd name="T23" fmla="*/ 1 h 36"/>
                <a:gd name="T24" fmla="*/ 47 w 48"/>
                <a:gd name="T25" fmla="*/ 0 h 36"/>
                <a:gd name="T26" fmla="*/ 47 w 48"/>
                <a:gd name="T27" fmla="*/ 0 h 36"/>
                <a:gd name="T28" fmla="*/ 47 w 48"/>
                <a:gd name="T29" fmla="*/ 0 h 36"/>
                <a:gd name="T30" fmla="*/ 47 w 48"/>
                <a:gd name="T31" fmla="*/ 0 h 36"/>
                <a:gd name="T32" fmla="*/ 46 w 48"/>
                <a:gd name="T33" fmla="*/ 0 h 36"/>
                <a:gd name="T34" fmla="*/ 46 w 48"/>
                <a:gd name="T35" fmla="*/ 0 h 36"/>
                <a:gd name="T36" fmla="*/ 2 w 48"/>
                <a:gd name="T37" fmla="*/ 0 h 36"/>
                <a:gd name="T38" fmla="*/ 2 w 48"/>
                <a:gd name="T39" fmla="*/ 0 h 36"/>
                <a:gd name="T40" fmla="*/ 2 w 48"/>
                <a:gd name="T41" fmla="*/ 0 h 36"/>
                <a:gd name="T42" fmla="*/ 2 w 48"/>
                <a:gd name="T43" fmla="*/ 0 h 36"/>
                <a:gd name="T44" fmla="*/ 1 w 48"/>
                <a:gd name="T45" fmla="*/ 0 h 36"/>
                <a:gd name="T46" fmla="*/ 1 w 48"/>
                <a:gd name="T47" fmla="*/ 0 h 36"/>
                <a:gd name="T48" fmla="*/ 1 w 48"/>
                <a:gd name="T49" fmla="*/ 1 h 36"/>
                <a:gd name="T50" fmla="*/ 1 w 48"/>
                <a:gd name="T51" fmla="*/ 1 h 36"/>
                <a:gd name="T52" fmla="*/ 1 w 48"/>
                <a:gd name="T53" fmla="*/ 1 h 36"/>
                <a:gd name="T54" fmla="*/ 1 w 48"/>
                <a:gd name="T55" fmla="*/ 1 h 36"/>
                <a:gd name="T56" fmla="*/ 1 w 48"/>
                <a:gd name="T57" fmla="*/ 1 h 36"/>
                <a:gd name="T58" fmla="*/ 0 w 48"/>
                <a:gd name="T59" fmla="*/ 1 h 36"/>
                <a:gd name="T60" fmla="*/ 0 w 48"/>
                <a:gd name="T61" fmla="*/ 1 h 36"/>
                <a:gd name="T62" fmla="*/ 0 w 48"/>
                <a:gd name="T63" fmla="*/ 1 h 36"/>
                <a:gd name="T64" fmla="*/ 0 w 48"/>
                <a:gd name="T65" fmla="*/ 1 h 36"/>
                <a:gd name="T66" fmla="*/ 0 w 48"/>
                <a:gd name="T67" fmla="*/ 2 h 36"/>
                <a:gd name="T68" fmla="*/ 0 w 48"/>
                <a:gd name="T69" fmla="*/ 2 h 36"/>
                <a:gd name="T70" fmla="*/ 0 w 48"/>
                <a:gd name="T71" fmla="*/ 2 h 36"/>
                <a:gd name="T72" fmla="*/ 0 w 48"/>
                <a:gd name="T73" fmla="*/ 2 h 36"/>
                <a:gd name="T74" fmla="*/ 0 w 48"/>
                <a:gd name="T75" fmla="*/ 34 h 36"/>
                <a:gd name="T76" fmla="*/ 2 w 48"/>
                <a:gd name="T77" fmla="*/ 36 h 36"/>
                <a:gd name="T78" fmla="*/ 46 w 48"/>
                <a:gd name="T79" fmla="*/ 36 h 36"/>
                <a:gd name="T80" fmla="*/ 48 w 48"/>
                <a:gd name="T81" fmla="*/ 34 h 36"/>
                <a:gd name="T82" fmla="*/ 48 w 48"/>
                <a:gd name="T83" fmla="*/ 2 h 36"/>
                <a:gd name="T84" fmla="*/ 41 w 48"/>
                <a:gd name="T85" fmla="*/ 4 h 36"/>
                <a:gd name="T86" fmla="*/ 24 w 48"/>
                <a:gd name="T87" fmla="*/ 19 h 36"/>
                <a:gd name="T88" fmla="*/ 7 w 48"/>
                <a:gd name="T89" fmla="*/ 4 h 36"/>
                <a:gd name="T90" fmla="*/ 41 w 48"/>
                <a:gd name="T91" fmla="*/ 4 h 36"/>
                <a:gd name="T92" fmla="*/ 4 w 48"/>
                <a:gd name="T93" fmla="*/ 32 h 36"/>
                <a:gd name="T94" fmla="*/ 4 w 48"/>
                <a:gd name="T95" fmla="*/ 6 h 36"/>
                <a:gd name="T96" fmla="*/ 23 w 48"/>
                <a:gd name="T97" fmla="*/ 22 h 36"/>
                <a:gd name="T98" fmla="*/ 24 w 48"/>
                <a:gd name="T99" fmla="*/ 23 h 36"/>
                <a:gd name="T100" fmla="*/ 25 w 48"/>
                <a:gd name="T101" fmla="*/ 22 h 36"/>
                <a:gd name="T102" fmla="*/ 44 w 48"/>
                <a:gd name="T103" fmla="*/ 6 h 36"/>
                <a:gd name="T104" fmla="*/ 44 w 48"/>
                <a:gd name="T105" fmla="*/ 32 h 36"/>
                <a:gd name="T106" fmla="*/ 4 w 48"/>
                <a:gd name="T107" fmla="*/ 3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8" h="36">
                  <a:moveTo>
                    <a:pt x="48" y="2"/>
                  </a:moveTo>
                  <a:cubicBezTo>
                    <a:pt x="48" y="2"/>
                    <a:pt x="48" y="2"/>
                    <a:pt x="48" y="2"/>
                  </a:cubicBezTo>
                  <a:cubicBezTo>
                    <a:pt x="48" y="2"/>
                    <a:pt x="48" y="2"/>
                    <a:pt x="48" y="2"/>
                  </a:cubicBezTo>
                  <a:cubicBezTo>
                    <a:pt x="48" y="1"/>
                    <a:pt x="48" y="1"/>
                    <a:pt x="48" y="1"/>
                  </a:cubicBezTo>
                  <a:cubicBezTo>
                    <a:pt x="48" y="1"/>
                    <a:pt x="48" y="1"/>
                    <a:pt x="48" y="1"/>
                  </a:cubicBezTo>
                  <a:cubicBezTo>
                    <a:pt x="48" y="1"/>
                    <a:pt x="48" y="1"/>
                    <a:pt x="48" y="1"/>
                  </a:cubicBezTo>
                  <a:cubicBezTo>
                    <a:pt x="48" y="1"/>
                    <a:pt x="48" y="1"/>
                    <a:pt x="48" y="1"/>
                  </a:cubicBezTo>
                  <a:cubicBezTo>
                    <a:pt x="48" y="1"/>
                    <a:pt x="48" y="1"/>
                    <a:pt x="48" y="1"/>
                  </a:cubicBezTo>
                  <a:cubicBezTo>
                    <a:pt x="48" y="1"/>
                    <a:pt x="48" y="1"/>
                    <a:pt x="48" y="1"/>
                  </a:cubicBezTo>
                  <a:cubicBezTo>
                    <a:pt x="48" y="1"/>
                    <a:pt x="48" y="1"/>
                    <a:pt x="48" y="1"/>
                  </a:cubicBezTo>
                  <a:cubicBezTo>
                    <a:pt x="47" y="1"/>
                    <a:pt x="47" y="1"/>
                    <a:pt x="47" y="1"/>
                  </a:cubicBezTo>
                  <a:cubicBezTo>
                    <a:pt x="47" y="1"/>
                    <a:pt x="47" y="1"/>
                    <a:pt x="47" y="1"/>
                  </a:cubicBezTo>
                  <a:cubicBezTo>
                    <a:pt x="47" y="0"/>
                    <a:pt x="47" y="0"/>
                    <a:pt x="47" y="0"/>
                  </a:cubicBezTo>
                  <a:cubicBezTo>
                    <a:pt x="47" y="0"/>
                    <a:pt x="47" y="0"/>
                    <a:pt x="47" y="0"/>
                  </a:cubicBezTo>
                  <a:cubicBezTo>
                    <a:pt x="47" y="0"/>
                    <a:pt x="47" y="0"/>
                    <a:pt x="47" y="0"/>
                  </a:cubicBezTo>
                  <a:cubicBezTo>
                    <a:pt x="47" y="0"/>
                    <a:pt x="47" y="0"/>
                    <a:pt x="47" y="0"/>
                  </a:cubicBezTo>
                  <a:cubicBezTo>
                    <a:pt x="46" y="0"/>
                    <a:pt x="46" y="0"/>
                    <a:pt x="46" y="0"/>
                  </a:cubicBezTo>
                  <a:cubicBezTo>
                    <a:pt x="46" y="0"/>
                    <a:pt x="46" y="0"/>
                    <a:pt x="46" y="0"/>
                  </a:cubicBezTo>
                  <a:cubicBezTo>
                    <a:pt x="2" y="0"/>
                    <a:pt x="2" y="0"/>
                    <a:pt x="2" y="0"/>
                  </a:cubicBezTo>
                  <a:cubicBezTo>
                    <a:pt x="2" y="0"/>
                    <a:pt x="2" y="0"/>
                    <a:pt x="2" y="0"/>
                  </a:cubicBezTo>
                  <a:cubicBezTo>
                    <a:pt x="2" y="0"/>
                    <a:pt x="2" y="0"/>
                    <a:pt x="2" y="0"/>
                  </a:cubicBezTo>
                  <a:cubicBezTo>
                    <a:pt x="2" y="0"/>
                    <a:pt x="2" y="0"/>
                    <a:pt x="2" y="0"/>
                  </a:cubicBezTo>
                  <a:cubicBezTo>
                    <a:pt x="1" y="0"/>
                    <a:pt x="1" y="0"/>
                    <a:pt x="1" y="0"/>
                  </a:cubicBezTo>
                  <a:cubicBezTo>
                    <a:pt x="1" y="0"/>
                    <a:pt x="1" y="0"/>
                    <a:pt x="1" y="0"/>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0" y="2"/>
                  </a:cubicBezTo>
                  <a:cubicBezTo>
                    <a:pt x="0" y="34"/>
                    <a:pt x="0" y="34"/>
                    <a:pt x="0" y="34"/>
                  </a:cubicBezTo>
                  <a:cubicBezTo>
                    <a:pt x="0" y="35"/>
                    <a:pt x="1" y="36"/>
                    <a:pt x="2" y="36"/>
                  </a:cubicBezTo>
                  <a:cubicBezTo>
                    <a:pt x="46" y="36"/>
                    <a:pt x="46" y="36"/>
                    <a:pt x="46" y="36"/>
                  </a:cubicBezTo>
                  <a:cubicBezTo>
                    <a:pt x="47" y="36"/>
                    <a:pt x="48" y="35"/>
                    <a:pt x="48" y="34"/>
                  </a:cubicBezTo>
                  <a:cubicBezTo>
                    <a:pt x="48" y="2"/>
                    <a:pt x="48" y="2"/>
                    <a:pt x="48" y="2"/>
                  </a:cubicBezTo>
                  <a:close/>
                  <a:moveTo>
                    <a:pt x="41" y="4"/>
                  </a:moveTo>
                  <a:cubicBezTo>
                    <a:pt x="24" y="19"/>
                    <a:pt x="24" y="19"/>
                    <a:pt x="24" y="19"/>
                  </a:cubicBezTo>
                  <a:cubicBezTo>
                    <a:pt x="7" y="4"/>
                    <a:pt x="7" y="4"/>
                    <a:pt x="7" y="4"/>
                  </a:cubicBezTo>
                  <a:lnTo>
                    <a:pt x="41" y="4"/>
                  </a:lnTo>
                  <a:close/>
                  <a:moveTo>
                    <a:pt x="4" y="32"/>
                  </a:moveTo>
                  <a:cubicBezTo>
                    <a:pt x="4" y="6"/>
                    <a:pt x="4" y="6"/>
                    <a:pt x="4" y="6"/>
                  </a:cubicBezTo>
                  <a:cubicBezTo>
                    <a:pt x="23" y="22"/>
                    <a:pt x="23" y="22"/>
                    <a:pt x="23" y="22"/>
                  </a:cubicBezTo>
                  <a:cubicBezTo>
                    <a:pt x="23" y="23"/>
                    <a:pt x="24" y="23"/>
                    <a:pt x="24" y="23"/>
                  </a:cubicBezTo>
                  <a:cubicBezTo>
                    <a:pt x="25" y="23"/>
                    <a:pt x="25" y="23"/>
                    <a:pt x="25" y="22"/>
                  </a:cubicBezTo>
                  <a:cubicBezTo>
                    <a:pt x="44" y="6"/>
                    <a:pt x="44" y="6"/>
                    <a:pt x="44" y="6"/>
                  </a:cubicBezTo>
                  <a:cubicBezTo>
                    <a:pt x="44" y="32"/>
                    <a:pt x="44" y="32"/>
                    <a:pt x="44" y="32"/>
                  </a:cubicBezTo>
                  <a:lnTo>
                    <a:pt x="4" y="3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77"/>
              <a:endParaRPr lang="en-US">
                <a:solidFill>
                  <a:prstClr val="black"/>
                </a:solidFill>
              </a:endParaRPr>
            </a:p>
          </p:txBody>
        </p:sp>
        <p:sp>
          <p:nvSpPr>
            <p:cNvPr id="21" name="Rectangle 20"/>
            <p:cNvSpPr/>
            <p:nvPr/>
          </p:nvSpPr>
          <p:spPr>
            <a:xfrm>
              <a:off x="807810" y="5971281"/>
              <a:ext cx="2262168" cy="218298"/>
            </a:xfrm>
            <a:prstGeom prst="rect">
              <a:avLst/>
            </a:prstGeom>
          </p:spPr>
          <p:txBody>
            <a:bodyPr wrap="none" anchor="ctr">
              <a:spAutoFit/>
            </a:bodyPr>
            <a:lstStyle/>
            <a:p>
              <a:pPr defTabSz="914377"/>
              <a:r>
                <a:rPr lang="en-US" sz="1100" dirty="0">
                  <a:solidFill>
                    <a:prstClr val="white"/>
                  </a:solidFill>
                  <a:latin typeface="Poppins" panose="00000500000000000000" pitchFamily="2" charset="0"/>
                  <a:cs typeface="Poppins" panose="00000500000000000000" pitchFamily="2" charset="0"/>
                </a:rPr>
                <a:t>contact@centegytechnologies.com</a:t>
              </a:r>
            </a:p>
          </p:txBody>
        </p:sp>
      </p:grpSp>
      <p:sp>
        <p:nvSpPr>
          <p:cNvPr id="3" name="Rectangle 2"/>
          <p:cNvSpPr/>
          <p:nvPr/>
        </p:nvSpPr>
        <p:spPr>
          <a:xfrm>
            <a:off x="555807" y="1117934"/>
            <a:ext cx="10173925" cy="4257576"/>
          </a:xfrm>
          <a:prstGeom prst="rect">
            <a:avLst/>
          </a:prstGeom>
        </p:spPr>
        <p:txBody>
          <a:bodyPr wrap="square">
            <a:spAutoFit/>
          </a:bodyPr>
          <a:lstStyle/>
          <a:p>
            <a:pPr algn="just">
              <a:lnSpc>
                <a:spcPct val="200000"/>
              </a:lnSpc>
              <a:spcAft>
                <a:spcPts val="800"/>
              </a:spcAft>
            </a:pPr>
            <a:r>
              <a:rPr lang="en-US" sz="1200" dirty="0">
                <a:solidFill>
                  <a:schemeClr val="bg1"/>
                </a:solidFill>
                <a:latin typeface="Poppins" panose="020B0604020202020204" charset="0"/>
                <a:ea typeface="Times New Roman" panose="02020603050405020304" pitchFamily="18" charset="0"/>
                <a:cs typeface="Poppins" panose="020B0604020202020204" charset="0"/>
              </a:rPr>
              <a:t>Following are the key takeaways from this document:</a:t>
            </a:r>
          </a:p>
          <a:p>
            <a:pPr marL="171450" indent="-171450" algn="just">
              <a:lnSpc>
                <a:spcPct val="200000"/>
              </a:lnSpc>
              <a:buFont typeface="Wingdings" panose="05000000000000000000" pitchFamily="2" charset="2"/>
              <a:buChar char="q"/>
            </a:pPr>
            <a:r>
              <a:rPr lang="en-US" sz="1200" dirty="0">
                <a:solidFill>
                  <a:schemeClr val="bg1"/>
                </a:solidFill>
                <a:latin typeface="Poppins" panose="020B0604020202020204" charset="0"/>
                <a:ea typeface="Times New Roman" panose="02020603050405020304" pitchFamily="18" charset="0"/>
                <a:cs typeface="Poppins" panose="020B0604020202020204" charset="0"/>
              </a:rPr>
              <a:t>The Outlet Master is an integral component of the Distributor Management System, designed to streamline and enhance outlet management processes. </a:t>
            </a:r>
          </a:p>
          <a:p>
            <a:pPr marL="171450" indent="-171450" algn="just">
              <a:lnSpc>
                <a:spcPct val="200000"/>
              </a:lnSpc>
              <a:buFont typeface="Wingdings" panose="05000000000000000000" pitchFamily="2" charset="2"/>
              <a:buChar char="q"/>
            </a:pPr>
            <a:r>
              <a:rPr lang="en-US" sz="1200" dirty="0">
                <a:solidFill>
                  <a:schemeClr val="bg1"/>
                </a:solidFill>
                <a:latin typeface="Poppins" panose="020B0604020202020204" charset="0"/>
                <a:ea typeface="Times New Roman" panose="02020603050405020304" pitchFamily="18" charset="0"/>
                <a:cs typeface="Poppins" panose="020B0604020202020204" charset="0"/>
              </a:rPr>
              <a:t>Outlet Approval II streamlines the approval process, ensuring outlet profiles meet necessary standards.</a:t>
            </a:r>
          </a:p>
          <a:p>
            <a:pPr marL="171450" indent="-171450" algn="just">
              <a:lnSpc>
                <a:spcPct val="200000"/>
              </a:lnSpc>
              <a:buFont typeface="Wingdings" panose="05000000000000000000" pitchFamily="2" charset="2"/>
              <a:buChar char="q"/>
            </a:pPr>
            <a:r>
              <a:rPr lang="en-US" sz="1200" dirty="0">
                <a:solidFill>
                  <a:schemeClr val="bg1"/>
                </a:solidFill>
                <a:latin typeface="Poppins" panose="020B0604020202020204" charset="0"/>
                <a:ea typeface="Times New Roman" panose="02020603050405020304" pitchFamily="18" charset="0"/>
                <a:cs typeface="Poppins" panose="020B0604020202020204" charset="0"/>
              </a:rPr>
              <a:t>Change Track Outlet Profile &amp; Operative Info allows for precise modifications to outlet attributes and operational details.</a:t>
            </a:r>
          </a:p>
          <a:p>
            <a:pPr marL="171450" indent="-171450" algn="just">
              <a:lnSpc>
                <a:spcPct val="200000"/>
              </a:lnSpc>
              <a:buFont typeface="Wingdings" panose="05000000000000000000" pitchFamily="2" charset="2"/>
              <a:buChar char="q"/>
            </a:pPr>
            <a:r>
              <a:rPr lang="en-US" sz="1200" dirty="0">
                <a:solidFill>
                  <a:schemeClr val="bg1"/>
                </a:solidFill>
                <a:latin typeface="Poppins" panose="020B0604020202020204" charset="0"/>
                <a:ea typeface="Times New Roman" panose="02020603050405020304" pitchFamily="18" charset="0"/>
                <a:cs typeface="Poppins" panose="020B0604020202020204" charset="0"/>
              </a:rPr>
              <a:t>Outlet Status &amp; Document Management facilitates status checks and document updates to maintain outlet compliance.</a:t>
            </a:r>
          </a:p>
          <a:p>
            <a:pPr marL="171450" indent="-171450" algn="just">
              <a:lnSpc>
                <a:spcPct val="200000"/>
              </a:lnSpc>
              <a:buFont typeface="Wingdings" panose="05000000000000000000" pitchFamily="2" charset="2"/>
              <a:buChar char="q"/>
            </a:pPr>
            <a:r>
              <a:rPr lang="en-US" sz="1200" dirty="0">
                <a:solidFill>
                  <a:schemeClr val="bg1"/>
                </a:solidFill>
                <a:latin typeface="Poppins" panose="020B0604020202020204" charset="0"/>
                <a:ea typeface="Times New Roman" panose="02020603050405020304" pitchFamily="18" charset="0"/>
                <a:cs typeface="Poppins" panose="020B0604020202020204" charset="0"/>
              </a:rPr>
              <a:t>Outlet Profile &amp; Price Management enables the creation of comprehensive outlet profiles and accurate pricing information.</a:t>
            </a:r>
          </a:p>
          <a:p>
            <a:pPr marL="171450" indent="-171450" algn="just">
              <a:lnSpc>
                <a:spcPct val="200000"/>
              </a:lnSpc>
              <a:buFont typeface="Wingdings" panose="05000000000000000000" pitchFamily="2" charset="2"/>
              <a:buChar char="q"/>
            </a:pPr>
            <a:r>
              <a:rPr lang="en-US" sz="1200" dirty="0">
                <a:solidFill>
                  <a:schemeClr val="bg1"/>
                </a:solidFill>
                <a:latin typeface="Poppins" panose="020B0604020202020204" charset="0"/>
                <a:ea typeface="Times New Roman" panose="02020603050405020304" pitchFamily="18" charset="0"/>
                <a:cs typeface="Poppins" panose="020B0604020202020204" charset="0"/>
              </a:rPr>
              <a:t>Analysis Classification-Outlets provides robust categorization for in-depth analysis and reporting.</a:t>
            </a:r>
          </a:p>
          <a:p>
            <a:pPr marL="171450" indent="-171450" algn="just">
              <a:lnSpc>
                <a:spcPct val="200000"/>
              </a:lnSpc>
              <a:buFont typeface="Wingdings" panose="05000000000000000000" pitchFamily="2" charset="2"/>
              <a:buChar char="q"/>
            </a:pPr>
            <a:r>
              <a:rPr lang="en-US" sz="1200" dirty="0">
                <a:solidFill>
                  <a:schemeClr val="bg1"/>
                </a:solidFill>
                <a:latin typeface="Poppins" panose="020B0604020202020204" charset="0"/>
                <a:ea typeface="Times New Roman" panose="02020603050405020304" pitchFamily="18" charset="0"/>
                <a:cs typeface="Poppins" panose="020B0604020202020204" charset="0"/>
              </a:rPr>
              <a:t>Outlet Profile View ensures easy access to detailed outlet profiles.</a:t>
            </a:r>
          </a:p>
          <a:p>
            <a:pPr marL="171450" indent="-171450" algn="just">
              <a:lnSpc>
                <a:spcPct val="200000"/>
              </a:lnSpc>
              <a:buFont typeface="Wingdings" panose="05000000000000000000" pitchFamily="2" charset="2"/>
              <a:buChar char="q"/>
            </a:pPr>
            <a:r>
              <a:rPr lang="en-US" sz="1200" dirty="0">
                <a:solidFill>
                  <a:schemeClr val="bg1"/>
                </a:solidFill>
                <a:latin typeface="Poppins" panose="020B0604020202020204" charset="0"/>
                <a:ea typeface="Times New Roman" panose="02020603050405020304" pitchFamily="18" charset="0"/>
                <a:cs typeface="Poppins" panose="020B0604020202020204" charset="0"/>
              </a:rPr>
              <a:t>Outlet Change Track Excel supports accurate and efficient modifications of outlet data in Excel format.</a:t>
            </a:r>
          </a:p>
          <a:p>
            <a:pPr marL="171450" indent="-171450" algn="just">
              <a:lnSpc>
                <a:spcPct val="200000"/>
              </a:lnSpc>
              <a:buFont typeface="Wingdings" panose="05000000000000000000" pitchFamily="2" charset="2"/>
              <a:buChar char="q"/>
            </a:pPr>
            <a:r>
              <a:rPr lang="en-US" sz="1200" dirty="0">
                <a:solidFill>
                  <a:schemeClr val="bg1"/>
                </a:solidFill>
                <a:latin typeface="Poppins" panose="020B0604020202020204" charset="0"/>
                <a:ea typeface="Times New Roman" panose="02020603050405020304" pitchFamily="18" charset="0"/>
                <a:cs typeface="Poppins" panose="020B0604020202020204" charset="0"/>
              </a:rPr>
              <a:t>Through detailed interfaces, users can efficiently manage various aspects of outlet operations.</a:t>
            </a:r>
          </a:p>
        </p:txBody>
      </p:sp>
      <p:sp>
        <p:nvSpPr>
          <p:cNvPr id="10" name="Rectangle 9"/>
          <p:cNvSpPr/>
          <p:nvPr/>
        </p:nvSpPr>
        <p:spPr>
          <a:xfrm>
            <a:off x="555807" y="493258"/>
            <a:ext cx="9697360" cy="451406"/>
          </a:xfrm>
          <a:prstGeom prst="rect">
            <a:avLst/>
          </a:prstGeom>
        </p:spPr>
        <p:txBody>
          <a:bodyPr wrap="square">
            <a:spAutoFit/>
          </a:bodyPr>
          <a:lstStyle/>
          <a:p>
            <a:pPr marL="0" lvl="1" indent="-571500" defTabSz="914354">
              <a:lnSpc>
                <a:spcPct val="80000"/>
              </a:lnSpc>
              <a:defRPr/>
            </a:pPr>
            <a:r>
              <a:rPr lang="en-US" sz="2800" b="1" u="sng" dirty="0">
                <a:solidFill>
                  <a:schemeClr val="bg1"/>
                </a:solidFill>
                <a:latin typeface="Poppins" panose="00000500000000000000" pitchFamily="2" charset="0"/>
                <a:cs typeface="Poppins" panose="00000500000000000000" pitchFamily="2" charset="0"/>
              </a:rPr>
              <a:t>Final Thoughts</a:t>
            </a:r>
            <a:endParaRPr lang="en-ID" sz="2800" b="1" u="sng"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8494429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5"/>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12779</TotalTime>
  <Words>3936</Words>
  <Application>Microsoft Office PowerPoint</Application>
  <PresentationFormat>Widescreen</PresentationFormat>
  <Paragraphs>404</Paragraphs>
  <Slides>25</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25</vt:i4>
      </vt:variant>
    </vt:vector>
  </HeadingPairs>
  <TitlesOfParts>
    <vt:vector size="33" baseType="lpstr">
      <vt:lpstr>Poppins</vt:lpstr>
      <vt:lpstr>Arial</vt:lpstr>
      <vt:lpstr>Open Sans</vt:lpstr>
      <vt:lpstr>Calibri</vt:lpstr>
      <vt:lpstr>Wingdings</vt:lpstr>
      <vt:lpstr>Calibri Light</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Uroosa Asim</dc:creator>
  <cp:lastModifiedBy>Hafsa Channa</cp:lastModifiedBy>
  <cp:revision>665</cp:revision>
  <dcterms:created xsi:type="dcterms:W3CDTF">2024-01-15T03:53:14Z</dcterms:created>
  <dcterms:modified xsi:type="dcterms:W3CDTF">2026-09-10T10:50:15Z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7EC85B3F-DEB3-42CC-B01F-BF3AA4181B45</vt:lpwstr>
  </property>
  <property fmtid="{D5CDD505-2E9C-101B-9397-08002B2CF9AE}" pid="3" name="ArticulatePath">
    <vt:lpwstr>outlet changes</vt:lpwstr>
  </property>
</Properties>
</file>